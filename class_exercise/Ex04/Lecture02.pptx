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6" r:id="rId1"/>
  </p:sldMasterIdLst>
  <p:notesMasterIdLst>
    <p:notesMasterId r:id="rId54"/>
  </p:notesMasterIdLst>
  <p:handoutMasterIdLst>
    <p:handoutMasterId r:id="rId55"/>
  </p:handoutMasterIdLst>
  <p:sldIdLst>
    <p:sldId id="256" r:id="rId2"/>
    <p:sldId id="308" r:id="rId3"/>
    <p:sldId id="340" r:id="rId4"/>
    <p:sldId id="341" r:id="rId5"/>
    <p:sldId id="377" r:id="rId6"/>
    <p:sldId id="342" r:id="rId7"/>
    <p:sldId id="378" r:id="rId8"/>
    <p:sldId id="379" r:id="rId9"/>
    <p:sldId id="343" r:id="rId10"/>
    <p:sldId id="344" r:id="rId11"/>
    <p:sldId id="345" r:id="rId12"/>
    <p:sldId id="346" r:id="rId13"/>
    <p:sldId id="347" r:id="rId14"/>
    <p:sldId id="374" r:id="rId15"/>
    <p:sldId id="349" r:id="rId16"/>
    <p:sldId id="350" r:id="rId17"/>
    <p:sldId id="351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91" r:id="rId30"/>
    <p:sldId id="392" r:id="rId31"/>
    <p:sldId id="398" r:id="rId32"/>
    <p:sldId id="400" r:id="rId33"/>
    <p:sldId id="401" r:id="rId34"/>
    <p:sldId id="402" r:id="rId35"/>
    <p:sldId id="399" r:id="rId36"/>
    <p:sldId id="403" r:id="rId37"/>
    <p:sldId id="404" r:id="rId38"/>
    <p:sldId id="405" r:id="rId39"/>
    <p:sldId id="352" r:id="rId40"/>
    <p:sldId id="353" r:id="rId41"/>
    <p:sldId id="429" r:id="rId42"/>
    <p:sldId id="430" r:id="rId43"/>
    <p:sldId id="433" r:id="rId44"/>
    <p:sldId id="372" r:id="rId45"/>
    <p:sldId id="431" r:id="rId46"/>
    <p:sldId id="375" r:id="rId47"/>
    <p:sldId id="393" r:id="rId48"/>
    <p:sldId id="432" r:id="rId49"/>
    <p:sldId id="354" r:id="rId50"/>
    <p:sldId id="320" r:id="rId51"/>
    <p:sldId id="321" r:id="rId52"/>
    <p:sldId id="322" r:id="rId53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66CC"/>
    <a:srgbClr val="6969FF"/>
    <a:srgbClr val="0000A0"/>
    <a:srgbClr val="0033CC"/>
    <a:srgbClr val="6699FF"/>
    <a:srgbClr val="3333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0" autoAdjust="0"/>
    <p:restoredTop sz="94660"/>
  </p:normalViewPr>
  <p:slideViewPr>
    <p:cSldViewPr>
      <p:cViewPr varScale="1">
        <p:scale>
          <a:sx n="86" d="100"/>
          <a:sy n="86" d="100"/>
        </p:scale>
        <p:origin x="4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1116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4" rIns="91426" bIns="45714" numCol="1" anchor="t" anchorCtr="0" compatLnSpc="1">
            <a:prstTxWarp prst="textNoShape">
              <a:avLst/>
            </a:prstTxWarp>
          </a:bodyPr>
          <a:lstStyle>
            <a:lvl1pPr defTabSz="914994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4" rIns="91426" bIns="45714" numCol="1" anchor="t" anchorCtr="0" compatLnSpc="1">
            <a:prstTxWarp prst="textNoShape">
              <a:avLst/>
            </a:prstTxWarp>
          </a:bodyPr>
          <a:lstStyle>
            <a:lvl1pPr algn="r" defTabSz="914994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4" rIns="91426" bIns="45714" numCol="1" anchor="b" anchorCtr="0" compatLnSpc="1">
            <a:prstTxWarp prst="textNoShape">
              <a:avLst/>
            </a:prstTxWarp>
          </a:bodyPr>
          <a:lstStyle>
            <a:lvl1pPr defTabSz="914994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4" rIns="91426" bIns="4571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00F7C04-B64E-4EDB-84CE-DBB0E45C96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4170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defTabSz="966849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algn="r" defTabSz="966849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09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defTabSz="966849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anose="020B0604020202020204" pitchFamily="34" charset="0"/>
              </a:defRPr>
            </a:lvl1pPr>
          </a:lstStyle>
          <a:p>
            <a:fld id="{14F20342-1EC9-4F63-8B21-6593A412FE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74129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470AF6D4-06FD-4AE1-A485-251806034FF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0362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D7E56F-A426-4A3E-9136-E74CA3CF957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6294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D1EAEE"/>
                </a:solidFill>
              </a:defRPr>
            </a:lvl1pPr>
          </a:lstStyle>
          <a:p>
            <a:fld id="{290AD6C0-C3EC-4AF7-87AC-FE4E72F763B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314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C643FE-9C94-41E4-A4C9-066601754EB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747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8E519C-D9E3-4650-942F-5FA68D24829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760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F9E7C7-1322-4FE0-9F2A-862BBD58884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382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688BC9-6D10-4FF9-9E32-983CF9101E7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664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76D02E-E9E4-4479-9E02-5B510A9174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14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 smtClean="0"/>
            </a:lvl1pPr>
          </a:lstStyle>
          <a:p>
            <a:fld id="{C1B55F44-0F35-4298-9363-5257FC7F416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074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83608-9F02-445E-9ADA-B2446269E79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314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E5EB18-2F81-450B-96F2-3DF66A30275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618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73B9D2-06F0-40F5-9C9B-E4CC9CD4C3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0710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02-Sep-04</a:t>
            </a: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ECE 551 – Fall 2004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045C75"/>
                </a:solidFill>
              </a:defRPr>
            </a:lvl1pPr>
          </a:lstStyle>
          <a:p>
            <a:fld id="{76529A2B-0704-4E38-83C0-7BB85667C96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363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273050" indent="-273050" algn="l" rtl="0" eaLnBrk="1" fontAlgn="base" hangingPunct="1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1" fontAlgn="base" hangingPunct="1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1" fontAlgn="base" hangingPunct="1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57200" y="990600"/>
            <a:ext cx="7851648" cy="1828800"/>
          </a:xfrm>
        </p:spPr>
        <p:txBody>
          <a:bodyPr/>
          <a:lstStyle/>
          <a:p>
            <a:pPr eaLnBrk="1" hangingPunct="1"/>
            <a:r>
              <a:rPr lang="en-US" altLang="en-US" sz="5900" dirty="0">
                <a:solidFill>
                  <a:schemeClr val="accent1"/>
                </a:solidFill>
              </a:rPr>
              <a:t>ECE 551</a:t>
            </a:r>
            <a:br>
              <a:rPr lang="en-US" altLang="en-US" sz="5900" dirty="0">
                <a:solidFill>
                  <a:schemeClr val="accent1"/>
                </a:solidFill>
              </a:rPr>
            </a:br>
            <a:r>
              <a:rPr lang="en-US" altLang="en-US" sz="4400" dirty="0">
                <a:solidFill>
                  <a:schemeClr val="accent1"/>
                </a:solidFill>
              </a:rPr>
              <a:t>Digital Design And Synthesis</a:t>
            </a:r>
            <a:endParaRPr lang="en-US" altLang="en-US" sz="3200" dirty="0">
              <a:solidFill>
                <a:schemeClr val="accent1"/>
              </a:solidFill>
            </a:endParaRPr>
          </a:p>
        </p:txBody>
      </p:sp>
      <p:sp>
        <p:nvSpPr>
          <p:cNvPr id="3075" name="Rectangle 6"/>
          <p:cNvSpPr>
            <a:spLocks noChangeArrowheads="1"/>
          </p:cNvSpPr>
          <p:nvPr/>
        </p:nvSpPr>
        <p:spPr bwMode="auto">
          <a:xfrm>
            <a:off x="1143000" y="3200400"/>
            <a:ext cx="6858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</a:rPr>
              <a:t>Fall ‘21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</a:rPr>
              <a:t>Lecture 2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 Commenting &amp; Meta-stability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 Verilog Syntax (</a:t>
            </a:r>
            <a:r>
              <a:rPr lang="en-US" altLang="en-US" sz="2000" dirty="0">
                <a:latin typeface="Times New Roman" panose="02020603050405020304" pitchFamily="18" charset="0"/>
              </a:rPr>
              <a:t>literals, 4-value, strength vectors</a:t>
            </a:r>
            <a:r>
              <a:rPr lang="en-US" altLang="en-US" sz="2400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 Dataflow Verilog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 Handy Miscellaneous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0444"/>
            <a:ext cx="6553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Administrative Matters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534400" cy="31242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Tutorial sessions</a:t>
            </a:r>
          </a:p>
          <a:p>
            <a:pPr lvl="2"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</a:rPr>
              <a:t>Tuesday 6:30 – 8:00 </a:t>
            </a:r>
            <a:r>
              <a:rPr lang="en-US" altLang="en-US" sz="2200" b="1" dirty="0">
                <a:latin typeface="Times New Roman" panose="02020603050405020304" pitchFamily="18" charset="0"/>
              </a:rPr>
              <a:t>for those in Dis. 302 only </a:t>
            </a:r>
            <a:r>
              <a:rPr lang="en-US" altLang="en-US" sz="1600" dirty="0">
                <a:latin typeface="Times New Roman" panose="02020603050405020304" pitchFamily="18" charset="0"/>
              </a:rPr>
              <a:t>in B555 Linux lab.</a:t>
            </a:r>
          </a:p>
          <a:p>
            <a:pPr lvl="2"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</a:rPr>
              <a:t>Wednesday 6:30 – 8:00 </a:t>
            </a:r>
            <a:r>
              <a:rPr lang="en-US" altLang="en-US" sz="2200" b="1" dirty="0">
                <a:latin typeface="Times New Roman" panose="02020603050405020304" pitchFamily="18" charset="0"/>
              </a:rPr>
              <a:t>on General channel of MS Teams</a:t>
            </a:r>
          </a:p>
          <a:p>
            <a:pPr lvl="2"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</a:rPr>
              <a:t>Wednesday 8:00 – 9:30 </a:t>
            </a:r>
            <a:r>
              <a:rPr lang="en-US" altLang="en-US" sz="2200" b="1" dirty="0">
                <a:latin typeface="Times New Roman" panose="02020603050405020304" pitchFamily="18" charset="0"/>
              </a:rPr>
              <a:t>on General channel of MS Teams</a:t>
            </a:r>
            <a:endParaRPr lang="en-US" altLang="en-US" sz="2200" dirty="0"/>
          </a:p>
          <a:p>
            <a:pPr lvl="2"/>
            <a:r>
              <a:rPr lang="en-US" altLang="en-US" sz="1700" dirty="0"/>
              <a:t>Can also do on your own</a:t>
            </a:r>
          </a:p>
          <a:p>
            <a:pPr lvl="1"/>
            <a:endParaRPr lang="en-US" altLang="en-US" sz="2000" dirty="0"/>
          </a:p>
          <a:p>
            <a:r>
              <a:rPr lang="en-US" altLang="en-US" sz="2000" dirty="0"/>
              <a:t>If you are a windows user install </a:t>
            </a:r>
            <a:r>
              <a:rPr lang="en-US" altLang="en-US" sz="2000" dirty="0" err="1"/>
              <a:t>ModelSim</a:t>
            </a:r>
            <a:r>
              <a:rPr lang="en-US" altLang="en-US" sz="2000" dirty="0"/>
              <a:t> locally</a:t>
            </a:r>
          </a:p>
          <a:p>
            <a:r>
              <a:rPr lang="en-US" altLang="en-US" sz="2000" dirty="0"/>
              <a:t>OR…look at video on how to remote to Unix</a:t>
            </a:r>
          </a:p>
          <a:p>
            <a:endParaRPr lang="en-US" altLang="en-US" sz="2000" dirty="0"/>
          </a:p>
          <a:p>
            <a:r>
              <a:rPr lang="en-US" altLang="en-US" sz="2000" dirty="0"/>
              <a:t>Watch Videos on mid &amp; final sections of Lecture02</a:t>
            </a:r>
          </a:p>
          <a:p>
            <a:pPr lvl="1"/>
            <a:r>
              <a:rPr lang="en-US" altLang="en-US" sz="1800" dirty="0"/>
              <a:t>Quiz on these lectures next Monday in class.</a:t>
            </a:r>
          </a:p>
          <a:p>
            <a:pPr marL="393700" lvl="1" indent="0" eaLnBrk="1" hangingPunct="1"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000" dirty="0"/>
              <a:t>Homework #1 </a:t>
            </a:r>
          </a:p>
          <a:p>
            <a:pPr lvl="1" eaLnBrk="1" hangingPunct="1"/>
            <a:r>
              <a:rPr lang="en-US" altLang="en-US" sz="2000" dirty="0"/>
              <a:t>Due Next week by beginning of class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49E4EAE-A739-4788-B178-CFE2B8C43D05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83228"/>
            <a:ext cx="6324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Comments in Verilog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2895600"/>
          </a:xfrm>
        </p:spPr>
        <p:txBody>
          <a:bodyPr/>
          <a:lstStyle/>
          <a:p>
            <a:pPr eaLnBrk="1" hangingPunct="1"/>
            <a:r>
              <a:rPr lang="en-US" altLang="en-US" dirty="0"/>
              <a:t>Commenting is important </a:t>
            </a:r>
          </a:p>
          <a:p>
            <a:pPr lvl="1" eaLnBrk="1" hangingPunct="1"/>
            <a:r>
              <a:rPr lang="en-US" altLang="en-US" dirty="0"/>
              <a:t>In industry many other poor schmucks are going to read your code</a:t>
            </a:r>
          </a:p>
          <a:p>
            <a:pPr lvl="1" eaLnBrk="1" hangingPunct="1"/>
            <a:r>
              <a:rPr lang="en-US" altLang="en-US" dirty="0"/>
              <a:t>Some poor schmuck (perhaps you 4 years later) are going to have to reference your code when a customer discovers a bug.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6218B50-AF2A-40EE-A692-C39B9C942189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  <p:sp>
        <p:nvSpPr>
          <p:cNvPr id="189444" name="Rectangle 4"/>
          <p:cNvSpPr>
            <a:spLocks noChangeArrowheads="1"/>
          </p:cNvSpPr>
          <p:nvPr/>
        </p:nvSpPr>
        <p:spPr bwMode="auto">
          <a:xfrm>
            <a:off x="457200" y="4038600"/>
            <a:ext cx="82296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>
                <a:latin typeface="Times New Roman" panose="02020603050405020304" pitchFamily="18" charset="0"/>
              </a:rPr>
              <a:t>The best comments document why you are doing what you are doing, not what you are doing.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Any moron who knows verilog can tell what the code is doing.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Comment why (motivation/thought process) you are doing that thing.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Commenting in Verilog</a:t>
            </a:r>
          </a:p>
        </p:txBody>
      </p:sp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86EF3D9-E94F-461D-8786-93D189CF4DC1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81000" y="1752600"/>
            <a:ext cx="6324600" cy="2851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always</a:t>
            </a:r>
            <a:r>
              <a:rPr lang="en-US" altLang="en-US" dirty="0">
                <a:latin typeface="Tahoma" panose="020B0604030504040204" pitchFamily="34" charset="0"/>
              </a:rPr>
              <a:t> @(</a:t>
            </a:r>
            <a:r>
              <a:rPr lang="en-US" altLang="en-US" b="1" dirty="0" err="1">
                <a:latin typeface="Tahoma" panose="020B0604030504040204" pitchFamily="34" charset="0"/>
              </a:rPr>
              <a:t>posedge</a:t>
            </a:r>
            <a:r>
              <a:rPr lang="en-US" altLang="en-US" dirty="0">
                <a:latin typeface="Tahoma" panose="020B0604030504040204" pitchFamily="34" charset="0"/>
              </a:rPr>
              <a:t> </a:t>
            </a:r>
            <a:r>
              <a:rPr lang="en-US" altLang="en-US" dirty="0" err="1">
                <a:latin typeface="Tahoma" panose="020B0604030504040204" pitchFamily="34" charset="0"/>
              </a:rPr>
              <a:t>clk</a:t>
            </a:r>
            <a:r>
              <a:rPr lang="en-US" altLang="en-US" dirty="0">
                <a:latin typeface="Tahoma" panose="020B0604030504040204" pitchFamily="34" charset="0"/>
              </a:rPr>
              <a:t>)</a:t>
            </a:r>
          </a:p>
          <a:p>
            <a:pPr eaLnBrk="1" hangingPunct="1"/>
            <a:endParaRPr lang="en-US" altLang="en-US" dirty="0">
              <a:latin typeface="Tahoma" panose="020B0604030504040204" pitchFamily="34" charset="0"/>
            </a:endParaRPr>
          </a:p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begin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Sig_FF1 &lt;= Sig		// Capture value of Sig Line in FF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Sig_FF2 &lt;= Sig_FF1; 	// Flop Sig_FF1 to form Sig_FF2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Sig_FF3 &lt;= Sig_FF2;	// Flop Sig_FF2 to form Sig_FF3</a:t>
            </a:r>
          </a:p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end</a:t>
            </a:r>
          </a:p>
          <a:p>
            <a:pPr eaLnBrk="1" hangingPunct="1"/>
            <a:endParaRPr lang="en-US" altLang="en-US" dirty="0">
              <a:latin typeface="Tahoma" panose="020B0604030504040204" pitchFamily="34" charset="0"/>
            </a:endParaRP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// </a:t>
            </a:r>
            <a:r>
              <a:rPr lang="en-US" altLang="en-US" dirty="0" err="1">
                <a:latin typeface="Tahoma" panose="020B0604030504040204" pitchFamily="34" charset="0"/>
              </a:rPr>
              <a:t>start_bit</a:t>
            </a:r>
            <a:r>
              <a:rPr lang="en-US" altLang="en-US" dirty="0">
                <a:latin typeface="Tahoma" panose="020B0604030504040204" pitchFamily="34" charset="0"/>
              </a:rPr>
              <a:t> is ~Sig_FF2 &amp; Sig_FF3</a:t>
            </a:r>
          </a:p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assign</a:t>
            </a:r>
            <a:r>
              <a:rPr lang="en-US" altLang="en-US" dirty="0">
                <a:latin typeface="Tahoma" panose="020B0604030504040204" pitchFamily="34" charset="0"/>
              </a:rPr>
              <a:t> </a:t>
            </a:r>
            <a:r>
              <a:rPr lang="en-US" altLang="en-US" dirty="0" err="1">
                <a:latin typeface="Tahoma" panose="020B0604030504040204" pitchFamily="34" charset="0"/>
              </a:rPr>
              <a:t>start_bit</a:t>
            </a:r>
            <a:r>
              <a:rPr lang="en-US" altLang="en-US" dirty="0">
                <a:latin typeface="Tahoma" panose="020B0604030504040204" pitchFamily="34" charset="0"/>
              </a:rPr>
              <a:t> = (~Sig_FF2 &amp;&amp; Sig_FF3) ? 1’b1 : 1’b0;</a:t>
            </a:r>
          </a:p>
        </p:txBody>
      </p:sp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381000" y="4953000"/>
            <a:ext cx="82296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 dirty="0"/>
              <a:t>(Read with sarcasm)</a:t>
            </a:r>
          </a:p>
          <a:p>
            <a:pPr eaLnBrk="1" hangingPunct="1"/>
            <a:endParaRPr lang="en-US" altLang="en-US" b="1" i="1" dirty="0"/>
          </a:p>
          <a:p>
            <a:pPr eaLnBrk="1" hangingPunct="1"/>
            <a:r>
              <a:rPr lang="en-US" altLang="en-US" dirty="0"/>
              <a:t>“Thanks for the commenting the code pal.  It tells me so much more than the </a:t>
            </a:r>
            <a:r>
              <a:rPr lang="en-US" altLang="en-US" dirty="0" err="1"/>
              <a:t>verilog</a:t>
            </a:r>
            <a:r>
              <a:rPr lang="en-US" altLang="en-US" dirty="0"/>
              <a:t> itself”.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036854-A0CE-4F07-8CBC-B8C8FC1C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E22A49-B1F6-4BDC-946D-CC9DD9E963EC}"/>
              </a:ext>
            </a:extLst>
          </p:cNvPr>
          <p:cNvSpPr/>
          <p:nvPr/>
        </p:nvSpPr>
        <p:spPr>
          <a:xfrm>
            <a:off x="1676400" y="2057400"/>
            <a:ext cx="4572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D5FC76-7ACD-42B9-A2A7-F65B4DD86345}"/>
              </a:ext>
            </a:extLst>
          </p:cNvPr>
          <p:cNvCxnSpPr/>
          <p:nvPr/>
        </p:nvCxnSpPr>
        <p:spPr>
          <a:xfrm flipH="1">
            <a:off x="1752600" y="2810691"/>
            <a:ext cx="15240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04532F-998E-420A-93BA-105F34E6646D}"/>
              </a:ext>
            </a:extLst>
          </p:cNvPr>
          <p:cNvCxnSpPr/>
          <p:nvPr/>
        </p:nvCxnSpPr>
        <p:spPr>
          <a:xfrm>
            <a:off x="1905000" y="2810691"/>
            <a:ext cx="15240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377F05-6663-40F9-AE2E-7917F60AD741}"/>
              </a:ext>
            </a:extLst>
          </p:cNvPr>
          <p:cNvCxnSpPr>
            <a:stCxn id="3" idx="2"/>
          </p:cNvCxnSpPr>
          <p:nvPr/>
        </p:nvCxnSpPr>
        <p:spPr>
          <a:xfrm>
            <a:off x="1905000" y="3048000"/>
            <a:ext cx="0" cy="304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BAF127-75D9-4E31-972C-C8C591F4DFEF}"/>
              </a:ext>
            </a:extLst>
          </p:cNvPr>
          <p:cNvSpPr txBox="1"/>
          <p:nvPr/>
        </p:nvSpPr>
        <p:spPr>
          <a:xfrm>
            <a:off x="1628333" y="335280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32C778-B8F0-4667-B3A9-E2254C0596D7}"/>
              </a:ext>
            </a:extLst>
          </p:cNvPr>
          <p:cNvSpPr txBox="1"/>
          <p:nvPr/>
        </p:nvSpPr>
        <p:spPr>
          <a:xfrm>
            <a:off x="843936" y="2183368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6B3E42-9EB9-4579-9F31-ED544AF02A11}"/>
              </a:ext>
            </a:extLst>
          </p:cNvPr>
          <p:cNvCxnSpPr>
            <a:endCxn id="3" idx="1"/>
          </p:cNvCxnSpPr>
          <p:nvPr/>
        </p:nvCxnSpPr>
        <p:spPr>
          <a:xfrm>
            <a:off x="1143000" y="2552700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27EF1E4-50A7-476A-B559-0E33E8CA7A1E}"/>
              </a:ext>
            </a:extLst>
          </p:cNvPr>
          <p:cNvSpPr/>
          <p:nvPr/>
        </p:nvSpPr>
        <p:spPr>
          <a:xfrm>
            <a:off x="3051190" y="2057400"/>
            <a:ext cx="4572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ECD54D-607F-4A87-827E-B03196069E54}"/>
              </a:ext>
            </a:extLst>
          </p:cNvPr>
          <p:cNvCxnSpPr/>
          <p:nvPr/>
        </p:nvCxnSpPr>
        <p:spPr>
          <a:xfrm flipH="1">
            <a:off x="3127390" y="2810691"/>
            <a:ext cx="15240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FF0997-9A35-41EE-834C-6240ED5C536A}"/>
              </a:ext>
            </a:extLst>
          </p:cNvPr>
          <p:cNvCxnSpPr/>
          <p:nvPr/>
        </p:nvCxnSpPr>
        <p:spPr>
          <a:xfrm>
            <a:off x="3279790" y="2810691"/>
            <a:ext cx="15240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A83C01-0EEE-4EA8-8E72-8597CFDDEA47}"/>
              </a:ext>
            </a:extLst>
          </p:cNvPr>
          <p:cNvCxnSpPr>
            <a:stCxn id="10" idx="2"/>
          </p:cNvCxnSpPr>
          <p:nvPr/>
        </p:nvCxnSpPr>
        <p:spPr>
          <a:xfrm>
            <a:off x="3279790" y="3048000"/>
            <a:ext cx="0" cy="304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06E173-EB1C-44C5-8E98-811C5B6E3E81}"/>
              </a:ext>
            </a:extLst>
          </p:cNvPr>
          <p:cNvSpPr txBox="1"/>
          <p:nvPr/>
        </p:nvSpPr>
        <p:spPr>
          <a:xfrm>
            <a:off x="3003123" y="335280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D7FE7E-89A8-466E-941B-248284BD8AED}"/>
              </a:ext>
            </a:extLst>
          </p:cNvPr>
          <p:cNvSpPr txBox="1"/>
          <p:nvPr/>
        </p:nvSpPr>
        <p:spPr>
          <a:xfrm rot="18059542">
            <a:off x="3343404" y="1872734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Sig_FF2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CF9E9D-0199-4677-BAEE-1DD1DCAE7A66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2133600" y="2552700"/>
            <a:ext cx="91759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0449E4-C62E-4D09-9058-AB81D87C5274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3508390" y="2552700"/>
            <a:ext cx="11931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1215CA3-27EA-4CD1-B724-7C1EF9738108}"/>
              </a:ext>
            </a:extLst>
          </p:cNvPr>
          <p:cNvSpPr/>
          <p:nvPr/>
        </p:nvSpPr>
        <p:spPr>
          <a:xfrm>
            <a:off x="4701513" y="2057400"/>
            <a:ext cx="4572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A6B3CE-D9F4-4606-81F2-8D13A59FAE21}"/>
              </a:ext>
            </a:extLst>
          </p:cNvPr>
          <p:cNvCxnSpPr/>
          <p:nvPr/>
        </p:nvCxnSpPr>
        <p:spPr>
          <a:xfrm flipH="1">
            <a:off x="4777713" y="2810691"/>
            <a:ext cx="15240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A16B83-D20D-4489-86A1-4DEB215139A3}"/>
              </a:ext>
            </a:extLst>
          </p:cNvPr>
          <p:cNvCxnSpPr/>
          <p:nvPr/>
        </p:nvCxnSpPr>
        <p:spPr>
          <a:xfrm>
            <a:off x="4930113" y="2810691"/>
            <a:ext cx="15240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579405-4E81-425F-A2F5-291C0DB5F40A}"/>
              </a:ext>
            </a:extLst>
          </p:cNvPr>
          <p:cNvCxnSpPr>
            <a:stCxn id="18" idx="2"/>
          </p:cNvCxnSpPr>
          <p:nvPr/>
        </p:nvCxnSpPr>
        <p:spPr>
          <a:xfrm>
            <a:off x="4930113" y="3048000"/>
            <a:ext cx="0" cy="304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3997BA8-2D1B-4703-86D1-790799783127}"/>
              </a:ext>
            </a:extLst>
          </p:cNvPr>
          <p:cNvSpPr txBox="1"/>
          <p:nvPr/>
        </p:nvSpPr>
        <p:spPr>
          <a:xfrm>
            <a:off x="4653446" y="335280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7E2DB14F-92EF-4905-BE03-144C50191555}"/>
              </a:ext>
            </a:extLst>
          </p:cNvPr>
          <p:cNvSpPr/>
          <p:nvPr/>
        </p:nvSpPr>
        <p:spPr>
          <a:xfrm>
            <a:off x="5486400" y="2101334"/>
            <a:ext cx="914400" cy="533400"/>
          </a:xfrm>
          <a:prstGeom prst="arc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0DB49E1-DE38-498E-A40F-88879F1CC73F}"/>
              </a:ext>
            </a:extLst>
          </p:cNvPr>
          <p:cNvSpPr/>
          <p:nvPr/>
        </p:nvSpPr>
        <p:spPr>
          <a:xfrm flipV="1">
            <a:off x="5486400" y="2101334"/>
            <a:ext cx="914400" cy="533400"/>
          </a:xfrm>
          <a:prstGeom prst="arc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8CFA5B-88D2-4E65-AAF7-CEE0D12FF808}"/>
              </a:ext>
            </a:extLst>
          </p:cNvPr>
          <p:cNvCxnSpPr>
            <a:stCxn id="23" idx="0"/>
          </p:cNvCxnSpPr>
          <p:nvPr/>
        </p:nvCxnSpPr>
        <p:spPr>
          <a:xfrm flipH="1">
            <a:off x="5791200" y="2101334"/>
            <a:ext cx="152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DCE255-2002-47BC-BB9A-EA526AEFC61C}"/>
              </a:ext>
            </a:extLst>
          </p:cNvPr>
          <p:cNvCxnSpPr/>
          <p:nvPr/>
        </p:nvCxnSpPr>
        <p:spPr>
          <a:xfrm flipH="1">
            <a:off x="5791200" y="2634734"/>
            <a:ext cx="152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CADB5F-118D-4882-A1F8-E27B34DC6D37}"/>
              </a:ext>
            </a:extLst>
          </p:cNvPr>
          <p:cNvCxnSpPr/>
          <p:nvPr/>
        </p:nvCxnSpPr>
        <p:spPr>
          <a:xfrm>
            <a:off x="5791200" y="2101334"/>
            <a:ext cx="0" cy="533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8BE64B-101E-4BE3-B544-507A948073EA}"/>
              </a:ext>
            </a:extLst>
          </p:cNvPr>
          <p:cNvCxnSpPr/>
          <p:nvPr/>
        </p:nvCxnSpPr>
        <p:spPr>
          <a:xfrm flipH="1">
            <a:off x="5562600" y="2177534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99890A-BF15-4E8A-B847-6A8C855E4877}"/>
              </a:ext>
            </a:extLst>
          </p:cNvPr>
          <p:cNvCxnSpPr>
            <a:endCxn id="18" idx="3"/>
          </p:cNvCxnSpPr>
          <p:nvPr/>
        </p:nvCxnSpPr>
        <p:spPr>
          <a:xfrm flipH="1" flipV="1">
            <a:off x="5158713" y="2552700"/>
            <a:ext cx="624867" cy="58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954B872-E14F-49E0-A237-038F0123A4C2}"/>
              </a:ext>
            </a:extLst>
          </p:cNvPr>
          <p:cNvCxnSpPr>
            <a:stCxn id="23" idx="2"/>
          </p:cNvCxnSpPr>
          <p:nvPr/>
        </p:nvCxnSpPr>
        <p:spPr>
          <a:xfrm>
            <a:off x="6400800" y="2368034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3D6389-2366-4A7C-82E5-9C5023D38BE0}"/>
              </a:ext>
            </a:extLst>
          </p:cNvPr>
          <p:cNvGrpSpPr/>
          <p:nvPr/>
        </p:nvGrpSpPr>
        <p:grpSpPr>
          <a:xfrm>
            <a:off x="4419600" y="1303254"/>
            <a:ext cx="1143000" cy="468549"/>
            <a:chOff x="5385136" y="1779351"/>
            <a:chExt cx="1143000" cy="468549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5720D35-9FF3-42DB-AD21-0F0AE4056D93}"/>
                </a:ext>
              </a:extLst>
            </p:cNvPr>
            <p:cNvCxnSpPr/>
            <p:nvPr/>
          </p:nvCxnSpPr>
          <p:spPr>
            <a:xfrm flipH="1">
              <a:off x="5668079" y="2015643"/>
              <a:ext cx="427921" cy="232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41CEA95-E627-4E9A-9C68-648B2A375469}"/>
                </a:ext>
              </a:extLst>
            </p:cNvPr>
            <p:cNvCxnSpPr/>
            <p:nvPr/>
          </p:nvCxnSpPr>
          <p:spPr>
            <a:xfrm flipH="1" flipV="1">
              <a:off x="5668079" y="1779351"/>
              <a:ext cx="427921" cy="232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C8EC78E-B481-462B-ACFC-4BEE82180856}"/>
                </a:ext>
              </a:extLst>
            </p:cNvPr>
            <p:cNvSpPr/>
            <p:nvPr/>
          </p:nvSpPr>
          <p:spPr>
            <a:xfrm>
              <a:off x="6096000" y="1939443"/>
              <a:ext cx="152400" cy="152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1D8A4B6-546E-4F0F-AE6E-0857D3E94E48}"/>
                </a:ext>
              </a:extLst>
            </p:cNvPr>
            <p:cNvCxnSpPr/>
            <p:nvPr/>
          </p:nvCxnSpPr>
          <p:spPr>
            <a:xfrm>
              <a:off x="5668079" y="1783386"/>
              <a:ext cx="0" cy="4645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41765C0-3658-4365-BA7C-74A526625AFB}"/>
                </a:ext>
              </a:extLst>
            </p:cNvPr>
            <p:cNvCxnSpPr/>
            <p:nvPr/>
          </p:nvCxnSpPr>
          <p:spPr>
            <a:xfrm>
              <a:off x="6248400" y="2011608"/>
              <a:ext cx="27973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FA8AE35-0FFC-44EA-8D7B-B038DAC64637}"/>
                </a:ext>
              </a:extLst>
            </p:cNvPr>
            <p:cNvCxnSpPr/>
            <p:nvPr/>
          </p:nvCxnSpPr>
          <p:spPr>
            <a:xfrm flipH="1">
              <a:off x="5385136" y="2011608"/>
              <a:ext cx="28294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1599B8-5AE2-4906-84F1-2F3C2E54C878}"/>
              </a:ext>
            </a:extLst>
          </p:cNvPr>
          <p:cNvCxnSpPr/>
          <p:nvPr/>
        </p:nvCxnSpPr>
        <p:spPr>
          <a:xfrm flipV="1">
            <a:off x="4419600" y="1535511"/>
            <a:ext cx="0" cy="1017190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DEF4E1D-4405-4EA1-A8CD-761EE631ED4A}"/>
              </a:ext>
            </a:extLst>
          </p:cNvPr>
          <p:cNvCxnSpPr/>
          <p:nvPr/>
        </p:nvCxnSpPr>
        <p:spPr>
          <a:xfrm>
            <a:off x="5562600" y="1535511"/>
            <a:ext cx="0" cy="642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BFC29E0-75CB-4BE6-84FD-1FF0FF83DEBD}"/>
              </a:ext>
            </a:extLst>
          </p:cNvPr>
          <p:cNvSpPr txBox="1"/>
          <p:nvPr/>
        </p:nvSpPr>
        <p:spPr>
          <a:xfrm>
            <a:off x="6680536" y="2183368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start_bit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9DA247-2192-440E-B7B3-02D6EE54C06E}"/>
              </a:ext>
            </a:extLst>
          </p:cNvPr>
          <p:cNvSpPr txBox="1"/>
          <p:nvPr/>
        </p:nvSpPr>
        <p:spPr>
          <a:xfrm rot="18117135">
            <a:off x="2052496" y="1837474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Sig_FF1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AE6409-CEDF-4A5E-BE1E-051F2A53747E}"/>
              </a:ext>
            </a:extLst>
          </p:cNvPr>
          <p:cNvSpPr txBox="1"/>
          <p:nvPr/>
        </p:nvSpPr>
        <p:spPr>
          <a:xfrm rot="16875144">
            <a:off x="4948357" y="2890336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Sig_FF3</a:t>
            </a:r>
          </a:p>
        </p:txBody>
      </p:sp>
      <p:sp>
        <p:nvSpPr>
          <p:cNvPr id="45" name="Rectangle 2">
            <a:extLst>
              <a:ext uri="{FF2B5EF4-FFF2-40B4-BE49-F238E27FC236}">
                <a16:creationId xmlns:a16="http://schemas.microsoft.com/office/drawing/2014/main" id="{BC7031EC-E907-4ADF-87EE-1725B12F4313}"/>
              </a:ext>
            </a:extLst>
          </p:cNvPr>
          <p:cNvSpPr txBox="1">
            <a:spLocks noChangeArrowheads="1"/>
          </p:cNvSpPr>
          <p:nvPr/>
        </p:nvSpPr>
        <p:spPr>
          <a:xfrm>
            <a:off x="518487" y="513024"/>
            <a:ext cx="7467599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 dirty="0"/>
              <a:t>Consequence of Bad Commenting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99F1B5-9C37-45B5-9D01-ACF0C68590FF}"/>
              </a:ext>
            </a:extLst>
          </p:cNvPr>
          <p:cNvSpPr/>
          <p:nvPr/>
        </p:nvSpPr>
        <p:spPr>
          <a:xfrm>
            <a:off x="1524000" y="1419382"/>
            <a:ext cx="2743200" cy="23906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C0E3AE3-E009-4E4A-8E8F-7BD2D175540B}"/>
              </a:ext>
            </a:extLst>
          </p:cNvPr>
          <p:cNvCxnSpPr>
            <a:cxnSpLocks/>
          </p:cNvCxnSpPr>
          <p:nvPr/>
        </p:nvCxnSpPr>
        <p:spPr>
          <a:xfrm>
            <a:off x="1524000" y="2552700"/>
            <a:ext cx="2743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100B11A-1035-41A6-9C54-DC9E6033DD50}"/>
              </a:ext>
            </a:extLst>
          </p:cNvPr>
          <p:cNvSpPr txBox="1"/>
          <p:nvPr/>
        </p:nvSpPr>
        <p:spPr>
          <a:xfrm>
            <a:off x="1066800" y="4267200"/>
            <a:ext cx="71627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code synthesizes as shown above</a:t>
            </a:r>
          </a:p>
          <a:p>
            <a:endParaRPr lang="en-US" dirty="0"/>
          </a:p>
          <a:p>
            <a:r>
              <a:rPr lang="en-US" dirty="0"/>
              <a:t>Being the next arrogant engineer reading the code and the comments I realize there is an optimization to be made. </a:t>
            </a:r>
          </a:p>
          <a:p>
            <a:endParaRPr lang="en-US" dirty="0"/>
          </a:p>
          <a:p>
            <a:r>
              <a:rPr lang="en-US" dirty="0"/>
              <a:t>There is no need for the two flops up front.  So, I delete them.</a:t>
            </a:r>
          </a:p>
        </p:txBody>
      </p:sp>
    </p:spTree>
    <p:extLst>
      <p:ext uri="{BB962C8B-B14F-4D97-AF65-F5344CB8AC3E}">
        <p14:creationId xmlns:p14="http://schemas.microsoft.com/office/powerpoint/2010/main" val="253229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93675"/>
            <a:ext cx="6553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Commenting in Verilog</a:t>
            </a:r>
          </a:p>
        </p:txBody>
      </p:sp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47DE5B6-1445-4198-8C2A-A360FC583645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457200" y="1752600"/>
            <a:ext cx="5867400" cy="3771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dirty="0">
                <a:latin typeface="Tahoma" panose="020B0604030504040204" pitchFamily="34" charset="0"/>
              </a:rPr>
              <a:t>always</a:t>
            </a:r>
            <a:r>
              <a:rPr lang="en-US" altLang="en-US" sz="1600" dirty="0">
                <a:latin typeface="Tahoma" panose="020B0604030504040204" pitchFamily="34" charset="0"/>
              </a:rPr>
              <a:t> @(</a:t>
            </a:r>
            <a:r>
              <a:rPr lang="en-US" altLang="en-US" sz="1600" b="1" dirty="0" err="1">
                <a:latin typeface="Tahoma" panose="020B0604030504040204" pitchFamily="34" charset="0"/>
              </a:rPr>
              <a:t>posedge</a:t>
            </a:r>
            <a:r>
              <a:rPr lang="en-US" altLang="en-US" sz="1600" dirty="0">
                <a:latin typeface="Tahoma" panose="020B0604030504040204" pitchFamily="34" charset="0"/>
              </a:rPr>
              <a:t> </a:t>
            </a:r>
            <a:r>
              <a:rPr lang="en-US" altLang="en-US" sz="1600" dirty="0" err="1">
                <a:latin typeface="Tahoma" panose="020B0604030504040204" pitchFamily="34" charset="0"/>
              </a:rPr>
              <a:t>clk</a:t>
            </a:r>
            <a:r>
              <a:rPr lang="en-US" altLang="en-US" sz="1600" dirty="0">
                <a:latin typeface="Tahoma" panose="020B0604030504040204" pitchFamily="34" charset="0"/>
              </a:rPr>
              <a:t>)</a:t>
            </a:r>
          </a:p>
          <a:p>
            <a:pPr eaLnBrk="1" hangingPunct="1"/>
            <a:r>
              <a:rPr lang="en-US" altLang="en-US" sz="1600" dirty="0">
                <a:latin typeface="Tahoma" panose="020B0604030504040204" pitchFamily="34" charset="0"/>
              </a:rPr>
              <a:t>/********************************************</a:t>
            </a:r>
          </a:p>
          <a:p>
            <a:pPr eaLnBrk="1" hangingPunct="1"/>
            <a:r>
              <a:rPr lang="en-US" altLang="en-US" sz="1600" dirty="0">
                <a:latin typeface="Tahoma" panose="020B0604030504040204" pitchFamily="34" charset="0"/>
              </a:rPr>
              <a:t>* Sig </a:t>
            </a:r>
            <a:r>
              <a:rPr lang="en-US" altLang="en-US" sz="1600">
                <a:latin typeface="Tahoma" panose="020B0604030504040204" pitchFamily="34" charset="0"/>
              </a:rPr>
              <a:t>is asynchronous </a:t>
            </a:r>
            <a:r>
              <a:rPr lang="en-US" altLang="en-US" sz="1600" dirty="0">
                <a:latin typeface="Tahoma" panose="020B0604030504040204" pitchFamily="34" charset="0"/>
              </a:rPr>
              <a:t>and has to be double flopped  *</a:t>
            </a:r>
          </a:p>
          <a:p>
            <a:pPr eaLnBrk="1" hangingPunct="1"/>
            <a:r>
              <a:rPr lang="en-US" altLang="en-US" sz="1600" dirty="0">
                <a:latin typeface="Tahoma" panose="020B0604030504040204" pitchFamily="34" charset="0"/>
              </a:rPr>
              <a:t>* for meta-stability reasons prior to use ************</a:t>
            </a:r>
          </a:p>
          <a:p>
            <a:pPr eaLnBrk="1" hangingPunct="1"/>
            <a:r>
              <a:rPr lang="en-US" altLang="en-US" sz="1600" dirty="0">
                <a:latin typeface="Tahoma" panose="020B0604030504040204" pitchFamily="34" charset="0"/>
              </a:rPr>
              <a:t>*********************************/</a:t>
            </a:r>
          </a:p>
          <a:p>
            <a:pPr eaLnBrk="1" hangingPunct="1"/>
            <a:r>
              <a:rPr lang="en-US" altLang="en-US" sz="1600" b="1" dirty="0">
                <a:latin typeface="Tahoma" panose="020B0604030504040204" pitchFamily="34" charset="0"/>
              </a:rPr>
              <a:t>begin</a:t>
            </a:r>
          </a:p>
          <a:p>
            <a:pPr eaLnBrk="1" hangingPunct="1"/>
            <a:r>
              <a:rPr lang="en-US" altLang="en-US" sz="1600" dirty="0">
                <a:latin typeface="Tahoma" panose="020B0604030504040204" pitchFamily="34" charset="0"/>
              </a:rPr>
              <a:t>   Sig_FF1 &lt;= Sig;</a:t>
            </a:r>
          </a:p>
          <a:p>
            <a:pPr eaLnBrk="1" hangingPunct="1"/>
            <a:r>
              <a:rPr lang="en-US" altLang="en-US" sz="1600" dirty="0">
                <a:latin typeface="Tahoma" panose="020B0604030504040204" pitchFamily="34" charset="0"/>
              </a:rPr>
              <a:t>   Sig_FF2 &lt;= Sig_FF1;  // double flopped meta-stability free </a:t>
            </a:r>
          </a:p>
          <a:p>
            <a:pPr eaLnBrk="1" hangingPunct="1"/>
            <a:r>
              <a:rPr lang="en-US" altLang="en-US" sz="1600" dirty="0">
                <a:latin typeface="Tahoma" panose="020B0604030504040204" pitchFamily="34" charset="0"/>
              </a:rPr>
              <a:t>   Sig_FF3 &lt;= Sig_FF2;  // flop again for use in edge detection</a:t>
            </a:r>
          </a:p>
          <a:p>
            <a:pPr eaLnBrk="1" hangingPunct="1"/>
            <a:r>
              <a:rPr lang="en-US" altLang="en-US" sz="1600" b="1" dirty="0">
                <a:latin typeface="Tahoma" panose="020B0604030504040204" pitchFamily="34" charset="0"/>
              </a:rPr>
              <a:t>end</a:t>
            </a:r>
          </a:p>
          <a:p>
            <a:pPr eaLnBrk="1" hangingPunct="1"/>
            <a:endParaRPr lang="en-US" altLang="en-US" sz="1600" dirty="0">
              <a:latin typeface="Tahoma" panose="020B0604030504040204" pitchFamily="34" charset="0"/>
            </a:endParaRPr>
          </a:p>
          <a:p>
            <a:pPr eaLnBrk="1" hangingPunct="1"/>
            <a:r>
              <a:rPr lang="en-US" altLang="en-US" sz="1600" dirty="0">
                <a:latin typeface="Tahoma" panose="020B0604030504040204" pitchFamily="34" charset="0"/>
              </a:rPr>
              <a:t>/**********************************************</a:t>
            </a:r>
          </a:p>
          <a:p>
            <a:pPr eaLnBrk="1" hangingPunct="1"/>
            <a:r>
              <a:rPr lang="en-US" altLang="en-US" sz="1600" dirty="0">
                <a:latin typeface="Tahoma" panose="020B0604030504040204" pitchFamily="34" charset="0"/>
              </a:rPr>
              <a:t>* Start bit in protocol initiated by falling edge of Sig line *</a:t>
            </a:r>
          </a:p>
          <a:p>
            <a:pPr eaLnBrk="1" hangingPunct="1"/>
            <a:r>
              <a:rPr lang="en-US" altLang="en-US" sz="1600" dirty="0">
                <a:latin typeface="Tahoma" panose="020B0604030504040204" pitchFamily="34" charset="0"/>
              </a:rPr>
              <a:t>**********************************************/</a:t>
            </a:r>
          </a:p>
          <a:p>
            <a:pPr eaLnBrk="1" hangingPunct="1"/>
            <a:r>
              <a:rPr lang="en-US" altLang="en-US" sz="1600" b="1" dirty="0">
                <a:latin typeface="Tahoma" panose="020B0604030504040204" pitchFamily="34" charset="0"/>
              </a:rPr>
              <a:t>assign</a:t>
            </a:r>
            <a:r>
              <a:rPr lang="en-US" altLang="en-US" sz="1600" dirty="0">
                <a:latin typeface="Tahoma" panose="020B0604030504040204" pitchFamily="34" charset="0"/>
              </a:rPr>
              <a:t> </a:t>
            </a:r>
            <a:r>
              <a:rPr lang="en-US" altLang="en-US" sz="1600" dirty="0" err="1">
                <a:latin typeface="Tahoma" panose="020B0604030504040204" pitchFamily="34" charset="0"/>
              </a:rPr>
              <a:t>start_bit</a:t>
            </a:r>
            <a:r>
              <a:rPr lang="en-US" altLang="en-US" sz="1600" dirty="0">
                <a:latin typeface="Tahoma" panose="020B0604030504040204" pitchFamily="34" charset="0"/>
              </a:rPr>
              <a:t> = (~Sig_FF2 &amp;&amp; Sig_FF3) ? 1’b1 : 1’b0;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517525" y="5822950"/>
            <a:ext cx="7177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/>
              <a:t> This is better commenting.  It tells you why stuff was done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6629400" y="2057400"/>
            <a:ext cx="2073275" cy="2851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Can see 2 types</a:t>
            </a:r>
          </a:p>
          <a:p>
            <a:pPr eaLnBrk="1" hangingPunct="1"/>
            <a:r>
              <a:rPr lang="en-US" altLang="en-US"/>
              <a:t>of comments.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Comment to end of line is //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Multi line comment starts with /* and ends with */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48EA52-B2E6-4128-89DF-D1332CC9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BEBCF9-C71A-4875-A1C2-B9B39D086C8E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457200"/>
            <a:ext cx="79248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 dirty="0"/>
              <a:t>Aside: </a:t>
            </a:r>
            <a:r>
              <a:rPr lang="en-US" altLang="en-US" sz="3200" dirty="0"/>
              <a:t>what is meta-stability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5FF3AF98-A59C-4432-82EA-6479B15F156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905688" y="2646392"/>
            <a:ext cx="380800" cy="7938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711418E4-BD95-4CFF-81BA-A87FEBCE8BC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617094" y="2646392"/>
            <a:ext cx="659936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" name="Group 31">
            <a:extLst>
              <a:ext uri="{FF2B5EF4-FFF2-40B4-BE49-F238E27FC236}">
                <a16:creationId xmlns:a16="http://schemas.microsoft.com/office/drawing/2014/main" id="{FB0021E0-47F4-4E0A-913E-A4E02CE3C868}"/>
              </a:ext>
            </a:extLst>
          </p:cNvPr>
          <p:cNvGrpSpPr>
            <a:grpSpLocks/>
          </p:cNvGrpSpPr>
          <p:nvPr/>
        </p:nvGrpSpPr>
        <p:grpSpPr bwMode="auto">
          <a:xfrm>
            <a:off x="2277030" y="2341592"/>
            <a:ext cx="1066601" cy="609600"/>
            <a:chOff x="4038600" y="5410200"/>
            <a:chExt cx="1066800" cy="609600"/>
          </a:xfrm>
        </p:grpSpPr>
        <p:cxnSp>
          <p:nvCxnSpPr>
            <p:cNvPr id="32" name="Straight Connector 20">
              <a:extLst>
                <a:ext uri="{FF2B5EF4-FFF2-40B4-BE49-F238E27FC236}">
                  <a16:creationId xmlns:a16="http://schemas.microsoft.com/office/drawing/2014/main" id="{6B98E336-181E-4585-87BE-95228BE3F8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57150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Straight Connector 26">
              <a:extLst>
                <a:ext uri="{FF2B5EF4-FFF2-40B4-BE49-F238E27FC236}">
                  <a16:creationId xmlns:a16="http://schemas.microsoft.com/office/drawing/2014/main" id="{7F79087E-A832-40C2-91A6-184F2FF281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54102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Straight Connector 27">
              <a:extLst>
                <a:ext uri="{FF2B5EF4-FFF2-40B4-BE49-F238E27FC236}">
                  <a16:creationId xmlns:a16="http://schemas.microsoft.com/office/drawing/2014/main" id="{C9CEBD3E-F5B8-47A2-96D5-140E08F772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038600" y="57150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Oval 28">
              <a:extLst>
                <a:ext uri="{FF2B5EF4-FFF2-40B4-BE49-F238E27FC236}">
                  <a16:creationId xmlns:a16="http://schemas.microsoft.com/office/drawing/2014/main" id="{EFCBDF24-AFA5-4C7E-8F4D-5F84EA992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5638800"/>
              <a:ext cx="152400" cy="152400"/>
            </a:xfrm>
            <a:prstGeom prst="ellips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6" name="Straight Connector 30">
              <a:extLst>
                <a:ext uri="{FF2B5EF4-FFF2-40B4-BE49-F238E27FC236}">
                  <a16:creationId xmlns:a16="http://schemas.microsoft.com/office/drawing/2014/main" id="{110C19D2-B692-4153-985C-0C70E98A00D1}"/>
                </a:ext>
              </a:extLst>
            </p:cNvPr>
            <p:cNvCxnSpPr>
              <a:cxnSpLocks noChangeShapeType="1"/>
              <a:stCxn id="35" idx="6"/>
            </p:cNvCxnSpPr>
            <p:nvPr/>
          </p:nvCxnSpPr>
          <p:spPr bwMode="auto">
            <a:xfrm>
              <a:off x="4800600" y="5715000"/>
              <a:ext cx="3048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" name="Group 32">
            <a:extLst>
              <a:ext uri="{FF2B5EF4-FFF2-40B4-BE49-F238E27FC236}">
                <a16:creationId xmlns:a16="http://schemas.microsoft.com/office/drawing/2014/main" id="{BE8A0E21-1D00-4C63-9356-B9845AA63A3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124659" y="2951192"/>
            <a:ext cx="1066601" cy="609600"/>
            <a:chOff x="4038600" y="5410200"/>
            <a:chExt cx="1066800" cy="609600"/>
          </a:xfrm>
        </p:grpSpPr>
        <p:cxnSp>
          <p:nvCxnSpPr>
            <p:cNvPr id="27" name="Straight Connector 33">
              <a:extLst>
                <a:ext uri="{FF2B5EF4-FFF2-40B4-BE49-F238E27FC236}">
                  <a16:creationId xmlns:a16="http://schemas.microsoft.com/office/drawing/2014/main" id="{5EC68CD8-7DD1-4511-90B0-9B088F63C2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57150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Connector 34">
              <a:extLst>
                <a:ext uri="{FF2B5EF4-FFF2-40B4-BE49-F238E27FC236}">
                  <a16:creationId xmlns:a16="http://schemas.microsoft.com/office/drawing/2014/main" id="{6EC0D2A4-D1EF-4727-A1E9-1812DF194C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54102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Straight Connector 35">
              <a:extLst>
                <a:ext uri="{FF2B5EF4-FFF2-40B4-BE49-F238E27FC236}">
                  <a16:creationId xmlns:a16="http://schemas.microsoft.com/office/drawing/2014/main" id="{B3D65470-66FC-4FE6-9F3E-E35114F74A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038600" y="57150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Oval 36">
              <a:extLst>
                <a:ext uri="{FF2B5EF4-FFF2-40B4-BE49-F238E27FC236}">
                  <a16:creationId xmlns:a16="http://schemas.microsoft.com/office/drawing/2014/main" id="{2FF782B5-A1D0-4C58-A55A-4430896A7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5638800"/>
              <a:ext cx="152400" cy="152400"/>
            </a:xfrm>
            <a:prstGeom prst="ellips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1" name="Straight Connector 37">
              <a:extLst>
                <a:ext uri="{FF2B5EF4-FFF2-40B4-BE49-F238E27FC236}">
                  <a16:creationId xmlns:a16="http://schemas.microsoft.com/office/drawing/2014/main" id="{890BAE74-76C1-429D-999E-B835268803D9}"/>
                </a:ext>
              </a:extLst>
            </p:cNvPr>
            <p:cNvCxnSpPr>
              <a:cxnSpLocks noChangeShapeType="1"/>
              <a:stCxn id="30" idx="6"/>
            </p:cNvCxnSpPr>
            <p:nvPr/>
          </p:nvCxnSpPr>
          <p:spPr bwMode="auto">
            <a:xfrm>
              <a:off x="4800600" y="5715000"/>
              <a:ext cx="3048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4" name="Straight Connector 39">
            <a:extLst>
              <a:ext uri="{FF2B5EF4-FFF2-40B4-BE49-F238E27FC236}">
                <a16:creationId xmlns:a16="http://schemas.microsoft.com/office/drawing/2014/main" id="{455085AA-26BC-43CA-98A9-24E23225C39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038831" y="2951192"/>
            <a:ext cx="6096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Connector 41">
            <a:extLst>
              <a:ext uri="{FF2B5EF4-FFF2-40B4-BE49-F238E27FC236}">
                <a16:creationId xmlns:a16="http://schemas.microsoft.com/office/drawing/2014/main" id="{FB16EF63-E413-4114-B161-93098A05F1A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3191259" y="3255992"/>
            <a:ext cx="15237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47">
            <a:extLst>
              <a:ext uri="{FF2B5EF4-FFF2-40B4-BE49-F238E27FC236}">
                <a16:creationId xmlns:a16="http://schemas.microsoft.com/office/drawing/2014/main" id="{5A633953-8CA0-4297-9457-A212ED57841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1667487" y="2951192"/>
            <a:ext cx="6096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49">
            <a:extLst>
              <a:ext uri="{FF2B5EF4-FFF2-40B4-BE49-F238E27FC236}">
                <a16:creationId xmlns:a16="http://schemas.microsoft.com/office/drawing/2014/main" id="{95B2921D-F1EC-469F-93E2-DE4898817E86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972287" y="3255992"/>
            <a:ext cx="15237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51">
            <a:extLst>
              <a:ext uri="{FF2B5EF4-FFF2-40B4-BE49-F238E27FC236}">
                <a16:creationId xmlns:a16="http://schemas.microsoft.com/office/drawing/2014/main" id="{DEB833F7-750C-4625-87D3-7290A1CCD71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43631" y="2646392"/>
            <a:ext cx="457115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53">
            <a:extLst>
              <a:ext uri="{FF2B5EF4-FFF2-40B4-BE49-F238E27FC236}">
                <a16:creationId xmlns:a16="http://schemas.microsoft.com/office/drawing/2014/main" id="{095C7E1A-F830-43A5-8ABA-E9142D26E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758" y="2493992"/>
            <a:ext cx="3625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20" name="TextBox 54">
            <a:extLst>
              <a:ext uri="{FF2B5EF4-FFF2-40B4-BE49-F238E27FC236}">
                <a16:creationId xmlns:a16="http://schemas.microsoft.com/office/drawing/2014/main" id="{A84930DD-9C5B-4823-B6A7-396D2510A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745" y="2417792"/>
            <a:ext cx="3657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Q</a:t>
            </a:r>
          </a:p>
        </p:txBody>
      </p:sp>
      <p:sp>
        <p:nvSpPr>
          <p:cNvPr id="22" name="TextBox 61">
            <a:extLst>
              <a:ext uri="{FF2B5EF4-FFF2-40B4-BE49-F238E27FC236}">
                <a16:creationId xmlns:a16="http://schemas.microsoft.com/office/drawing/2014/main" id="{80D427DC-F1C7-4E77-87F5-0B33FDAFA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6488" y="3203551"/>
            <a:ext cx="3304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E</a:t>
            </a:r>
          </a:p>
        </p:txBody>
      </p:sp>
      <p:sp>
        <p:nvSpPr>
          <p:cNvPr id="23" name="Oval 65">
            <a:extLst>
              <a:ext uri="{FF2B5EF4-FFF2-40B4-BE49-F238E27FC236}">
                <a16:creationId xmlns:a16="http://schemas.microsoft.com/office/drawing/2014/main" id="{59ED8390-E499-440C-AC37-5DFFC67B7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364" y="2616230"/>
            <a:ext cx="76186" cy="76200"/>
          </a:xfrm>
          <a:prstGeom prst="ellipse">
            <a:avLst/>
          </a:prstGeom>
          <a:solidFill>
            <a:schemeClr val="tx1"/>
          </a:solidFill>
          <a:ln w="222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Oval 66">
            <a:extLst>
              <a:ext uri="{FF2B5EF4-FFF2-40B4-BE49-F238E27FC236}">
                <a16:creationId xmlns:a16="http://schemas.microsoft.com/office/drawing/2014/main" id="{EC94CA01-4A27-407D-BFEE-87AD0195A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782" y="2611468"/>
            <a:ext cx="76186" cy="76200"/>
          </a:xfrm>
          <a:prstGeom prst="ellipse">
            <a:avLst/>
          </a:prstGeom>
          <a:solidFill>
            <a:schemeClr val="tx1"/>
          </a:solidFill>
          <a:ln w="222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277FE5-4928-419D-9D3E-4926900E370A}"/>
              </a:ext>
            </a:extLst>
          </p:cNvPr>
          <p:cNvCxnSpPr/>
          <p:nvPr/>
        </p:nvCxnSpPr>
        <p:spPr bwMode="auto">
          <a:xfrm>
            <a:off x="1286488" y="2654330"/>
            <a:ext cx="0" cy="208994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51258F0-117F-4790-AC1F-9F59F1F1517A}"/>
              </a:ext>
            </a:extLst>
          </p:cNvPr>
          <p:cNvCxnSpPr/>
          <p:nvPr/>
        </p:nvCxnSpPr>
        <p:spPr bwMode="auto">
          <a:xfrm>
            <a:off x="1621728" y="2646392"/>
            <a:ext cx="0" cy="208994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BE7A274-6F9F-4F10-BE4A-850F88CD2C3F}"/>
              </a:ext>
            </a:extLst>
          </p:cNvPr>
          <p:cNvCxnSpPr/>
          <p:nvPr/>
        </p:nvCxnSpPr>
        <p:spPr bwMode="auto">
          <a:xfrm>
            <a:off x="1286488" y="2863324"/>
            <a:ext cx="330606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7DE1577-02CF-4200-8130-A719FF09BB2A}"/>
              </a:ext>
            </a:extLst>
          </p:cNvPr>
          <p:cNvCxnSpPr/>
          <p:nvPr/>
        </p:nvCxnSpPr>
        <p:spPr bwMode="auto">
          <a:xfrm>
            <a:off x="1286488" y="2951191"/>
            <a:ext cx="330606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1124C2F-AA45-4524-89F1-BFDF43D6EC4C}"/>
              </a:ext>
            </a:extLst>
          </p:cNvPr>
          <p:cNvCxnSpPr>
            <a:cxnSpLocks/>
            <a:endCxn id="22" idx="0"/>
          </p:cNvCxnSpPr>
          <p:nvPr/>
        </p:nvCxnSpPr>
        <p:spPr bwMode="auto">
          <a:xfrm>
            <a:off x="1451727" y="2951191"/>
            <a:ext cx="0" cy="25236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3A773D8-1D77-4A2A-8F20-EB84A3EA79CD}"/>
              </a:ext>
            </a:extLst>
          </p:cNvPr>
          <p:cNvSpPr txBox="1"/>
          <p:nvPr/>
        </p:nvSpPr>
        <p:spPr>
          <a:xfrm>
            <a:off x="1295400" y="1219200"/>
            <a:ext cx="2743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Back to back inverters</a:t>
            </a:r>
          </a:p>
          <a:p>
            <a:r>
              <a:rPr lang="en-US" sz="1600" dirty="0"/>
              <a:t>Form a “memory loop” that is central to latch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8A5039-07E0-4EBE-B723-54CE61ABEE9B}"/>
              </a:ext>
            </a:extLst>
          </p:cNvPr>
          <p:cNvSpPr txBox="1"/>
          <p:nvPr/>
        </p:nvSpPr>
        <p:spPr>
          <a:xfrm>
            <a:off x="1447784" y="3242588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=0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A8B0E0-FD13-4DBD-BAB8-E0D767D5E185}"/>
              </a:ext>
            </a:extLst>
          </p:cNvPr>
          <p:cNvSpPr txBox="1"/>
          <p:nvPr/>
        </p:nvSpPr>
        <p:spPr>
          <a:xfrm>
            <a:off x="1881040" y="2289224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BF3B75-64D5-4A81-B7E3-D372921E3399}"/>
              </a:ext>
            </a:extLst>
          </p:cNvPr>
          <p:cNvSpPr txBox="1"/>
          <p:nvPr/>
        </p:nvSpPr>
        <p:spPr>
          <a:xfrm>
            <a:off x="3199885" y="2270353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54534ABB-844E-497E-92B1-3CA3A10088DA}"/>
              </a:ext>
            </a:extLst>
          </p:cNvPr>
          <p:cNvSpPr/>
          <p:nvPr/>
        </p:nvSpPr>
        <p:spPr>
          <a:xfrm>
            <a:off x="2349500" y="3416300"/>
            <a:ext cx="1009650" cy="347586"/>
          </a:xfrm>
          <a:custGeom>
            <a:avLst/>
            <a:gdLst>
              <a:gd name="connsiteX0" fmla="*/ 1009650 w 1009650"/>
              <a:gd name="connsiteY0" fmla="*/ 0 h 347586"/>
              <a:gd name="connsiteX1" fmla="*/ 882650 w 1009650"/>
              <a:gd name="connsiteY1" fmla="*/ 254000 h 347586"/>
              <a:gd name="connsiteX2" fmla="*/ 438150 w 1009650"/>
              <a:gd name="connsiteY2" fmla="*/ 336550 h 347586"/>
              <a:gd name="connsiteX3" fmla="*/ 0 w 1009650"/>
              <a:gd name="connsiteY3" fmla="*/ 31750 h 347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9650" h="347586">
                <a:moveTo>
                  <a:pt x="1009650" y="0"/>
                </a:moveTo>
                <a:cubicBezTo>
                  <a:pt x="993775" y="98954"/>
                  <a:pt x="977900" y="197908"/>
                  <a:pt x="882650" y="254000"/>
                </a:cubicBezTo>
                <a:cubicBezTo>
                  <a:pt x="787400" y="310092"/>
                  <a:pt x="585258" y="373592"/>
                  <a:pt x="438150" y="336550"/>
                </a:cubicBezTo>
                <a:cubicBezTo>
                  <a:pt x="291042" y="299508"/>
                  <a:pt x="145521" y="165629"/>
                  <a:pt x="0" y="31750"/>
                </a:cubicBezTo>
              </a:path>
            </a:pathLst>
          </a:custGeom>
          <a:noFill/>
          <a:ln>
            <a:solidFill>
              <a:srgbClr val="0066CC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12">
            <a:extLst>
              <a:ext uri="{FF2B5EF4-FFF2-40B4-BE49-F238E27FC236}">
                <a16:creationId xmlns:a16="http://schemas.microsoft.com/office/drawing/2014/main" id="{6E8AE5E0-CBCC-415E-AD5D-ED1E7FA221C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91011" y="2611468"/>
            <a:ext cx="380800" cy="7938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Connector 18">
            <a:extLst>
              <a:ext uri="{FF2B5EF4-FFF2-40B4-BE49-F238E27FC236}">
                <a16:creationId xmlns:a16="http://schemas.microsoft.com/office/drawing/2014/main" id="{51C2E0E4-0DF1-474C-9315-51BB023439F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902417" y="2611468"/>
            <a:ext cx="659936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6" name="Group 31">
            <a:extLst>
              <a:ext uri="{FF2B5EF4-FFF2-40B4-BE49-F238E27FC236}">
                <a16:creationId xmlns:a16="http://schemas.microsoft.com/office/drawing/2014/main" id="{9ED9014A-AA14-4BD0-BF66-D2406DDC00FE}"/>
              </a:ext>
            </a:extLst>
          </p:cNvPr>
          <p:cNvGrpSpPr>
            <a:grpSpLocks/>
          </p:cNvGrpSpPr>
          <p:nvPr/>
        </p:nvGrpSpPr>
        <p:grpSpPr bwMode="auto">
          <a:xfrm>
            <a:off x="6562353" y="2306668"/>
            <a:ext cx="1066601" cy="609600"/>
            <a:chOff x="4038600" y="5410200"/>
            <a:chExt cx="1066800" cy="609600"/>
          </a:xfrm>
        </p:grpSpPr>
        <p:cxnSp>
          <p:nvCxnSpPr>
            <p:cNvPr id="57" name="Straight Connector 20">
              <a:extLst>
                <a:ext uri="{FF2B5EF4-FFF2-40B4-BE49-F238E27FC236}">
                  <a16:creationId xmlns:a16="http://schemas.microsoft.com/office/drawing/2014/main" id="{807355A8-01A5-4125-834B-F96FF204FC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57150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6">
              <a:extLst>
                <a:ext uri="{FF2B5EF4-FFF2-40B4-BE49-F238E27FC236}">
                  <a16:creationId xmlns:a16="http://schemas.microsoft.com/office/drawing/2014/main" id="{C98829DC-D494-4C42-8FBF-D9A6126F3E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54102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7">
              <a:extLst>
                <a:ext uri="{FF2B5EF4-FFF2-40B4-BE49-F238E27FC236}">
                  <a16:creationId xmlns:a16="http://schemas.microsoft.com/office/drawing/2014/main" id="{1D75A7C2-03E7-4AA0-BB22-28467F2A92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038600" y="57150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0" name="Oval 28">
              <a:extLst>
                <a:ext uri="{FF2B5EF4-FFF2-40B4-BE49-F238E27FC236}">
                  <a16:creationId xmlns:a16="http://schemas.microsoft.com/office/drawing/2014/main" id="{9245AF41-C865-4845-86F9-C2101A23D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5638800"/>
              <a:ext cx="152400" cy="152400"/>
            </a:xfrm>
            <a:prstGeom prst="ellips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61" name="Straight Connector 30">
              <a:extLst>
                <a:ext uri="{FF2B5EF4-FFF2-40B4-BE49-F238E27FC236}">
                  <a16:creationId xmlns:a16="http://schemas.microsoft.com/office/drawing/2014/main" id="{72C2A1D3-48E9-419C-82A8-636980DF0E8C}"/>
                </a:ext>
              </a:extLst>
            </p:cNvPr>
            <p:cNvCxnSpPr>
              <a:cxnSpLocks noChangeShapeType="1"/>
              <a:stCxn id="60" idx="6"/>
            </p:cNvCxnSpPr>
            <p:nvPr/>
          </p:nvCxnSpPr>
          <p:spPr bwMode="auto">
            <a:xfrm>
              <a:off x="4800600" y="5715000"/>
              <a:ext cx="3048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2" name="Group 32">
            <a:extLst>
              <a:ext uri="{FF2B5EF4-FFF2-40B4-BE49-F238E27FC236}">
                <a16:creationId xmlns:a16="http://schemas.microsoft.com/office/drawing/2014/main" id="{E5EDB3F7-8D86-4D80-A4C3-86B51261AA9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09982" y="2916268"/>
            <a:ext cx="1066601" cy="609600"/>
            <a:chOff x="4038600" y="5410200"/>
            <a:chExt cx="1066800" cy="609600"/>
          </a:xfrm>
        </p:grpSpPr>
        <p:cxnSp>
          <p:nvCxnSpPr>
            <p:cNvPr id="63" name="Straight Connector 33">
              <a:extLst>
                <a:ext uri="{FF2B5EF4-FFF2-40B4-BE49-F238E27FC236}">
                  <a16:creationId xmlns:a16="http://schemas.microsoft.com/office/drawing/2014/main" id="{5597FEFB-0EE5-4C50-86B4-A4B776F877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57150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Straight Connector 34">
              <a:extLst>
                <a:ext uri="{FF2B5EF4-FFF2-40B4-BE49-F238E27FC236}">
                  <a16:creationId xmlns:a16="http://schemas.microsoft.com/office/drawing/2014/main" id="{48482D86-0444-45B1-BBFF-8B5C97A793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54102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Straight Connector 35">
              <a:extLst>
                <a:ext uri="{FF2B5EF4-FFF2-40B4-BE49-F238E27FC236}">
                  <a16:creationId xmlns:a16="http://schemas.microsoft.com/office/drawing/2014/main" id="{0AE24224-6879-45F7-9A6B-B8EE4A6B9F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038600" y="57150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6" name="Oval 36">
              <a:extLst>
                <a:ext uri="{FF2B5EF4-FFF2-40B4-BE49-F238E27FC236}">
                  <a16:creationId xmlns:a16="http://schemas.microsoft.com/office/drawing/2014/main" id="{26320717-0B31-4F63-BE78-6048452BF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5638800"/>
              <a:ext cx="152400" cy="152400"/>
            </a:xfrm>
            <a:prstGeom prst="ellips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67" name="Straight Connector 37">
              <a:extLst>
                <a:ext uri="{FF2B5EF4-FFF2-40B4-BE49-F238E27FC236}">
                  <a16:creationId xmlns:a16="http://schemas.microsoft.com/office/drawing/2014/main" id="{F5AF2FBF-0DB3-454D-96F0-A509B32B8F9A}"/>
                </a:ext>
              </a:extLst>
            </p:cNvPr>
            <p:cNvCxnSpPr>
              <a:cxnSpLocks noChangeShapeType="1"/>
              <a:stCxn id="66" idx="6"/>
            </p:cNvCxnSpPr>
            <p:nvPr/>
          </p:nvCxnSpPr>
          <p:spPr bwMode="auto">
            <a:xfrm>
              <a:off x="4800600" y="5715000"/>
              <a:ext cx="3048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68" name="Straight Connector 39">
            <a:extLst>
              <a:ext uri="{FF2B5EF4-FFF2-40B4-BE49-F238E27FC236}">
                <a16:creationId xmlns:a16="http://schemas.microsoft.com/office/drawing/2014/main" id="{F81B54B5-5DC6-4BBC-9EA4-3B6B73B79A6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324154" y="2916268"/>
            <a:ext cx="6096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Straight Connector 41">
            <a:extLst>
              <a:ext uri="{FF2B5EF4-FFF2-40B4-BE49-F238E27FC236}">
                <a16:creationId xmlns:a16="http://schemas.microsoft.com/office/drawing/2014/main" id="{FF0039C3-E362-4072-8533-6D5DAAB62C3C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7476582" y="3221068"/>
            <a:ext cx="15237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Straight Connector 47">
            <a:extLst>
              <a:ext uri="{FF2B5EF4-FFF2-40B4-BE49-F238E27FC236}">
                <a16:creationId xmlns:a16="http://schemas.microsoft.com/office/drawing/2014/main" id="{F9204E18-424A-4611-B568-17FE42A8A1E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952810" y="2916268"/>
            <a:ext cx="6096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Straight Connector 49">
            <a:extLst>
              <a:ext uri="{FF2B5EF4-FFF2-40B4-BE49-F238E27FC236}">
                <a16:creationId xmlns:a16="http://schemas.microsoft.com/office/drawing/2014/main" id="{6CEB7CB7-9A98-450B-9A5F-66E80DDEB46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257610" y="3221068"/>
            <a:ext cx="15237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Straight Connector 51">
            <a:extLst>
              <a:ext uri="{FF2B5EF4-FFF2-40B4-BE49-F238E27FC236}">
                <a16:creationId xmlns:a16="http://schemas.microsoft.com/office/drawing/2014/main" id="{B71519A9-2E0C-4A82-80ED-23FC8986DA5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28954" y="2611468"/>
            <a:ext cx="457115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TextBox 53">
            <a:extLst>
              <a:ext uri="{FF2B5EF4-FFF2-40B4-BE49-F238E27FC236}">
                <a16:creationId xmlns:a16="http://schemas.microsoft.com/office/drawing/2014/main" id="{74686BCB-F515-42A4-AFC2-E13612501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081" y="2459068"/>
            <a:ext cx="3625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74" name="TextBox 54">
            <a:extLst>
              <a:ext uri="{FF2B5EF4-FFF2-40B4-BE49-F238E27FC236}">
                <a16:creationId xmlns:a16="http://schemas.microsoft.com/office/drawing/2014/main" id="{29BCCB7C-6D60-4B59-B5F7-92F0A5740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068" y="2382868"/>
            <a:ext cx="3657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Q</a:t>
            </a:r>
          </a:p>
        </p:txBody>
      </p:sp>
      <p:sp>
        <p:nvSpPr>
          <p:cNvPr id="75" name="TextBox 61">
            <a:extLst>
              <a:ext uri="{FF2B5EF4-FFF2-40B4-BE49-F238E27FC236}">
                <a16:creationId xmlns:a16="http://schemas.microsoft.com/office/drawing/2014/main" id="{6E5A9299-E708-49DB-9ECE-CA0BCC5BB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811" y="3168627"/>
            <a:ext cx="3304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E</a:t>
            </a:r>
          </a:p>
        </p:txBody>
      </p:sp>
      <p:sp>
        <p:nvSpPr>
          <p:cNvPr id="76" name="Oval 65">
            <a:extLst>
              <a:ext uri="{FF2B5EF4-FFF2-40B4-BE49-F238E27FC236}">
                <a16:creationId xmlns:a16="http://schemas.microsoft.com/office/drawing/2014/main" id="{CBE49D8F-627D-442C-9577-483D029BB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7687" y="2581306"/>
            <a:ext cx="76186" cy="76200"/>
          </a:xfrm>
          <a:prstGeom prst="ellipse">
            <a:avLst/>
          </a:prstGeom>
          <a:solidFill>
            <a:schemeClr val="tx1"/>
          </a:solidFill>
          <a:ln w="222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7" name="Oval 66">
            <a:extLst>
              <a:ext uri="{FF2B5EF4-FFF2-40B4-BE49-F238E27FC236}">
                <a16:creationId xmlns:a16="http://schemas.microsoft.com/office/drawing/2014/main" id="{DA71A891-55CE-4C0F-8393-7E09140C2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105" y="2576544"/>
            <a:ext cx="76186" cy="76200"/>
          </a:xfrm>
          <a:prstGeom prst="ellipse">
            <a:avLst/>
          </a:prstGeom>
          <a:solidFill>
            <a:schemeClr val="tx1"/>
          </a:solidFill>
          <a:ln w="222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6A6945B-50DB-41C6-B584-0968E6811BB9}"/>
              </a:ext>
            </a:extLst>
          </p:cNvPr>
          <p:cNvCxnSpPr/>
          <p:nvPr/>
        </p:nvCxnSpPr>
        <p:spPr bwMode="auto">
          <a:xfrm>
            <a:off x="5571811" y="2619406"/>
            <a:ext cx="0" cy="208994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ABDA308-0ECA-40ED-B7F0-3BC954866E72}"/>
              </a:ext>
            </a:extLst>
          </p:cNvPr>
          <p:cNvCxnSpPr/>
          <p:nvPr/>
        </p:nvCxnSpPr>
        <p:spPr bwMode="auto">
          <a:xfrm>
            <a:off x="5907051" y="2611468"/>
            <a:ext cx="0" cy="208994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FAFCBFD-9C39-4424-8870-429C8467752E}"/>
              </a:ext>
            </a:extLst>
          </p:cNvPr>
          <p:cNvCxnSpPr/>
          <p:nvPr/>
        </p:nvCxnSpPr>
        <p:spPr bwMode="auto">
          <a:xfrm>
            <a:off x="5571811" y="2828400"/>
            <a:ext cx="330606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777CE00-E426-42C1-922D-F43E28764C7E}"/>
              </a:ext>
            </a:extLst>
          </p:cNvPr>
          <p:cNvCxnSpPr/>
          <p:nvPr/>
        </p:nvCxnSpPr>
        <p:spPr bwMode="auto">
          <a:xfrm>
            <a:off x="5571811" y="2916267"/>
            <a:ext cx="330606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EEBB296-21BA-4EB4-9FDC-9F7E55C69F14}"/>
              </a:ext>
            </a:extLst>
          </p:cNvPr>
          <p:cNvCxnSpPr>
            <a:cxnSpLocks/>
            <a:endCxn id="75" idx="0"/>
          </p:cNvCxnSpPr>
          <p:nvPr/>
        </p:nvCxnSpPr>
        <p:spPr bwMode="auto">
          <a:xfrm>
            <a:off x="5737050" y="2916267"/>
            <a:ext cx="0" cy="25236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80CD086-5E06-4D74-A6D8-6A32F1FFE339}"/>
              </a:ext>
            </a:extLst>
          </p:cNvPr>
          <p:cNvSpPr txBox="1"/>
          <p:nvPr/>
        </p:nvSpPr>
        <p:spPr>
          <a:xfrm>
            <a:off x="7503837" y="224156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80B4AF2-E77F-4A29-A9D9-3E03CBAD5D52}"/>
              </a:ext>
            </a:extLst>
          </p:cNvPr>
          <p:cNvSpPr txBox="1"/>
          <p:nvPr/>
        </p:nvSpPr>
        <p:spPr>
          <a:xfrm>
            <a:off x="6050754" y="2237233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46F8EF59-FAA4-43A9-905C-B4936488A109}"/>
              </a:ext>
            </a:extLst>
          </p:cNvPr>
          <p:cNvSpPr/>
          <p:nvPr/>
        </p:nvSpPr>
        <p:spPr>
          <a:xfrm>
            <a:off x="6643427" y="3449668"/>
            <a:ext cx="1009650" cy="347586"/>
          </a:xfrm>
          <a:custGeom>
            <a:avLst/>
            <a:gdLst>
              <a:gd name="connsiteX0" fmla="*/ 1009650 w 1009650"/>
              <a:gd name="connsiteY0" fmla="*/ 0 h 347586"/>
              <a:gd name="connsiteX1" fmla="*/ 882650 w 1009650"/>
              <a:gd name="connsiteY1" fmla="*/ 254000 h 347586"/>
              <a:gd name="connsiteX2" fmla="*/ 438150 w 1009650"/>
              <a:gd name="connsiteY2" fmla="*/ 336550 h 347586"/>
              <a:gd name="connsiteX3" fmla="*/ 0 w 1009650"/>
              <a:gd name="connsiteY3" fmla="*/ 31750 h 347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9650" h="347586">
                <a:moveTo>
                  <a:pt x="1009650" y="0"/>
                </a:moveTo>
                <a:cubicBezTo>
                  <a:pt x="993775" y="98954"/>
                  <a:pt x="977900" y="197908"/>
                  <a:pt x="882650" y="254000"/>
                </a:cubicBezTo>
                <a:cubicBezTo>
                  <a:pt x="787400" y="310092"/>
                  <a:pt x="585258" y="373592"/>
                  <a:pt x="438150" y="336550"/>
                </a:cubicBezTo>
                <a:cubicBezTo>
                  <a:pt x="291042" y="299508"/>
                  <a:pt x="145521" y="165629"/>
                  <a:pt x="0" y="31750"/>
                </a:cubicBezTo>
              </a:path>
            </a:pathLst>
          </a:custGeom>
          <a:noFill/>
          <a:ln>
            <a:solidFill>
              <a:srgbClr val="0066CC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4B0268C-5C55-46DC-B81E-025A49F15D0B}"/>
              </a:ext>
            </a:extLst>
          </p:cNvPr>
          <p:cNvSpPr txBox="1"/>
          <p:nvPr/>
        </p:nvSpPr>
        <p:spPr>
          <a:xfrm>
            <a:off x="3362620" y="5625054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=1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2AF7BEC-9BB3-4CAD-988F-9E67B612B414}"/>
              </a:ext>
            </a:extLst>
          </p:cNvPr>
          <p:cNvGrpSpPr/>
          <p:nvPr/>
        </p:nvGrpSpPr>
        <p:grpSpPr>
          <a:xfrm>
            <a:off x="2426462" y="4653161"/>
            <a:ext cx="3641725" cy="1302530"/>
            <a:chOff x="2426462" y="4653161"/>
            <a:chExt cx="3641725" cy="1302530"/>
          </a:xfrm>
        </p:grpSpPr>
        <p:cxnSp>
          <p:nvCxnSpPr>
            <p:cNvPr id="121" name="Straight Connector 12">
              <a:extLst>
                <a:ext uri="{FF2B5EF4-FFF2-40B4-BE49-F238E27FC236}">
                  <a16:creationId xmlns:a16="http://schemas.microsoft.com/office/drawing/2014/main" id="{07906B40-890B-4EDC-B437-DFFB3EF61B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807392" y="5029200"/>
              <a:ext cx="380800" cy="7938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" name="Straight Connector 18">
              <a:extLst>
                <a:ext uri="{FF2B5EF4-FFF2-40B4-BE49-F238E27FC236}">
                  <a16:creationId xmlns:a16="http://schemas.microsoft.com/office/drawing/2014/main" id="{5CD549C8-FB13-47CB-9ECF-71E00A2DC0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518798" y="5029200"/>
              <a:ext cx="659936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23" name="Group 31">
              <a:extLst>
                <a:ext uri="{FF2B5EF4-FFF2-40B4-BE49-F238E27FC236}">
                  <a16:creationId xmlns:a16="http://schemas.microsoft.com/office/drawing/2014/main" id="{B1785C20-21C1-4B43-B387-C9C22BE02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8734" y="4724400"/>
              <a:ext cx="1066601" cy="609600"/>
              <a:chOff x="4038600" y="5410200"/>
              <a:chExt cx="1066800" cy="609600"/>
            </a:xfrm>
          </p:grpSpPr>
          <p:cxnSp>
            <p:nvCxnSpPr>
              <p:cNvPr id="124" name="Straight Connector 20">
                <a:extLst>
                  <a:ext uri="{FF2B5EF4-FFF2-40B4-BE49-F238E27FC236}">
                    <a16:creationId xmlns:a16="http://schemas.microsoft.com/office/drawing/2014/main" id="{F2CFDD78-BFA0-4CD0-9A26-F92E163B0C3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733800" y="5715000"/>
                <a:ext cx="609600" cy="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5" name="Straight Connector 26">
                <a:extLst>
                  <a:ext uri="{FF2B5EF4-FFF2-40B4-BE49-F238E27FC236}">
                    <a16:creationId xmlns:a16="http://schemas.microsoft.com/office/drawing/2014/main" id="{193BB38A-10F9-4ACE-B3E4-914A872D6C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038600" y="5410200"/>
                <a:ext cx="609600" cy="30480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6" name="Straight Connector 27">
                <a:extLst>
                  <a:ext uri="{FF2B5EF4-FFF2-40B4-BE49-F238E27FC236}">
                    <a16:creationId xmlns:a16="http://schemas.microsoft.com/office/drawing/2014/main" id="{13098E09-6873-4A5D-84F6-514E44D6BCB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038600" y="5715000"/>
                <a:ext cx="609600" cy="30480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27" name="Oval 28">
                <a:extLst>
                  <a:ext uri="{FF2B5EF4-FFF2-40B4-BE49-F238E27FC236}">
                    <a16:creationId xmlns:a16="http://schemas.microsoft.com/office/drawing/2014/main" id="{53038DB3-6AE1-47AA-846C-FC59C776F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8200" y="5638800"/>
                <a:ext cx="152400" cy="152400"/>
              </a:xfrm>
              <a:prstGeom prst="ellips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128" name="Straight Connector 30">
                <a:extLst>
                  <a:ext uri="{FF2B5EF4-FFF2-40B4-BE49-F238E27FC236}">
                    <a16:creationId xmlns:a16="http://schemas.microsoft.com/office/drawing/2014/main" id="{B9BD10CD-63BD-4075-A1E5-7AC6CD2D2BB3}"/>
                  </a:ext>
                </a:extLst>
              </p:cNvPr>
              <p:cNvCxnSpPr>
                <a:cxnSpLocks noChangeShapeType="1"/>
                <a:stCxn id="127" idx="6"/>
              </p:cNvCxnSpPr>
              <p:nvPr/>
            </p:nvCxnSpPr>
            <p:spPr bwMode="auto">
              <a:xfrm>
                <a:off x="4800600" y="5715000"/>
                <a:ext cx="304800" cy="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29" name="Group 32">
              <a:extLst>
                <a:ext uri="{FF2B5EF4-FFF2-40B4-BE49-F238E27FC236}">
                  <a16:creationId xmlns:a16="http://schemas.microsoft.com/office/drawing/2014/main" id="{1B3E4951-29A4-44DE-8DBF-A78456C5D78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026363" y="5334000"/>
              <a:ext cx="1066601" cy="609600"/>
              <a:chOff x="4038600" y="5410200"/>
              <a:chExt cx="1066800" cy="609600"/>
            </a:xfrm>
          </p:grpSpPr>
          <p:cxnSp>
            <p:nvCxnSpPr>
              <p:cNvPr id="130" name="Straight Connector 33">
                <a:extLst>
                  <a:ext uri="{FF2B5EF4-FFF2-40B4-BE49-F238E27FC236}">
                    <a16:creationId xmlns:a16="http://schemas.microsoft.com/office/drawing/2014/main" id="{1978036C-56D1-480D-B237-33FD3C593CB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733800" y="5715000"/>
                <a:ext cx="609600" cy="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1" name="Straight Connector 34">
                <a:extLst>
                  <a:ext uri="{FF2B5EF4-FFF2-40B4-BE49-F238E27FC236}">
                    <a16:creationId xmlns:a16="http://schemas.microsoft.com/office/drawing/2014/main" id="{8090F27F-0373-40AB-886C-38F86532639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038600" y="5410200"/>
                <a:ext cx="609600" cy="30480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2" name="Straight Connector 35">
                <a:extLst>
                  <a:ext uri="{FF2B5EF4-FFF2-40B4-BE49-F238E27FC236}">
                    <a16:creationId xmlns:a16="http://schemas.microsoft.com/office/drawing/2014/main" id="{5D95809A-8558-46A8-A60E-F98E97F63DA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038600" y="5715000"/>
                <a:ext cx="609600" cy="30480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33" name="Oval 36">
                <a:extLst>
                  <a:ext uri="{FF2B5EF4-FFF2-40B4-BE49-F238E27FC236}">
                    <a16:creationId xmlns:a16="http://schemas.microsoft.com/office/drawing/2014/main" id="{E689986C-32C9-45B1-A758-80435F9A38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8200" y="5638800"/>
                <a:ext cx="152400" cy="152400"/>
              </a:xfrm>
              <a:prstGeom prst="ellips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134" name="Straight Connector 37">
                <a:extLst>
                  <a:ext uri="{FF2B5EF4-FFF2-40B4-BE49-F238E27FC236}">
                    <a16:creationId xmlns:a16="http://schemas.microsoft.com/office/drawing/2014/main" id="{263404C5-DA97-450B-94A9-AD0654AE770A}"/>
                  </a:ext>
                </a:extLst>
              </p:cNvPr>
              <p:cNvCxnSpPr>
                <a:cxnSpLocks noChangeShapeType="1"/>
                <a:stCxn id="133" idx="6"/>
              </p:cNvCxnSpPr>
              <p:nvPr/>
            </p:nvCxnSpPr>
            <p:spPr bwMode="auto">
              <a:xfrm>
                <a:off x="4800600" y="5715000"/>
                <a:ext cx="304800" cy="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35" name="Straight Connector 39">
              <a:extLst>
                <a:ext uri="{FF2B5EF4-FFF2-40B4-BE49-F238E27FC236}">
                  <a16:creationId xmlns:a16="http://schemas.microsoft.com/office/drawing/2014/main" id="{9D28A1DD-765C-4AC0-9107-2561C9CCFB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940535" y="53340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6" name="Straight Connector 41">
              <a:extLst>
                <a:ext uri="{FF2B5EF4-FFF2-40B4-BE49-F238E27FC236}">
                  <a16:creationId xmlns:a16="http://schemas.microsoft.com/office/drawing/2014/main" id="{0FFAA327-DD98-4CBC-84BF-333600A211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5092963" y="5638800"/>
              <a:ext cx="152372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Straight Connector 47">
              <a:extLst>
                <a:ext uri="{FF2B5EF4-FFF2-40B4-BE49-F238E27FC236}">
                  <a16:creationId xmlns:a16="http://schemas.microsoft.com/office/drawing/2014/main" id="{3BA0C283-5D99-435B-927C-FCA1F22478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569191" y="53340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Straight Connector 49">
              <a:extLst>
                <a:ext uri="{FF2B5EF4-FFF2-40B4-BE49-F238E27FC236}">
                  <a16:creationId xmlns:a16="http://schemas.microsoft.com/office/drawing/2014/main" id="{2C278AC8-314F-40FC-A9D9-BC537145AF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73991" y="5638800"/>
              <a:ext cx="152372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" name="Straight Connector 51">
              <a:extLst>
                <a:ext uri="{FF2B5EF4-FFF2-40B4-BE49-F238E27FC236}">
                  <a16:creationId xmlns:a16="http://schemas.microsoft.com/office/drawing/2014/main" id="{B7C4062D-9511-4737-A26F-31FE05287F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45335" y="5029200"/>
              <a:ext cx="457115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0" name="TextBox 53">
              <a:extLst>
                <a:ext uri="{FF2B5EF4-FFF2-40B4-BE49-F238E27FC236}">
                  <a16:creationId xmlns:a16="http://schemas.microsoft.com/office/drawing/2014/main" id="{5D53C262-DC9F-4014-9B23-C2C1F1219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462" y="4876800"/>
              <a:ext cx="3625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</a:t>
              </a:r>
            </a:p>
          </p:txBody>
        </p:sp>
        <p:sp>
          <p:nvSpPr>
            <p:cNvPr id="141" name="TextBox 54">
              <a:extLst>
                <a:ext uri="{FF2B5EF4-FFF2-40B4-BE49-F238E27FC236}">
                  <a16:creationId xmlns:a16="http://schemas.microsoft.com/office/drawing/2014/main" id="{104EBDC6-9EF5-4B07-ADCC-BE7ED28D1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2449" y="4800600"/>
              <a:ext cx="3657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Q</a:t>
              </a:r>
            </a:p>
          </p:txBody>
        </p:sp>
        <p:sp>
          <p:nvSpPr>
            <p:cNvPr id="142" name="TextBox 61">
              <a:extLst>
                <a:ext uri="{FF2B5EF4-FFF2-40B4-BE49-F238E27FC236}">
                  <a16:creationId xmlns:a16="http://schemas.microsoft.com/office/drawing/2014/main" id="{88237716-F6C8-4A80-BAE7-3842373A85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8192" y="5586359"/>
              <a:ext cx="3304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/>
                <a:t>E</a:t>
              </a:r>
            </a:p>
          </p:txBody>
        </p:sp>
        <p:sp>
          <p:nvSpPr>
            <p:cNvPr id="143" name="Oval 65">
              <a:extLst>
                <a:ext uri="{FF2B5EF4-FFF2-40B4-BE49-F238E27FC236}">
                  <a16:creationId xmlns:a16="http://schemas.microsoft.com/office/drawing/2014/main" id="{C5918598-87FC-4BFE-8DA1-E63385F2C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4068" y="4999038"/>
              <a:ext cx="76186" cy="76200"/>
            </a:xfrm>
            <a:prstGeom prst="ellipse">
              <a:avLst/>
            </a:prstGeom>
            <a:solidFill>
              <a:schemeClr val="tx1"/>
            </a:solidFill>
            <a:ln w="222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4" name="Oval 66">
              <a:extLst>
                <a:ext uri="{FF2B5EF4-FFF2-40B4-BE49-F238E27FC236}">
                  <a16:creationId xmlns:a16="http://schemas.microsoft.com/office/drawing/2014/main" id="{3069092B-DE5E-43DB-89AC-FFB71935D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7486" y="4994276"/>
              <a:ext cx="76186" cy="76200"/>
            </a:xfrm>
            <a:prstGeom prst="ellipse">
              <a:avLst/>
            </a:prstGeom>
            <a:solidFill>
              <a:schemeClr val="tx1"/>
            </a:solidFill>
            <a:ln w="222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DE123F1-FA48-46DD-BB70-9CE67EBC0AF2}"/>
                </a:ext>
              </a:extLst>
            </p:cNvPr>
            <p:cNvCxnSpPr/>
            <p:nvPr/>
          </p:nvCxnSpPr>
          <p:spPr bwMode="auto">
            <a:xfrm>
              <a:off x="3188192" y="5037138"/>
              <a:ext cx="0" cy="208994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4236AAC5-6429-45E9-9DC1-697F9E92D16D}"/>
                </a:ext>
              </a:extLst>
            </p:cNvPr>
            <p:cNvCxnSpPr/>
            <p:nvPr/>
          </p:nvCxnSpPr>
          <p:spPr bwMode="auto">
            <a:xfrm>
              <a:off x="3523432" y="5029200"/>
              <a:ext cx="0" cy="208994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4A14EF98-3345-4135-9695-4A295960E99B}"/>
                </a:ext>
              </a:extLst>
            </p:cNvPr>
            <p:cNvCxnSpPr/>
            <p:nvPr/>
          </p:nvCxnSpPr>
          <p:spPr bwMode="auto">
            <a:xfrm>
              <a:off x="3188192" y="5246132"/>
              <a:ext cx="330606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48EFF03-A748-43FD-88DB-B60E64B514BD}"/>
                </a:ext>
              </a:extLst>
            </p:cNvPr>
            <p:cNvCxnSpPr/>
            <p:nvPr/>
          </p:nvCxnSpPr>
          <p:spPr bwMode="auto">
            <a:xfrm>
              <a:off x="3188192" y="5333999"/>
              <a:ext cx="330606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7A219287-A41E-40CE-B535-8FFE9F6703EC}"/>
                </a:ext>
              </a:extLst>
            </p:cNvPr>
            <p:cNvCxnSpPr>
              <a:cxnSpLocks/>
              <a:endCxn id="142" idx="0"/>
            </p:cNvCxnSpPr>
            <p:nvPr/>
          </p:nvCxnSpPr>
          <p:spPr bwMode="auto">
            <a:xfrm>
              <a:off x="3353431" y="5333999"/>
              <a:ext cx="0" cy="25236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CC0CA95-6765-4DC8-BAD7-8C24FDE0973A}"/>
                </a:ext>
              </a:extLst>
            </p:cNvPr>
            <p:cNvSpPr txBox="1"/>
            <p:nvPr/>
          </p:nvSpPr>
          <p:spPr>
            <a:xfrm>
              <a:off x="3782744" y="4672032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0F4A034-3960-4EAD-B64B-937FE7F39D48}"/>
                </a:ext>
              </a:extLst>
            </p:cNvPr>
            <p:cNvSpPr txBox="1"/>
            <p:nvPr/>
          </p:nvSpPr>
          <p:spPr>
            <a:xfrm>
              <a:off x="5101589" y="4653161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70C0"/>
                  </a:solidFill>
                </a:rPr>
                <a:t>0</a:t>
              </a: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76EC7B9D-27EF-47ED-AB42-8C9EEC763EA1}"/>
              </a:ext>
            </a:extLst>
          </p:cNvPr>
          <p:cNvSpPr txBox="1"/>
          <p:nvPr/>
        </p:nvSpPr>
        <p:spPr>
          <a:xfrm>
            <a:off x="2777149" y="4686499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750089D-07ED-4AB3-A440-840000F8B7E0}"/>
              </a:ext>
            </a:extLst>
          </p:cNvPr>
          <p:cNvSpPr txBox="1"/>
          <p:nvPr/>
        </p:nvSpPr>
        <p:spPr>
          <a:xfrm>
            <a:off x="4546922" y="5486400"/>
            <a:ext cx="61908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solidFill>
                  <a:srgbClr val="0070C0"/>
                </a:solidFill>
              </a:rPr>
              <a:t>weak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017C1AE-5DCC-42D5-ADB0-B5A544769D70}"/>
              </a:ext>
            </a:extLst>
          </p:cNvPr>
          <p:cNvGrpSpPr/>
          <p:nvPr/>
        </p:nvGrpSpPr>
        <p:grpSpPr>
          <a:xfrm>
            <a:off x="3055620" y="4661803"/>
            <a:ext cx="1033048" cy="307777"/>
            <a:chOff x="3055620" y="4661803"/>
            <a:chExt cx="1033048" cy="307777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127D5F99-671C-4381-8F53-07B5D489BAD3}"/>
                </a:ext>
              </a:extLst>
            </p:cNvPr>
            <p:cNvSpPr txBox="1"/>
            <p:nvPr/>
          </p:nvSpPr>
          <p:spPr>
            <a:xfrm>
              <a:off x="3790188" y="4661803"/>
              <a:ext cx="29848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E3DD3E4-87D4-4BD2-92B9-8628ECDED27F}"/>
                </a:ext>
              </a:extLst>
            </p:cNvPr>
            <p:cNvSpPr/>
            <p:nvPr/>
          </p:nvSpPr>
          <p:spPr>
            <a:xfrm>
              <a:off x="3055620" y="4823460"/>
              <a:ext cx="792480" cy="22860"/>
            </a:xfrm>
            <a:custGeom>
              <a:avLst/>
              <a:gdLst>
                <a:gd name="connsiteX0" fmla="*/ 0 w 792480"/>
                <a:gd name="connsiteY0" fmla="*/ 22860 h 22860"/>
                <a:gd name="connsiteX1" fmla="*/ 228600 w 792480"/>
                <a:gd name="connsiteY1" fmla="*/ 7620 h 22860"/>
                <a:gd name="connsiteX2" fmla="*/ 792480 w 792480"/>
                <a:gd name="connsiteY2" fmla="*/ 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2480" h="22860">
                  <a:moveTo>
                    <a:pt x="0" y="22860"/>
                  </a:moveTo>
                  <a:cubicBezTo>
                    <a:pt x="48260" y="17145"/>
                    <a:pt x="96520" y="11430"/>
                    <a:pt x="228600" y="7620"/>
                  </a:cubicBezTo>
                  <a:cubicBezTo>
                    <a:pt x="360680" y="3810"/>
                    <a:pt x="576580" y="1905"/>
                    <a:pt x="792480" y="0"/>
                  </a:cubicBezTo>
                </a:path>
              </a:pathLst>
            </a:custGeom>
            <a:noFill/>
            <a:ln w="1270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D9E54F4E-4A35-4DD1-8B63-C017EA68DED9}"/>
              </a:ext>
            </a:extLst>
          </p:cNvPr>
          <p:cNvSpPr txBox="1"/>
          <p:nvPr/>
        </p:nvSpPr>
        <p:spPr>
          <a:xfrm>
            <a:off x="5138788" y="4672032"/>
            <a:ext cx="29848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0886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3" grpId="0" animBg="1"/>
      <p:bldP spid="73" grpId="0"/>
      <p:bldP spid="74" grpId="0"/>
      <p:bldP spid="75" grpId="0"/>
      <p:bldP spid="76" grpId="0" animBg="1"/>
      <p:bldP spid="77" grpId="0" animBg="1"/>
      <p:bldP spid="84" grpId="0"/>
      <p:bldP spid="85" grpId="0"/>
      <p:bldP spid="86" grpId="0" animBg="1"/>
      <p:bldP spid="150" grpId="0"/>
      <p:bldP spid="155" grpId="0"/>
      <p:bldP spid="156" grpId="0"/>
      <p:bldP spid="16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73B0D8-26CF-4B3E-8038-75A3B9CE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8</a:t>
            </a:fld>
            <a:endParaRPr lang="en-US" altLang="en-US"/>
          </a:p>
        </p:txBody>
      </p:sp>
      <p:cxnSp>
        <p:nvCxnSpPr>
          <p:cNvPr id="3" name="Straight Connector 12">
            <a:extLst>
              <a:ext uri="{FF2B5EF4-FFF2-40B4-BE49-F238E27FC236}">
                <a16:creationId xmlns:a16="http://schemas.microsoft.com/office/drawing/2014/main" id="{BC18486C-7D1D-40B2-BDA7-3F56672D1D9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65531" y="2439919"/>
            <a:ext cx="380800" cy="7938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" name="Straight Connector 18">
            <a:extLst>
              <a:ext uri="{FF2B5EF4-FFF2-40B4-BE49-F238E27FC236}">
                <a16:creationId xmlns:a16="http://schemas.microsoft.com/office/drawing/2014/main" id="{C6D34A94-2428-44B6-8374-BA243A15B9D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576937" y="2439919"/>
            <a:ext cx="659936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" name="Group 31">
            <a:extLst>
              <a:ext uri="{FF2B5EF4-FFF2-40B4-BE49-F238E27FC236}">
                <a16:creationId xmlns:a16="http://schemas.microsoft.com/office/drawing/2014/main" id="{78A02338-0EC1-493B-AF97-248B95461B21}"/>
              </a:ext>
            </a:extLst>
          </p:cNvPr>
          <p:cNvGrpSpPr>
            <a:grpSpLocks/>
          </p:cNvGrpSpPr>
          <p:nvPr/>
        </p:nvGrpSpPr>
        <p:grpSpPr bwMode="auto">
          <a:xfrm>
            <a:off x="2236873" y="2135119"/>
            <a:ext cx="1066601" cy="609600"/>
            <a:chOff x="4038600" y="5410200"/>
            <a:chExt cx="1066800" cy="609600"/>
          </a:xfrm>
        </p:grpSpPr>
        <p:cxnSp>
          <p:nvCxnSpPr>
            <p:cNvPr id="6" name="Straight Connector 20">
              <a:extLst>
                <a:ext uri="{FF2B5EF4-FFF2-40B4-BE49-F238E27FC236}">
                  <a16:creationId xmlns:a16="http://schemas.microsoft.com/office/drawing/2014/main" id="{27B77EA5-EE74-44EB-929A-45B5F1D285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57150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Connector 26">
              <a:extLst>
                <a:ext uri="{FF2B5EF4-FFF2-40B4-BE49-F238E27FC236}">
                  <a16:creationId xmlns:a16="http://schemas.microsoft.com/office/drawing/2014/main" id="{5076AABB-4E0B-4F41-B6F0-91CB73D09F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54102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Connector 27">
              <a:extLst>
                <a:ext uri="{FF2B5EF4-FFF2-40B4-BE49-F238E27FC236}">
                  <a16:creationId xmlns:a16="http://schemas.microsoft.com/office/drawing/2014/main" id="{4DE96DD5-798E-4DD6-A94F-4A614418AD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038600" y="57150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Oval 28">
              <a:extLst>
                <a:ext uri="{FF2B5EF4-FFF2-40B4-BE49-F238E27FC236}">
                  <a16:creationId xmlns:a16="http://schemas.microsoft.com/office/drawing/2014/main" id="{3B9FDDF0-AB5D-44C2-A7B1-ADB31B990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5638800"/>
              <a:ext cx="152400" cy="152400"/>
            </a:xfrm>
            <a:prstGeom prst="ellips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0" name="Straight Connector 30">
              <a:extLst>
                <a:ext uri="{FF2B5EF4-FFF2-40B4-BE49-F238E27FC236}">
                  <a16:creationId xmlns:a16="http://schemas.microsoft.com/office/drawing/2014/main" id="{A6335A1C-C4C4-4803-B3DC-38F72BEC87D5}"/>
                </a:ext>
              </a:extLst>
            </p:cNvPr>
            <p:cNvCxnSpPr>
              <a:cxnSpLocks noChangeShapeType="1"/>
              <a:stCxn id="9" idx="6"/>
            </p:cNvCxnSpPr>
            <p:nvPr/>
          </p:nvCxnSpPr>
          <p:spPr bwMode="auto">
            <a:xfrm>
              <a:off x="4800600" y="5715000"/>
              <a:ext cx="3048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" name="Group 32">
            <a:extLst>
              <a:ext uri="{FF2B5EF4-FFF2-40B4-BE49-F238E27FC236}">
                <a16:creationId xmlns:a16="http://schemas.microsoft.com/office/drawing/2014/main" id="{4577930E-9C17-4501-91FF-6C9F997AC60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084502" y="2744719"/>
            <a:ext cx="1066601" cy="609600"/>
            <a:chOff x="4038600" y="5410200"/>
            <a:chExt cx="1066800" cy="609600"/>
          </a:xfrm>
        </p:grpSpPr>
        <p:cxnSp>
          <p:nvCxnSpPr>
            <p:cNvPr id="12" name="Straight Connector 33">
              <a:extLst>
                <a:ext uri="{FF2B5EF4-FFF2-40B4-BE49-F238E27FC236}">
                  <a16:creationId xmlns:a16="http://schemas.microsoft.com/office/drawing/2014/main" id="{5030198D-41D5-4927-B973-80AEB237EA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733800" y="57150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Straight Connector 34">
              <a:extLst>
                <a:ext uri="{FF2B5EF4-FFF2-40B4-BE49-F238E27FC236}">
                  <a16:creationId xmlns:a16="http://schemas.microsoft.com/office/drawing/2014/main" id="{BB8FF483-9BF2-47E6-89BD-DF425D5031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54102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Connector 35">
              <a:extLst>
                <a:ext uri="{FF2B5EF4-FFF2-40B4-BE49-F238E27FC236}">
                  <a16:creationId xmlns:a16="http://schemas.microsoft.com/office/drawing/2014/main" id="{B179BAFA-6A25-4A30-892A-4C3FB9FABF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038600" y="5715000"/>
              <a:ext cx="609600" cy="304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Oval 36">
              <a:extLst>
                <a:ext uri="{FF2B5EF4-FFF2-40B4-BE49-F238E27FC236}">
                  <a16:creationId xmlns:a16="http://schemas.microsoft.com/office/drawing/2014/main" id="{20C85475-B93F-4154-953D-78B6C5357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5638800"/>
              <a:ext cx="152400" cy="152400"/>
            </a:xfrm>
            <a:prstGeom prst="ellips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6" name="Straight Connector 37">
              <a:extLst>
                <a:ext uri="{FF2B5EF4-FFF2-40B4-BE49-F238E27FC236}">
                  <a16:creationId xmlns:a16="http://schemas.microsoft.com/office/drawing/2014/main" id="{FD829CDD-D7EC-433A-8B56-A2B51D014ACB}"/>
                </a:ext>
              </a:extLst>
            </p:cNvPr>
            <p:cNvCxnSpPr>
              <a:cxnSpLocks noChangeShapeType="1"/>
              <a:stCxn id="15" idx="6"/>
            </p:cNvCxnSpPr>
            <p:nvPr/>
          </p:nvCxnSpPr>
          <p:spPr bwMode="auto">
            <a:xfrm>
              <a:off x="4800600" y="5715000"/>
              <a:ext cx="3048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7" name="Straight Connector 39">
            <a:extLst>
              <a:ext uri="{FF2B5EF4-FFF2-40B4-BE49-F238E27FC236}">
                <a16:creationId xmlns:a16="http://schemas.microsoft.com/office/drawing/2014/main" id="{BEFF9E43-11B1-4E45-98FF-01D933B3B55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998674" y="2744719"/>
            <a:ext cx="6096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41">
            <a:extLst>
              <a:ext uri="{FF2B5EF4-FFF2-40B4-BE49-F238E27FC236}">
                <a16:creationId xmlns:a16="http://schemas.microsoft.com/office/drawing/2014/main" id="{274D2223-4125-42A8-843E-F5D69F8B6DA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3151102" y="3049519"/>
            <a:ext cx="15237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47">
            <a:extLst>
              <a:ext uri="{FF2B5EF4-FFF2-40B4-BE49-F238E27FC236}">
                <a16:creationId xmlns:a16="http://schemas.microsoft.com/office/drawing/2014/main" id="{57D75B80-909A-4D9E-BD37-C208B41E669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1627330" y="2744719"/>
            <a:ext cx="6096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Connector 49">
            <a:extLst>
              <a:ext uri="{FF2B5EF4-FFF2-40B4-BE49-F238E27FC236}">
                <a16:creationId xmlns:a16="http://schemas.microsoft.com/office/drawing/2014/main" id="{24F1A012-D8A9-4B08-9A0A-F09936D6739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932130" y="3049519"/>
            <a:ext cx="15237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Connector 51">
            <a:extLst>
              <a:ext uri="{FF2B5EF4-FFF2-40B4-BE49-F238E27FC236}">
                <a16:creationId xmlns:a16="http://schemas.microsoft.com/office/drawing/2014/main" id="{1F119F56-033B-413F-A779-299D7F4613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03474" y="2439919"/>
            <a:ext cx="457115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Box 53">
            <a:extLst>
              <a:ext uri="{FF2B5EF4-FFF2-40B4-BE49-F238E27FC236}">
                <a16:creationId xmlns:a16="http://schemas.microsoft.com/office/drawing/2014/main" id="{AC709149-C661-414A-A949-EACC1ED79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601" y="2287519"/>
            <a:ext cx="3625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23" name="TextBox 54">
            <a:extLst>
              <a:ext uri="{FF2B5EF4-FFF2-40B4-BE49-F238E27FC236}">
                <a16:creationId xmlns:a16="http://schemas.microsoft.com/office/drawing/2014/main" id="{30DC6DDE-ACD0-4E30-B3FF-FE94CA568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588" y="2211319"/>
            <a:ext cx="3657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Q</a:t>
            </a:r>
          </a:p>
        </p:txBody>
      </p:sp>
      <p:sp>
        <p:nvSpPr>
          <p:cNvPr id="24" name="TextBox 61">
            <a:extLst>
              <a:ext uri="{FF2B5EF4-FFF2-40B4-BE49-F238E27FC236}">
                <a16:creationId xmlns:a16="http://schemas.microsoft.com/office/drawing/2014/main" id="{21025EFD-D085-4F04-803E-8FDA36810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6331" y="2997078"/>
            <a:ext cx="3304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E</a:t>
            </a:r>
          </a:p>
        </p:txBody>
      </p:sp>
      <p:sp>
        <p:nvSpPr>
          <p:cNvPr id="25" name="Oval 65">
            <a:extLst>
              <a:ext uri="{FF2B5EF4-FFF2-40B4-BE49-F238E27FC236}">
                <a16:creationId xmlns:a16="http://schemas.microsoft.com/office/drawing/2014/main" id="{784FC23A-BEDC-43C7-A721-AEB6E6A27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207" y="2409757"/>
            <a:ext cx="76186" cy="76200"/>
          </a:xfrm>
          <a:prstGeom prst="ellipse">
            <a:avLst/>
          </a:prstGeom>
          <a:solidFill>
            <a:schemeClr val="tx1"/>
          </a:solidFill>
          <a:ln w="222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Oval 66">
            <a:extLst>
              <a:ext uri="{FF2B5EF4-FFF2-40B4-BE49-F238E27FC236}">
                <a16:creationId xmlns:a16="http://schemas.microsoft.com/office/drawing/2014/main" id="{EA0E188D-A8D8-4D01-95B6-F1E49586A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625" y="2404995"/>
            <a:ext cx="76186" cy="76200"/>
          </a:xfrm>
          <a:prstGeom prst="ellipse">
            <a:avLst/>
          </a:prstGeom>
          <a:solidFill>
            <a:schemeClr val="tx1"/>
          </a:solidFill>
          <a:ln w="222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1223F5-B209-4CB5-9117-EC098DE9B846}"/>
              </a:ext>
            </a:extLst>
          </p:cNvPr>
          <p:cNvCxnSpPr/>
          <p:nvPr/>
        </p:nvCxnSpPr>
        <p:spPr bwMode="auto">
          <a:xfrm>
            <a:off x="1246331" y="2447857"/>
            <a:ext cx="0" cy="208994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888E9D-BE52-4C47-B7CE-E7B448CA5985}"/>
              </a:ext>
            </a:extLst>
          </p:cNvPr>
          <p:cNvCxnSpPr/>
          <p:nvPr/>
        </p:nvCxnSpPr>
        <p:spPr bwMode="auto">
          <a:xfrm>
            <a:off x="1581571" y="2439919"/>
            <a:ext cx="0" cy="208994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C8334C-C52E-4469-8CE7-37D2A41D229C}"/>
              </a:ext>
            </a:extLst>
          </p:cNvPr>
          <p:cNvCxnSpPr/>
          <p:nvPr/>
        </p:nvCxnSpPr>
        <p:spPr bwMode="auto">
          <a:xfrm>
            <a:off x="1246331" y="2656851"/>
            <a:ext cx="330606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2E366A-95CC-40F3-A7A1-BCC2EF7B3801}"/>
              </a:ext>
            </a:extLst>
          </p:cNvPr>
          <p:cNvCxnSpPr/>
          <p:nvPr/>
        </p:nvCxnSpPr>
        <p:spPr bwMode="auto">
          <a:xfrm>
            <a:off x="1246331" y="2744718"/>
            <a:ext cx="330606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134393A-5221-4BFC-8217-315B7FD89123}"/>
              </a:ext>
            </a:extLst>
          </p:cNvPr>
          <p:cNvCxnSpPr>
            <a:cxnSpLocks/>
            <a:endCxn id="24" idx="0"/>
          </p:cNvCxnSpPr>
          <p:nvPr/>
        </p:nvCxnSpPr>
        <p:spPr bwMode="auto">
          <a:xfrm>
            <a:off x="1411570" y="2744718"/>
            <a:ext cx="0" cy="25236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Rectangle 2">
            <a:extLst>
              <a:ext uri="{FF2B5EF4-FFF2-40B4-BE49-F238E27FC236}">
                <a16:creationId xmlns:a16="http://schemas.microsoft.com/office/drawing/2014/main" id="{1D0DE2F5-9529-4B5E-9598-6852A7F195F8}"/>
              </a:ext>
            </a:extLst>
          </p:cNvPr>
          <p:cNvSpPr txBox="1">
            <a:spLocks noChangeArrowheads="1"/>
          </p:cNvSpPr>
          <p:nvPr/>
        </p:nvSpPr>
        <p:spPr>
          <a:xfrm>
            <a:off x="706024" y="312716"/>
            <a:ext cx="79248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 dirty="0"/>
              <a:t>Aside: </a:t>
            </a:r>
            <a:r>
              <a:rPr lang="en-US" altLang="en-US" sz="3200" dirty="0"/>
              <a:t>what is meta-stability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4763F9-0C22-4B02-AFF1-93B331F3941E}"/>
              </a:ext>
            </a:extLst>
          </p:cNvPr>
          <p:cNvGrpSpPr/>
          <p:nvPr/>
        </p:nvGrpSpPr>
        <p:grpSpPr>
          <a:xfrm>
            <a:off x="862695" y="2166300"/>
            <a:ext cx="843186" cy="1420527"/>
            <a:chOff x="902852" y="2372773"/>
            <a:chExt cx="843186" cy="142052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E411483-DF7C-49D7-8704-7791A7494A70}"/>
                </a:ext>
              </a:extLst>
            </p:cNvPr>
            <p:cNvSpPr txBox="1"/>
            <p:nvPr/>
          </p:nvSpPr>
          <p:spPr>
            <a:xfrm>
              <a:off x="1157415" y="3485523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70C0"/>
                  </a:solidFill>
                </a:rPr>
                <a:t>1</a:t>
              </a:r>
              <a:r>
                <a:rPr lang="en-US" sz="1400" dirty="0">
                  <a:solidFill>
                    <a:srgbClr val="0070C0"/>
                  </a:solidFill>
                  <a:sym typeface="Wingdings" panose="05000000000000000000" pitchFamily="2" charset="2"/>
                </a:rPr>
                <a:t>0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9752755-3B7B-4314-A59B-3129B4C070C0}"/>
                </a:ext>
              </a:extLst>
            </p:cNvPr>
            <p:cNvSpPr txBox="1"/>
            <p:nvPr/>
          </p:nvSpPr>
          <p:spPr>
            <a:xfrm>
              <a:off x="902852" y="2372773"/>
              <a:ext cx="588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70C0"/>
                  </a:solidFill>
                </a:rPr>
                <a:t>1</a:t>
              </a:r>
              <a:r>
                <a:rPr lang="en-US" sz="1400" dirty="0">
                  <a:solidFill>
                    <a:srgbClr val="0070C0"/>
                  </a:solidFill>
                  <a:sym typeface="Wingdings" panose="05000000000000000000" pitchFamily="2" charset="2"/>
                </a:rPr>
                <a:t>0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FC2C90D-3FEB-4B34-9B65-0523C1CEBF92}"/>
              </a:ext>
            </a:extLst>
          </p:cNvPr>
          <p:cNvSpPr txBox="1"/>
          <p:nvPr/>
        </p:nvSpPr>
        <p:spPr>
          <a:xfrm>
            <a:off x="1588450" y="1899237"/>
            <a:ext cx="60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VDD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2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CF6330-269E-4BF6-9BBD-DD958B340C9C}"/>
              </a:ext>
            </a:extLst>
          </p:cNvPr>
          <p:cNvCxnSpPr>
            <a:cxnSpLocks/>
            <a:stCxn id="40" idx="1"/>
            <a:endCxn id="40" idx="3"/>
          </p:cNvCxnSpPr>
          <p:nvPr/>
        </p:nvCxnSpPr>
        <p:spPr bwMode="auto">
          <a:xfrm>
            <a:off x="1588450" y="2160847"/>
            <a:ext cx="609485" cy="0"/>
          </a:xfrm>
          <a:prstGeom prst="line">
            <a:avLst/>
          </a:prstGeom>
          <a:noFill/>
          <a:ln w="222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E7D2D7D-C598-42E7-A0C3-9926302D12C5}"/>
              </a:ext>
            </a:extLst>
          </p:cNvPr>
          <p:cNvCxnSpPr/>
          <p:nvPr/>
        </p:nvCxnSpPr>
        <p:spPr bwMode="auto">
          <a:xfrm flipV="1">
            <a:off x="5446243" y="1393727"/>
            <a:ext cx="0" cy="1885323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964AFAE-74F9-4BB2-9DBF-D92A5E6C9FD0}"/>
              </a:ext>
            </a:extLst>
          </p:cNvPr>
          <p:cNvCxnSpPr>
            <a:cxnSpLocks/>
          </p:cNvCxnSpPr>
          <p:nvPr/>
        </p:nvCxnSpPr>
        <p:spPr bwMode="auto">
          <a:xfrm flipV="1">
            <a:off x="5446242" y="3279051"/>
            <a:ext cx="2142770" cy="1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2FCC832-ED1D-4F29-95E7-42740D41D194}"/>
              </a:ext>
            </a:extLst>
          </p:cNvPr>
          <p:cNvSpPr txBox="1"/>
          <p:nvPr/>
        </p:nvSpPr>
        <p:spPr>
          <a:xfrm>
            <a:off x="5674842" y="1443593"/>
            <a:ext cx="2426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V</a:t>
            </a:r>
            <a:r>
              <a:rPr lang="en-US" sz="1600" b="1" baseline="-25000" dirty="0" err="1"/>
              <a:t>out</a:t>
            </a:r>
            <a:r>
              <a:rPr lang="en-US" sz="1600" b="1" dirty="0"/>
              <a:t> vs V</a:t>
            </a:r>
            <a:r>
              <a:rPr lang="en-US" sz="1600" b="1" baseline="-25000" dirty="0"/>
              <a:t>in</a:t>
            </a:r>
            <a:r>
              <a:rPr lang="en-US" sz="1600" b="1" dirty="0"/>
              <a:t> </a:t>
            </a:r>
            <a:r>
              <a:rPr lang="en-US" sz="1600" dirty="0"/>
              <a:t>(inverter)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640D31-6907-4BDA-B5E7-CD3485656DA2}"/>
              </a:ext>
            </a:extLst>
          </p:cNvPr>
          <p:cNvCxnSpPr/>
          <p:nvPr/>
        </p:nvCxnSpPr>
        <p:spPr bwMode="auto">
          <a:xfrm>
            <a:off x="5370043" y="1899237"/>
            <a:ext cx="1524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3E73D65-F1F3-4D69-BA13-3AB27BA9BC62}"/>
              </a:ext>
            </a:extLst>
          </p:cNvPr>
          <p:cNvCxnSpPr/>
          <p:nvPr/>
        </p:nvCxnSpPr>
        <p:spPr bwMode="auto">
          <a:xfrm>
            <a:off x="7122643" y="3201919"/>
            <a:ext cx="0" cy="15240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88EF500-2C11-43BC-9FE8-C714C919BE7F}"/>
              </a:ext>
            </a:extLst>
          </p:cNvPr>
          <p:cNvSpPr txBox="1"/>
          <p:nvPr/>
        </p:nvSpPr>
        <p:spPr>
          <a:xfrm>
            <a:off x="6888188" y="3354319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1.2V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CEA8EC-7014-49C5-9828-D7BC5A3A9210}"/>
              </a:ext>
            </a:extLst>
          </p:cNvPr>
          <p:cNvSpPr txBox="1"/>
          <p:nvPr/>
        </p:nvSpPr>
        <p:spPr>
          <a:xfrm>
            <a:off x="4820298" y="1745347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1.2V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4DE3303-6437-48AA-9B0B-250DAB98ABD7}"/>
              </a:ext>
            </a:extLst>
          </p:cNvPr>
          <p:cNvCxnSpPr/>
          <p:nvPr/>
        </p:nvCxnSpPr>
        <p:spPr bwMode="auto">
          <a:xfrm>
            <a:off x="5446242" y="1899236"/>
            <a:ext cx="457201" cy="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CD4601B-2071-4891-AB39-B3059A426C0A}"/>
              </a:ext>
            </a:extLst>
          </p:cNvPr>
          <p:cNvCxnSpPr/>
          <p:nvPr/>
        </p:nvCxnSpPr>
        <p:spPr bwMode="auto">
          <a:xfrm>
            <a:off x="6665442" y="3257848"/>
            <a:ext cx="457201" cy="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3ED4050-4E90-4D0E-A429-9F56D20C19B7}"/>
              </a:ext>
            </a:extLst>
          </p:cNvPr>
          <p:cNvCxnSpPr/>
          <p:nvPr/>
        </p:nvCxnSpPr>
        <p:spPr bwMode="auto">
          <a:xfrm>
            <a:off x="5370043" y="2564201"/>
            <a:ext cx="1524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056823D-7658-4E64-B3DF-1A876250D759}"/>
              </a:ext>
            </a:extLst>
          </p:cNvPr>
          <p:cNvCxnSpPr>
            <a:cxnSpLocks/>
          </p:cNvCxnSpPr>
          <p:nvPr/>
        </p:nvCxnSpPr>
        <p:spPr bwMode="auto">
          <a:xfrm flipV="1">
            <a:off x="6284443" y="3201918"/>
            <a:ext cx="0" cy="152401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3598F9D5-ECA5-481C-BCFD-71B40129DC4A}"/>
              </a:ext>
            </a:extLst>
          </p:cNvPr>
          <p:cNvSpPr/>
          <p:nvPr/>
        </p:nvSpPr>
        <p:spPr>
          <a:xfrm>
            <a:off x="5897093" y="1899236"/>
            <a:ext cx="768350" cy="1355314"/>
          </a:xfrm>
          <a:custGeom>
            <a:avLst/>
            <a:gdLst>
              <a:gd name="connsiteX0" fmla="*/ 0 w 768350"/>
              <a:gd name="connsiteY0" fmla="*/ 1657 h 1348130"/>
              <a:gd name="connsiteX1" fmla="*/ 203200 w 768350"/>
              <a:gd name="connsiteY1" fmla="*/ 20707 h 1348130"/>
              <a:gd name="connsiteX2" fmla="*/ 304800 w 768350"/>
              <a:gd name="connsiteY2" fmla="*/ 147707 h 1348130"/>
              <a:gd name="connsiteX3" fmla="*/ 406400 w 768350"/>
              <a:gd name="connsiteY3" fmla="*/ 827157 h 1348130"/>
              <a:gd name="connsiteX4" fmla="*/ 463550 w 768350"/>
              <a:gd name="connsiteY4" fmla="*/ 1208157 h 1348130"/>
              <a:gd name="connsiteX5" fmla="*/ 533400 w 768350"/>
              <a:gd name="connsiteY5" fmla="*/ 1303407 h 1348130"/>
              <a:gd name="connsiteX6" fmla="*/ 603250 w 768350"/>
              <a:gd name="connsiteY6" fmla="*/ 1341507 h 1348130"/>
              <a:gd name="connsiteX7" fmla="*/ 768350 w 768350"/>
              <a:gd name="connsiteY7" fmla="*/ 1347857 h 1348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350" h="1348130">
                <a:moveTo>
                  <a:pt x="0" y="1657"/>
                </a:moveTo>
                <a:cubicBezTo>
                  <a:pt x="76200" y="-989"/>
                  <a:pt x="152400" y="-3635"/>
                  <a:pt x="203200" y="20707"/>
                </a:cubicBezTo>
                <a:cubicBezTo>
                  <a:pt x="254000" y="45049"/>
                  <a:pt x="270933" y="13299"/>
                  <a:pt x="304800" y="147707"/>
                </a:cubicBezTo>
                <a:cubicBezTo>
                  <a:pt x="338667" y="282115"/>
                  <a:pt x="379942" y="650415"/>
                  <a:pt x="406400" y="827157"/>
                </a:cubicBezTo>
                <a:cubicBezTo>
                  <a:pt x="432858" y="1003899"/>
                  <a:pt x="442383" y="1128782"/>
                  <a:pt x="463550" y="1208157"/>
                </a:cubicBezTo>
                <a:cubicBezTo>
                  <a:pt x="484717" y="1287532"/>
                  <a:pt x="510117" y="1281182"/>
                  <a:pt x="533400" y="1303407"/>
                </a:cubicBezTo>
                <a:cubicBezTo>
                  <a:pt x="556683" y="1325632"/>
                  <a:pt x="564092" y="1334099"/>
                  <a:pt x="603250" y="1341507"/>
                </a:cubicBezTo>
                <a:cubicBezTo>
                  <a:pt x="642408" y="1348915"/>
                  <a:pt x="705379" y="1348386"/>
                  <a:pt x="768350" y="1347857"/>
                </a:cubicBez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37727A-1379-460F-AA29-31B5D90B6CA5}"/>
              </a:ext>
            </a:extLst>
          </p:cNvPr>
          <p:cNvSpPr txBox="1"/>
          <p:nvPr/>
        </p:nvSpPr>
        <p:spPr>
          <a:xfrm>
            <a:off x="6042260" y="3354319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0.6V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A539AA-A306-4F8B-9CD9-BDA65DAD377B}"/>
              </a:ext>
            </a:extLst>
          </p:cNvPr>
          <p:cNvGrpSpPr/>
          <p:nvPr/>
        </p:nvGrpSpPr>
        <p:grpSpPr>
          <a:xfrm>
            <a:off x="5522443" y="2552354"/>
            <a:ext cx="758826" cy="725764"/>
            <a:chOff x="5562600" y="2758827"/>
            <a:chExt cx="758826" cy="725764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680E2EB-2AC7-4FF6-B63A-9B81DF97916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21425" y="2770674"/>
              <a:ext cx="0" cy="71391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58C3CB9-9D58-42E6-B529-3094403A68D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562600" y="2758827"/>
              <a:ext cx="758826" cy="854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9E0E3B65-59A3-463A-BED9-D75A9F5A22D1}"/>
              </a:ext>
            </a:extLst>
          </p:cNvPr>
          <p:cNvSpPr txBox="1"/>
          <p:nvPr/>
        </p:nvSpPr>
        <p:spPr>
          <a:xfrm>
            <a:off x="4844796" y="2399375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0.6V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640B8D5-4952-4CDD-82F6-054A8D1E7250}"/>
              </a:ext>
            </a:extLst>
          </p:cNvPr>
          <p:cNvSpPr txBox="1"/>
          <p:nvPr/>
        </p:nvSpPr>
        <p:spPr>
          <a:xfrm>
            <a:off x="3049204" y="1873510"/>
            <a:ext cx="60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VDD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2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C51B86E-AF16-4275-9D87-5B6D1171C03B}"/>
              </a:ext>
            </a:extLst>
          </p:cNvPr>
          <p:cNvCxnSpPr>
            <a:cxnSpLocks/>
          </p:cNvCxnSpPr>
          <p:nvPr/>
        </p:nvCxnSpPr>
        <p:spPr bwMode="auto">
          <a:xfrm>
            <a:off x="3049204" y="2133889"/>
            <a:ext cx="609485" cy="0"/>
          </a:xfrm>
          <a:prstGeom prst="line">
            <a:avLst/>
          </a:prstGeom>
          <a:noFill/>
          <a:ln w="222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6E5EC6C-0349-44F3-9936-5C663A1648DB}"/>
              </a:ext>
            </a:extLst>
          </p:cNvPr>
          <p:cNvSpPr txBox="1"/>
          <p:nvPr/>
        </p:nvSpPr>
        <p:spPr>
          <a:xfrm>
            <a:off x="5121923" y="1029772"/>
            <a:ext cx="596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V</a:t>
            </a:r>
            <a:r>
              <a:rPr lang="en-US" sz="1600" b="1" baseline="-25000" dirty="0" err="1"/>
              <a:t>out</a:t>
            </a:r>
            <a:endParaRPr lang="en-US" sz="16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C23DF73-ED2D-422A-BDAC-DBD7815D9127}"/>
              </a:ext>
            </a:extLst>
          </p:cNvPr>
          <p:cNvSpPr txBox="1"/>
          <p:nvPr/>
        </p:nvSpPr>
        <p:spPr>
          <a:xfrm>
            <a:off x="7566532" y="3085273"/>
            <a:ext cx="486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V</a:t>
            </a:r>
            <a:r>
              <a:rPr lang="en-US" sz="1600" b="1" baseline="-25000" dirty="0"/>
              <a:t>in</a:t>
            </a:r>
            <a:endParaRPr lang="en-US" sz="1600" dirty="0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6BE89FE-2B2E-44F7-A965-6C276230F39D}"/>
              </a:ext>
            </a:extLst>
          </p:cNvPr>
          <p:cNvGrpSpPr/>
          <p:nvPr/>
        </p:nvGrpSpPr>
        <p:grpSpPr>
          <a:xfrm>
            <a:off x="221292" y="3778689"/>
            <a:ext cx="3539296" cy="2367691"/>
            <a:chOff x="221292" y="3778689"/>
            <a:chExt cx="3539296" cy="2367691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E6A5C2D-63DF-4E4E-A4BE-8D1A3E7F5EAA}"/>
                </a:ext>
              </a:extLst>
            </p:cNvPr>
            <p:cNvSpPr/>
            <p:nvPr/>
          </p:nvSpPr>
          <p:spPr>
            <a:xfrm>
              <a:off x="1367482" y="4293538"/>
              <a:ext cx="457200" cy="8646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19B8592-93E4-4DD3-97B3-2605A61BED5A}"/>
                </a:ext>
              </a:extLst>
            </p:cNvPr>
            <p:cNvCxnSpPr/>
            <p:nvPr/>
          </p:nvCxnSpPr>
          <p:spPr>
            <a:xfrm flipH="1">
              <a:off x="1443682" y="4920861"/>
              <a:ext cx="152400" cy="2286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470DF95-C8A1-4453-93D8-684C76B9BF3D}"/>
                </a:ext>
              </a:extLst>
            </p:cNvPr>
            <p:cNvCxnSpPr/>
            <p:nvPr/>
          </p:nvCxnSpPr>
          <p:spPr>
            <a:xfrm>
              <a:off x="1596082" y="4920861"/>
              <a:ext cx="152400" cy="2286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F1ED749-946A-4BF6-8D84-B4D6072F517A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>
              <a:off x="1596082" y="5158170"/>
              <a:ext cx="0" cy="304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082F613-471D-44B1-A6BF-0B33B9C9B3A0}"/>
                </a:ext>
              </a:extLst>
            </p:cNvPr>
            <p:cNvSpPr txBox="1"/>
            <p:nvPr/>
          </p:nvSpPr>
          <p:spPr>
            <a:xfrm>
              <a:off x="1060685" y="5172543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clk</a:t>
              </a:r>
              <a:endParaRPr lang="en-US" sz="14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A8D317C-D8C8-44D4-ADA3-1D12E80E52A0}"/>
                </a:ext>
              </a:extLst>
            </p:cNvPr>
            <p:cNvSpPr txBox="1"/>
            <p:nvPr/>
          </p:nvSpPr>
          <p:spPr>
            <a:xfrm>
              <a:off x="221292" y="4379976"/>
              <a:ext cx="10967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asynchSig</a:t>
              </a:r>
              <a:endParaRPr lang="en-US" sz="1400" dirty="0"/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917CF2F9-2ED9-4EF3-8452-779ACC4D5A06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1005018" y="4725853"/>
              <a:ext cx="362464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3811410-33BA-4B42-AA51-E9C07BB7FFCB}"/>
                </a:ext>
              </a:extLst>
            </p:cNvPr>
            <p:cNvSpPr/>
            <p:nvPr/>
          </p:nvSpPr>
          <p:spPr>
            <a:xfrm>
              <a:off x="2742272" y="4293536"/>
              <a:ext cx="457200" cy="8646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A2EE013-1A4E-479A-8314-E7C435A71434}"/>
                </a:ext>
              </a:extLst>
            </p:cNvPr>
            <p:cNvCxnSpPr/>
            <p:nvPr/>
          </p:nvCxnSpPr>
          <p:spPr>
            <a:xfrm flipH="1">
              <a:off x="2818472" y="4920861"/>
              <a:ext cx="152400" cy="2286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876D2CB-7FD4-4389-9763-A77DFB9629D9}"/>
                </a:ext>
              </a:extLst>
            </p:cNvPr>
            <p:cNvCxnSpPr/>
            <p:nvPr/>
          </p:nvCxnSpPr>
          <p:spPr>
            <a:xfrm>
              <a:off x="2970872" y="4920861"/>
              <a:ext cx="152400" cy="2286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963D7BB-CBE6-4944-893D-561E1F6737AB}"/>
                </a:ext>
              </a:extLst>
            </p:cNvPr>
            <p:cNvCxnSpPr>
              <a:cxnSpLocks/>
              <a:stCxn id="95" idx="2"/>
            </p:cNvCxnSpPr>
            <p:nvPr/>
          </p:nvCxnSpPr>
          <p:spPr>
            <a:xfrm>
              <a:off x="2970872" y="5158169"/>
              <a:ext cx="0" cy="3048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6A27A60-93F8-4F8D-B0E2-A698C029B951}"/>
                </a:ext>
              </a:extLst>
            </p:cNvPr>
            <p:cNvSpPr txBox="1"/>
            <p:nvPr/>
          </p:nvSpPr>
          <p:spPr>
            <a:xfrm>
              <a:off x="2498982" y="5176674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clk</a:t>
              </a:r>
              <a:endParaRPr lang="en-US" sz="1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F33899A-F4E6-4A03-8419-493A797DEA29}"/>
                </a:ext>
              </a:extLst>
            </p:cNvPr>
            <p:cNvSpPr txBox="1"/>
            <p:nvPr/>
          </p:nvSpPr>
          <p:spPr>
            <a:xfrm rot="18059542">
              <a:off x="3136088" y="407620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Sig_FF2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C5E80D20-2F68-4E6F-B905-AD279A573035}"/>
                </a:ext>
              </a:extLst>
            </p:cNvPr>
            <p:cNvCxnSpPr>
              <a:cxnSpLocks/>
              <a:stCxn id="88" idx="3"/>
              <a:endCxn id="95" idx="1"/>
            </p:cNvCxnSpPr>
            <p:nvPr/>
          </p:nvCxnSpPr>
          <p:spPr>
            <a:xfrm flipV="1">
              <a:off x="1824682" y="4725853"/>
              <a:ext cx="91759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16228D-9248-4588-B104-B839720DE346}"/>
                </a:ext>
              </a:extLst>
            </p:cNvPr>
            <p:cNvSpPr txBox="1"/>
            <p:nvPr/>
          </p:nvSpPr>
          <p:spPr>
            <a:xfrm rot="18117135">
              <a:off x="1832072" y="4139647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Sig_FF1</a:t>
              </a:r>
            </a:p>
          </p:txBody>
        </p: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85B03EC5-D026-499B-BE42-8C6CB0DC74CC}"/>
                </a:ext>
              </a:extLst>
            </p:cNvPr>
            <p:cNvCxnSpPr>
              <a:cxnSpLocks/>
            </p:cNvCxnSpPr>
            <p:nvPr/>
          </p:nvCxnSpPr>
          <p:spPr>
            <a:xfrm>
              <a:off x="3225728" y="4662870"/>
              <a:ext cx="53486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236A8DB1-A006-4857-A9D2-6B9B0CB747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75807" y="6127750"/>
              <a:ext cx="294312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22F8908-E53F-49B0-8069-91BDC6310D2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570119" y="5785493"/>
              <a:ext cx="77106" cy="33655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5D34214-5585-4126-950D-360FB44A1E9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647225" y="5785493"/>
              <a:ext cx="603396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4C9FA55-496C-4FA5-A59B-8C85083CDFB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50621" y="5785493"/>
              <a:ext cx="65711" cy="33655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2DA1AD2-AD71-49A3-8458-6FD2495EDE9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16332" y="6107457"/>
              <a:ext cx="615782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7D12118-F8F7-4B8C-ABA2-7E335D352C0C}"/>
                </a:ext>
              </a:extLst>
            </p:cNvPr>
            <p:cNvCxnSpPr/>
            <p:nvPr/>
          </p:nvCxnSpPr>
          <p:spPr bwMode="auto">
            <a:xfrm flipV="1">
              <a:off x="2933020" y="5766996"/>
              <a:ext cx="65711" cy="33655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B89C6301-D5C8-41D6-A27A-E234C71702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98731" y="5766996"/>
              <a:ext cx="294312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42C8502-F047-499B-B165-0A39DAA4255A}"/>
                </a:ext>
              </a:extLst>
            </p:cNvPr>
            <p:cNvSpPr txBox="1"/>
            <p:nvPr/>
          </p:nvSpPr>
          <p:spPr>
            <a:xfrm>
              <a:off x="855718" y="5838603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clk</a:t>
              </a:r>
              <a:endParaRPr lang="en-US" sz="1400" dirty="0"/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17E562AF-C2CA-41B9-9BA6-C16DB91D139F}"/>
              </a:ext>
            </a:extLst>
          </p:cNvPr>
          <p:cNvSpPr txBox="1"/>
          <p:nvPr/>
        </p:nvSpPr>
        <p:spPr>
          <a:xfrm>
            <a:off x="4209972" y="4017907"/>
            <a:ext cx="45746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Yes…the first flop can go meta-stable, but can is stay in that state for a whole clock period?</a:t>
            </a:r>
          </a:p>
          <a:p>
            <a:endParaRPr lang="en-US" dirty="0"/>
          </a:p>
          <a:p>
            <a:r>
              <a:rPr lang="en-US" dirty="0"/>
              <a:t>Yes, and a meteor could crash through the roof and kill us all.</a:t>
            </a:r>
          </a:p>
          <a:p>
            <a:endParaRPr lang="en-US" dirty="0"/>
          </a:p>
          <a:p>
            <a:r>
              <a:rPr lang="en-US" b="1" dirty="0"/>
              <a:t>Take away: </a:t>
            </a:r>
            <a:r>
              <a:rPr lang="en-US" dirty="0"/>
              <a:t>Always double flop </a:t>
            </a:r>
            <a:r>
              <a:rPr lang="en-US" dirty="0" err="1"/>
              <a:t>asynch</a:t>
            </a:r>
            <a:r>
              <a:rPr lang="en-US" dirty="0"/>
              <a:t> signals before “using” them</a:t>
            </a:r>
          </a:p>
        </p:txBody>
      </p:sp>
    </p:spTree>
    <p:extLst>
      <p:ext uri="{BB962C8B-B14F-4D97-AF65-F5344CB8AC3E}">
        <p14:creationId xmlns:p14="http://schemas.microsoft.com/office/powerpoint/2010/main" val="386560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3" grpId="0"/>
      <p:bldP spid="58" grpId="0"/>
      <p:bldP spid="59" grpId="0"/>
      <p:bldP spid="72" grpId="0" animBg="1"/>
      <p:bldP spid="73" grpId="0"/>
      <p:bldP spid="83" grpId="0"/>
      <p:bldP spid="84" grpId="0"/>
      <p:bldP spid="86" grpId="0"/>
      <p:bldP spid="87" grpId="0"/>
      <p:bldP spid="1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5867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Numbers in Verilog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389437"/>
          </a:xfrm>
        </p:spPr>
        <p:txBody>
          <a:bodyPr/>
          <a:lstStyle/>
          <a:p>
            <a:pPr eaLnBrk="1" hangingPunct="1"/>
            <a:r>
              <a:rPr lang="en-US" altLang="en-US" dirty="0"/>
              <a:t>General format is: &lt;size&gt;’&lt;base&gt;&lt;number&gt;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dirty="0"/>
              <a:t>Examples:</a:t>
            </a:r>
          </a:p>
          <a:p>
            <a:pPr lvl="1" eaLnBrk="1" hangingPunct="1"/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4’b1101</a:t>
            </a:r>
            <a:r>
              <a:rPr lang="en-US" altLang="en-US" dirty="0"/>
              <a:t>	// this is a 4-bit binary number equal to 13</a:t>
            </a:r>
          </a:p>
          <a:p>
            <a:pPr lvl="1" eaLnBrk="1" hangingPunct="1"/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10’h2e7</a:t>
            </a:r>
            <a:r>
              <a:rPr lang="en-US" altLang="en-US" dirty="0"/>
              <a:t>	// this is a 10-bit wide number specified in hex</a:t>
            </a:r>
          </a:p>
          <a:p>
            <a:pPr lvl="1" eaLnBrk="1" hangingPunct="1"/>
            <a:endParaRPr lang="en-US" altLang="en-US" sz="2000" dirty="0"/>
          </a:p>
          <a:p>
            <a:pPr eaLnBrk="1" hangingPunct="1"/>
            <a:r>
              <a:rPr lang="en-US" altLang="en-US" dirty="0"/>
              <a:t>Available bases:</a:t>
            </a:r>
          </a:p>
          <a:p>
            <a:pPr lvl="1" eaLnBrk="1" hangingPunct="1"/>
            <a:r>
              <a:rPr lang="en-US" altLang="en-US" dirty="0"/>
              <a:t>d = decimal (please only use in test benches)</a:t>
            </a:r>
          </a:p>
          <a:p>
            <a:pPr lvl="1" eaLnBrk="1" hangingPunct="1"/>
            <a:r>
              <a:rPr lang="en-US" altLang="en-US" dirty="0"/>
              <a:t>h = hex (use this frequently)</a:t>
            </a:r>
          </a:p>
          <a:p>
            <a:pPr lvl="1" eaLnBrk="1" hangingPunct="1"/>
            <a:r>
              <a:rPr lang="en-US" altLang="en-US" dirty="0"/>
              <a:t>b = binary (use this frequently for smaller #’s)</a:t>
            </a:r>
          </a:p>
          <a:p>
            <a:pPr lvl="1" eaLnBrk="1" hangingPunct="1"/>
            <a:r>
              <a:rPr lang="en-US" altLang="en-US" dirty="0"/>
              <a:t>o = octal (who thinks in octal?, please avoid)</a:t>
            </a:r>
          </a:p>
        </p:txBody>
      </p:sp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CBA6FC-348F-426B-A420-7CA6C1B34E64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6172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Numbers in Verilog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Numbers can have x or z characters as values</a:t>
            </a:r>
          </a:p>
          <a:p>
            <a:pPr lvl="1" eaLnBrk="1" hangingPunct="1"/>
            <a:r>
              <a:rPr lang="en-US" altLang="en-US" sz="2000" dirty="0">
                <a:latin typeface="Tahoma" panose="020B0604030504040204" pitchFamily="34" charset="0"/>
              </a:rPr>
              <a:t>x</a:t>
            </a:r>
            <a:r>
              <a:rPr lang="en-US" altLang="en-US" sz="2000" dirty="0"/>
              <a:t> = unknown, </a:t>
            </a:r>
            <a:r>
              <a:rPr lang="en-US" altLang="en-US" sz="2000" dirty="0">
                <a:latin typeface="Tahoma" panose="020B0604030504040204" pitchFamily="34" charset="0"/>
              </a:rPr>
              <a:t>z</a:t>
            </a:r>
            <a:r>
              <a:rPr lang="en-US" altLang="en-US" sz="2000" dirty="0"/>
              <a:t> = High Impedance</a:t>
            </a:r>
          </a:p>
          <a:p>
            <a:pPr lvl="1" eaLnBrk="1" hangingPunct="1"/>
            <a:r>
              <a:rPr lang="en-US" altLang="en-US" sz="2000" dirty="0">
                <a:latin typeface="Tahoma" panose="020B0604030504040204" pitchFamily="34" charset="0"/>
              </a:rPr>
              <a:t>12’h13x</a:t>
            </a:r>
            <a:r>
              <a:rPr lang="en-US" altLang="en-US" sz="2000" dirty="0"/>
              <a:t>	  // 12-bit number with lower 4-bits unknown</a:t>
            </a:r>
          </a:p>
          <a:p>
            <a:pPr lvl="1" eaLnBrk="1" hangingPunct="1"/>
            <a:endParaRPr lang="en-US" altLang="en-US" sz="2000" dirty="0"/>
          </a:p>
          <a:p>
            <a:pPr eaLnBrk="1" hangingPunct="1"/>
            <a:r>
              <a:rPr lang="en-US" altLang="en-US" sz="2400" dirty="0"/>
              <a:t>If size is not specified then it depends on simulator/machine.</a:t>
            </a:r>
          </a:p>
          <a:p>
            <a:pPr lvl="1" eaLnBrk="1" hangingPunct="1"/>
            <a:r>
              <a:rPr lang="en-US" altLang="en-US" sz="2000" dirty="0"/>
              <a:t>Always size the number for the DUT </a:t>
            </a:r>
            <a:r>
              <a:rPr lang="en-US" altLang="en-US" sz="2000" dirty="0" err="1"/>
              <a:t>verilog</a:t>
            </a:r>
            <a:endParaRPr lang="en-US" altLang="en-US" sz="2000" dirty="0"/>
          </a:p>
          <a:p>
            <a:pPr lvl="2" eaLnBrk="1" hangingPunct="1"/>
            <a:r>
              <a:rPr lang="en-US" altLang="en-US" sz="1800" dirty="0"/>
              <a:t>Why create 32-bit register if you only need 5 bits?</a:t>
            </a:r>
          </a:p>
          <a:p>
            <a:pPr lvl="2" eaLnBrk="1" hangingPunct="1"/>
            <a:r>
              <a:rPr lang="en-US" altLang="en-US" sz="1800" dirty="0"/>
              <a:t>May cause compilation errors on some compilers</a:t>
            </a:r>
          </a:p>
          <a:p>
            <a:pPr lvl="2" eaLnBrk="1" hangingPunct="1"/>
            <a:endParaRPr lang="en-US" altLang="en-US" sz="1800" dirty="0"/>
          </a:p>
          <a:p>
            <a:pPr eaLnBrk="1" hangingPunct="1"/>
            <a:r>
              <a:rPr lang="en-US" altLang="en-US" sz="2400" dirty="0"/>
              <a:t>Supports negative numbers as well</a:t>
            </a:r>
          </a:p>
          <a:p>
            <a:pPr lvl="1" eaLnBrk="1" hangingPunct="1"/>
            <a:r>
              <a:rPr lang="en-US" altLang="en-US" sz="2000" dirty="0">
                <a:latin typeface="Tahoma" panose="020B0604030504040204" pitchFamily="34" charset="0"/>
              </a:rPr>
              <a:t>-16’h3A</a:t>
            </a:r>
            <a:r>
              <a:rPr lang="en-US" altLang="en-US" sz="2000" dirty="0"/>
              <a:t>	// this would be -3A in hex (i.e. FFC6 in 2’s complement)</a:t>
            </a:r>
          </a:p>
          <a:p>
            <a:pPr lvl="1" eaLnBrk="1" hangingPunct="1"/>
            <a:r>
              <a:rPr lang="en-US" altLang="en-US" sz="2000" dirty="0"/>
              <a:t>I rarely if ever use this.  I prefer to work 2’s complement directly</a:t>
            </a:r>
          </a:p>
          <a:p>
            <a:pPr lvl="1" eaLnBrk="1" hangingPunct="1"/>
            <a:endParaRPr lang="en-US" altLang="en-US" sz="2000" dirty="0"/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AE9A297-BE0E-4ED4-A5AB-EEE41E13DC26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382000" cy="1139825"/>
          </a:xfrm>
        </p:spPr>
        <p:txBody>
          <a:bodyPr/>
          <a:lstStyle/>
          <a:p>
            <a:pPr eaLnBrk="1" hangingPunct="1"/>
            <a:r>
              <a:rPr lang="en-US" altLang="en-US"/>
              <a:t>Identifiers (Signal Names)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609600"/>
          </a:xfrm>
        </p:spPr>
        <p:txBody>
          <a:bodyPr/>
          <a:lstStyle/>
          <a:p>
            <a:pPr eaLnBrk="1" hangingPunct="1"/>
            <a:r>
              <a:rPr lang="en-US" altLang="en-US"/>
              <a:t>Identifiers are the names you choose for your signals</a:t>
            </a:r>
          </a:p>
          <a:p>
            <a:pPr lvl="2"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C28EB69-E771-43E8-AA72-E2983E5EB00C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194564" name="Rectangle 4"/>
          <p:cNvSpPr>
            <a:spLocks noChangeArrowheads="1"/>
          </p:cNvSpPr>
          <p:nvPr/>
        </p:nvSpPr>
        <p:spPr bwMode="auto">
          <a:xfrm>
            <a:off x="457200" y="2133600"/>
            <a:ext cx="8229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457200" indent="-457200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</a:rPr>
              <a:t>In a programming language you should choose descriptive variable names.  In a HDL you should choose descriptive signal names.</a:t>
            </a:r>
          </a:p>
        </p:txBody>
      </p:sp>
      <p:sp>
        <p:nvSpPr>
          <p:cNvPr id="194565" name="Rectangle 5"/>
          <p:cNvSpPr>
            <a:spLocks noChangeArrowheads="1"/>
          </p:cNvSpPr>
          <p:nvPr/>
        </p:nvSpPr>
        <p:spPr bwMode="auto">
          <a:xfrm>
            <a:off x="304800" y="3352800"/>
            <a:ext cx="8229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Use mixed case and/or _ to delimit descriptive names.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ü"/>
            </a:pPr>
            <a:r>
              <a:rPr lang="en-US" altLang="en-US" sz="2000">
                <a:latin typeface="Tahoma" panose="020B0604030504040204" pitchFamily="34" charset="0"/>
              </a:rPr>
              <a:t>assign parityErr = ^serial_reg;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ü"/>
            </a:pPr>
            <a:r>
              <a:rPr lang="en-US" altLang="en-US" sz="2000">
                <a:latin typeface="Tahoma" panose="020B0604030504040204" pitchFamily="34" charset="0"/>
              </a:rPr>
              <a:t>nxtState = returnRegister;</a:t>
            </a:r>
          </a:p>
        </p:txBody>
      </p:sp>
      <p:sp>
        <p:nvSpPr>
          <p:cNvPr id="194566" name="Rectangle 6"/>
          <p:cNvSpPr>
            <a:spLocks noChangeArrowheads="1"/>
          </p:cNvSpPr>
          <p:nvPr/>
        </p:nvSpPr>
        <p:spPr bwMode="auto">
          <a:xfrm>
            <a:off x="304800" y="44958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Have a convention for signals that are active low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ü"/>
            </a:pPr>
            <a:r>
              <a:rPr lang="en-US" altLang="en-US" sz="2000">
                <a:latin typeface="Times New Roman" panose="02020603050405020304" pitchFamily="18" charset="0"/>
              </a:rPr>
              <a:t>Many errors occur on the interface between blocks written by 2 different people.  One assumed a signal was active low, and the other assumed it was active high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4567" name="Rectangle 7"/>
          <p:cNvSpPr>
            <a:spLocks noChangeArrowheads="1"/>
          </p:cNvSpPr>
          <p:nvPr/>
        </p:nvSpPr>
        <p:spPr bwMode="auto">
          <a:xfrm>
            <a:off x="304800" y="57150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ü"/>
            </a:pPr>
            <a:r>
              <a:rPr lang="en-US" altLang="en-US" sz="2000">
                <a:latin typeface="Times New Roman" panose="02020603050405020304" pitchFamily="18" charset="0"/>
              </a:rPr>
              <a:t>I use </a:t>
            </a:r>
            <a:r>
              <a:rPr lang="en-US" altLang="en-US" sz="2000" b="1">
                <a:latin typeface="Tahoma" panose="020B0604030504040204" pitchFamily="34" charset="0"/>
              </a:rPr>
              <a:t>_n</a:t>
            </a:r>
            <a:r>
              <a:rPr lang="en-US" altLang="en-US" sz="2000">
                <a:latin typeface="Times New Roman" panose="02020603050405020304" pitchFamily="18" charset="0"/>
              </a:rPr>
              <a:t> at the end of a signal to indicate active low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ü"/>
            </a:pPr>
            <a:r>
              <a:rPr lang="en-US" altLang="en-US" sz="2000">
                <a:latin typeface="Tahoma" panose="020B0604030504040204" pitchFamily="34" charset="0"/>
              </a:rPr>
              <a:t>rst_n 	= 1’b0		// assert reset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ü"/>
            </a:pPr>
            <a:endParaRPr lang="en-US" altLang="en-US" sz="20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/>
      <p:bldP spid="194565" grpId="0"/>
      <p:bldP spid="194566" grpId="0"/>
      <p:bldP spid="1945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 dirty="0"/>
              <a:t>Signal Values &amp; Strength in Verilog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502150" cy="4953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Signals can have 1 of 4 values</a:t>
            </a:r>
          </a:p>
          <a:p>
            <a:pPr lvl="1" eaLnBrk="1" hangingPunct="1">
              <a:buFontTx/>
              <a:buNone/>
            </a:pPr>
            <a:endParaRPr lang="en-US" altLang="en-US" sz="2000" dirty="0"/>
          </a:p>
        </p:txBody>
      </p:sp>
      <p:graphicFrame>
        <p:nvGraphicFramePr>
          <p:cNvPr id="195615" name="Group 31"/>
          <p:cNvGraphicFramePr>
            <a:graphicFrameLocks noGrp="1"/>
          </p:cNvGraphicFramePr>
          <p:nvPr>
            <p:ph sz="half" idx="2"/>
          </p:nvPr>
        </p:nvGraphicFramePr>
        <p:xfrm>
          <a:off x="2362200" y="2133600"/>
          <a:ext cx="4953000" cy="180975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Value: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Meaning: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Logic zero, false condition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Logic one, true condition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Unknown, either uninitialized or in contention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High impedance.  Not driven, or not connected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2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1328640-FBB0-46A3-83AD-1C5A60480154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304800" y="2667000"/>
            <a:ext cx="3581400" cy="3886200"/>
            <a:chOff x="192" y="1680"/>
            <a:chExt cx="2256" cy="2448"/>
          </a:xfrm>
        </p:grpSpPr>
        <p:sp>
          <p:nvSpPr>
            <p:cNvPr id="11302" name="Text Box 61"/>
            <p:cNvSpPr txBox="1">
              <a:spLocks noChangeArrowheads="1"/>
            </p:cNvSpPr>
            <p:nvPr/>
          </p:nvSpPr>
          <p:spPr bwMode="auto">
            <a:xfrm>
              <a:off x="192" y="1680"/>
              <a:ext cx="970" cy="8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Need high impedance for modeling of tri-state</a:t>
              </a:r>
            </a:p>
            <a:p>
              <a:pPr eaLnBrk="1" hangingPunct="1"/>
              <a:r>
                <a:rPr lang="en-US" altLang="en-US" sz="1600"/>
                <a:t>busses</a:t>
              </a:r>
            </a:p>
          </p:txBody>
        </p:sp>
        <p:grpSp>
          <p:nvGrpSpPr>
            <p:cNvPr id="11303" name="Group 63"/>
            <p:cNvGrpSpPr>
              <a:grpSpLocks/>
            </p:cNvGrpSpPr>
            <p:nvPr/>
          </p:nvGrpSpPr>
          <p:grpSpPr bwMode="auto">
            <a:xfrm>
              <a:off x="192" y="2544"/>
              <a:ext cx="2256" cy="1584"/>
              <a:chOff x="192" y="2544"/>
              <a:chExt cx="2256" cy="1584"/>
            </a:xfrm>
          </p:grpSpPr>
          <p:sp>
            <p:nvSpPr>
              <p:cNvPr id="11304" name="Line 32"/>
              <p:cNvSpPr>
                <a:spLocks noChangeShapeType="1"/>
              </p:cNvSpPr>
              <p:nvPr/>
            </p:nvSpPr>
            <p:spPr bwMode="auto">
              <a:xfrm flipH="1" flipV="1">
                <a:off x="1008" y="2784"/>
                <a:ext cx="336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5" name="Line 33"/>
              <p:cNvSpPr>
                <a:spLocks noChangeShapeType="1"/>
              </p:cNvSpPr>
              <p:nvPr/>
            </p:nvSpPr>
            <p:spPr bwMode="auto">
              <a:xfrm flipH="1">
                <a:off x="1008" y="2976"/>
                <a:ext cx="336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6" name="Line 34"/>
              <p:cNvSpPr>
                <a:spLocks noChangeShapeType="1"/>
              </p:cNvSpPr>
              <p:nvPr/>
            </p:nvSpPr>
            <p:spPr bwMode="auto">
              <a:xfrm flipV="1">
                <a:off x="1200" y="2736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7" name="Line 35"/>
              <p:cNvSpPr>
                <a:spLocks noChangeShapeType="1"/>
              </p:cNvSpPr>
              <p:nvPr/>
            </p:nvSpPr>
            <p:spPr bwMode="auto">
              <a:xfrm flipV="1">
                <a:off x="1008" y="2784"/>
                <a:ext cx="0" cy="3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8" name="Line 36"/>
              <p:cNvSpPr>
                <a:spLocks noChangeShapeType="1"/>
              </p:cNvSpPr>
              <p:nvPr/>
            </p:nvSpPr>
            <p:spPr bwMode="auto">
              <a:xfrm flipH="1">
                <a:off x="768" y="2976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9" name="Line 37"/>
              <p:cNvSpPr>
                <a:spLocks noChangeShapeType="1"/>
              </p:cNvSpPr>
              <p:nvPr/>
            </p:nvSpPr>
            <p:spPr bwMode="auto">
              <a:xfrm>
                <a:off x="1344" y="2976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0" name="Line 38"/>
              <p:cNvSpPr>
                <a:spLocks noChangeShapeType="1"/>
              </p:cNvSpPr>
              <p:nvPr/>
            </p:nvSpPr>
            <p:spPr bwMode="auto">
              <a:xfrm flipH="1">
                <a:off x="1440" y="2928"/>
                <a:ext cx="48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1" name="Text Box 39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5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16</a:t>
                </a:r>
              </a:p>
            </p:txBody>
          </p:sp>
          <p:sp>
            <p:nvSpPr>
              <p:cNvPr id="11312" name="Text Box 40"/>
              <p:cNvSpPr txBox="1">
                <a:spLocks noChangeArrowheads="1"/>
              </p:cNvSpPr>
              <p:nvPr/>
            </p:nvSpPr>
            <p:spPr bwMode="auto">
              <a:xfrm>
                <a:off x="720" y="3024"/>
                <a:ext cx="25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16</a:t>
                </a:r>
              </a:p>
            </p:txBody>
          </p:sp>
          <p:sp>
            <p:nvSpPr>
              <p:cNvPr id="11313" name="Line 41"/>
              <p:cNvSpPr>
                <a:spLocks noChangeShapeType="1"/>
              </p:cNvSpPr>
              <p:nvPr/>
            </p:nvSpPr>
            <p:spPr bwMode="auto">
              <a:xfrm flipH="1">
                <a:off x="864" y="2928"/>
                <a:ext cx="48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4" name="Rectangle 42"/>
              <p:cNvSpPr>
                <a:spLocks noChangeArrowheads="1"/>
              </p:cNvSpPr>
              <p:nvPr/>
            </p:nvSpPr>
            <p:spPr bwMode="auto">
              <a:xfrm>
                <a:off x="192" y="2688"/>
                <a:ext cx="576" cy="576"/>
              </a:xfrm>
              <a:prstGeom prst="rect">
                <a:avLst/>
              </a:prstGeom>
              <a:solidFill>
                <a:srgbClr val="6969FF">
                  <a:alpha val="49019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EEPROM</a:t>
                </a:r>
              </a:p>
            </p:txBody>
          </p:sp>
          <p:sp>
            <p:nvSpPr>
              <p:cNvPr id="11315" name="Rectangle 44"/>
              <p:cNvSpPr>
                <a:spLocks noChangeArrowheads="1"/>
              </p:cNvSpPr>
              <p:nvPr/>
            </p:nvSpPr>
            <p:spPr bwMode="auto">
              <a:xfrm>
                <a:off x="192" y="3552"/>
                <a:ext cx="576" cy="576"/>
              </a:xfrm>
              <a:prstGeom prst="rect">
                <a:avLst/>
              </a:prstGeom>
              <a:solidFill>
                <a:srgbClr val="339966">
                  <a:alpha val="49019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RAM</a:t>
                </a:r>
              </a:p>
            </p:txBody>
          </p:sp>
          <p:sp>
            <p:nvSpPr>
              <p:cNvPr id="11316" name="Line 45"/>
              <p:cNvSpPr>
                <a:spLocks noChangeShapeType="1"/>
              </p:cNvSpPr>
              <p:nvPr/>
            </p:nvSpPr>
            <p:spPr bwMode="auto">
              <a:xfrm>
                <a:off x="1680" y="2976"/>
                <a:ext cx="0" cy="86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7" name="Line 46"/>
              <p:cNvSpPr>
                <a:spLocks noChangeShapeType="1"/>
              </p:cNvSpPr>
              <p:nvPr/>
            </p:nvSpPr>
            <p:spPr bwMode="auto">
              <a:xfrm flipH="1" flipV="1">
                <a:off x="1008" y="3648"/>
                <a:ext cx="336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8" name="Line 47"/>
              <p:cNvSpPr>
                <a:spLocks noChangeShapeType="1"/>
              </p:cNvSpPr>
              <p:nvPr/>
            </p:nvSpPr>
            <p:spPr bwMode="auto">
              <a:xfrm flipH="1">
                <a:off x="1008" y="3840"/>
                <a:ext cx="336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9" name="Line 48"/>
              <p:cNvSpPr>
                <a:spLocks noChangeShapeType="1"/>
              </p:cNvSpPr>
              <p:nvPr/>
            </p:nvSpPr>
            <p:spPr bwMode="auto">
              <a:xfrm flipV="1">
                <a:off x="1200" y="3600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0" name="Line 49"/>
              <p:cNvSpPr>
                <a:spLocks noChangeShapeType="1"/>
              </p:cNvSpPr>
              <p:nvPr/>
            </p:nvSpPr>
            <p:spPr bwMode="auto">
              <a:xfrm flipV="1">
                <a:off x="1008" y="3648"/>
                <a:ext cx="0" cy="3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1" name="Line 50"/>
              <p:cNvSpPr>
                <a:spLocks noChangeShapeType="1"/>
              </p:cNvSpPr>
              <p:nvPr/>
            </p:nvSpPr>
            <p:spPr bwMode="auto">
              <a:xfrm flipH="1">
                <a:off x="768" y="384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2" name="Line 51"/>
              <p:cNvSpPr>
                <a:spLocks noChangeShapeType="1"/>
              </p:cNvSpPr>
              <p:nvPr/>
            </p:nvSpPr>
            <p:spPr bwMode="auto">
              <a:xfrm>
                <a:off x="1344" y="3840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3" name="Line 52"/>
              <p:cNvSpPr>
                <a:spLocks noChangeShapeType="1"/>
              </p:cNvSpPr>
              <p:nvPr/>
            </p:nvSpPr>
            <p:spPr bwMode="auto">
              <a:xfrm flipH="1">
                <a:off x="1440" y="3792"/>
                <a:ext cx="48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4" name="Text Box 53"/>
              <p:cNvSpPr txBox="1">
                <a:spLocks noChangeArrowheads="1"/>
              </p:cNvSpPr>
              <p:nvPr/>
            </p:nvSpPr>
            <p:spPr bwMode="auto">
              <a:xfrm>
                <a:off x="1296" y="3888"/>
                <a:ext cx="25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16</a:t>
                </a:r>
              </a:p>
            </p:txBody>
          </p:sp>
          <p:sp>
            <p:nvSpPr>
              <p:cNvPr id="11325" name="Text Box 54"/>
              <p:cNvSpPr txBox="1">
                <a:spLocks noChangeArrowheads="1"/>
              </p:cNvSpPr>
              <p:nvPr/>
            </p:nvSpPr>
            <p:spPr bwMode="auto">
              <a:xfrm>
                <a:off x="720" y="3888"/>
                <a:ext cx="25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16</a:t>
                </a:r>
              </a:p>
            </p:txBody>
          </p:sp>
          <p:sp>
            <p:nvSpPr>
              <p:cNvPr id="11326" name="Line 55"/>
              <p:cNvSpPr>
                <a:spLocks noChangeShapeType="1"/>
              </p:cNvSpPr>
              <p:nvPr/>
            </p:nvSpPr>
            <p:spPr bwMode="auto">
              <a:xfrm flipH="1">
                <a:off x="864" y="3792"/>
                <a:ext cx="48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7" name="Text Box 56"/>
              <p:cNvSpPr txBox="1">
                <a:spLocks noChangeArrowheads="1"/>
              </p:cNvSpPr>
              <p:nvPr/>
            </p:nvSpPr>
            <p:spPr bwMode="auto">
              <a:xfrm>
                <a:off x="912" y="3408"/>
                <a:ext cx="58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/>
                  <a:t>rd_ram</a:t>
                </a:r>
              </a:p>
            </p:txBody>
          </p:sp>
          <p:sp>
            <p:nvSpPr>
              <p:cNvPr id="11328" name="Text Box 57"/>
              <p:cNvSpPr txBox="1">
                <a:spLocks noChangeArrowheads="1"/>
              </p:cNvSpPr>
              <p:nvPr/>
            </p:nvSpPr>
            <p:spPr bwMode="auto">
              <a:xfrm>
                <a:off x="960" y="2544"/>
                <a:ext cx="56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/>
                  <a:t>rd_eep</a:t>
                </a:r>
              </a:p>
            </p:txBody>
          </p:sp>
          <p:sp>
            <p:nvSpPr>
              <p:cNvPr id="11329" name="Line 58"/>
              <p:cNvSpPr>
                <a:spLocks noChangeShapeType="1"/>
              </p:cNvSpPr>
              <p:nvPr/>
            </p:nvSpPr>
            <p:spPr bwMode="auto">
              <a:xfrm>
                <a:off x="1680" y="3408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30" name="Rectangle 59"/>
              <p:cNvSpPr>
                <a:spLocks noChangeArrowheads="1"/>
              </p:cNvSpPr>
              <p:nvPr/>
            </p:nvSpPr>
            <p:spPr bwMode="auto">
              <a:xfrm>
                <a:off x="1872" y="3120"/>
                <a:ext cx="576" cy="576"/>
              </a:xfrm>
              <a:prstGeom prst="rect">
                <a:avLst/>
              </a:prstGeom>
              <a:solidFill>
                <a:srgbClr val="6969FF">
                  <a:alpha val="49019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CPU</a:t>
                </a:r>
              </a:p>
            </p:txBody>
          </p:sp>
          <p:sp>
            <p:nvSpPr>
              <p:cNvPr id="11331" name="Oval 60"/>
              <p:cNvSpPr>
                <a:spLocks noChangeArrowheads="1"/>
              </p:cNvSpPr>
              <p:nvPr/>
            </p:nvSpPr>
            <p:spPr bwMode="auto">
              <a:xfrm>
                <a:off x="1632" y="3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32" name="Text Box 62"/>
              <p:cNvSpPr txBox="1">
                <a:spLocks noChangeArrowheads="1"/>
              </p:cNvSpPr>
              <p:nvPr/>
            </p:nvSpPr>
            <p:spPr bwMode="auto">
              <a:xfrm rot="-5400000">
                <a:off x="1208" y="3304"/>
                <a:ext cx="75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/>
                  <a:t>dbus[15:0]</a:t>
                </a:r>
              </a:p>
            </p:txBody>
          </p:sp>
        </p:grpSp>
      </p:grp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4708525" y="4114800"/>
            <a:ext cx="3536950" cy="1465263"/>
            <a:chOff x="2966" y="2592"/>
            <a:chExt cx="2228" cy="923"/>
          </a:xfrm>
        </p:grpSpPr>
        <p:sp>
          <p:nvSpPr>
            <p:cNvPr id="11292" name="Rectangle 65"/>
            <p:cNvSpPr>
              <a:spLocks noChangeArrowheads="1"/>
            </p:cNvSpPr>
            <p:nvPr/>
          </p:nvSpPr>
          <p:spPr bwMode="auto">
            <a:xfrm>
              <a:off x="3264" y="2640"/>
              <a:ext cx="288" cy="576"/>
            </a:xfrm>
            <a:prstGeom prst="rect">
              <a:avLst/>
            </a:prstGeom>
            <a:solidFill>
              <a:srgbClr val="6969FF">
                <a:alpha val="16078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93" name="Line 66"/>
            <p:cNvSpPr>
              <a:spLocks noChangeShapeType="1"/>
            </p:cNvSpPr>
            <p:nvPr/>
          </p:nvSpPr>
          <p:spPr bwMode="auto">
            <a:xfrm flipH="1">
              <a:off x="3360" y="3072"/>
              <a:ext cx="4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" name="Line 67"/>
            <p:cNvSpPr>
              <a:spLocks noChangeShapeType="1"/>
            </p:cNvSpPr>
            <p:nvPr/>
          </p:nvSpPr>
          <p:spPr bwMode="auto">
            <a:xfrm flipH="1" flipV="1">
              <a:off x="3408" y="3072"/>
              <a:ext cx="4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" name="Line 68"/>
            <p:cNvSpPr>
              <a:spLocks noChangeShapeType="1"/>
            </p:cNvSpPr>
            <p:nvPr/>
          </p:nvSpPr>
          <p:spPr bwMode="auto">
            <a:xfrm>
              <a:off x="3408" y="321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6" name="Text Box 69"/>
            <p:cNvSpPr txBox="1">
              <a:spLocks noChangeArrowheads="1"/>
            </p:cNvSpPr>
            <p:nvPr/>
          </p:nvSpPr>
          <p:spPr bwMode="auto">
            <a:xfrm>
              <a:off x="3254" y="3284"/>
              <a:ext cx="3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clk</a:t>
              </a:r>
            </a:p>
          </p:txBody>
        </p:sp>
        <p:sp>
          <p:nvSpPr>
            <p:cNvPr id="11297" name="Line 70"/>
            <p:cNvSpPr>
              <a:spLocks noChangeShapeType="1"/>
            </p:cNvSpPr>
            <p:nvPr/>
          </p:nvSpPr>
          <p:spPr bwMode="auto">
            <a:xfrm>
              <a:off x="3024" y="2928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8" name="Line 71"/>
            <p:cNvSpPr>
              <a:spLocks noChangeShapeType="1"/>
            </p:cNvSpPr>
            <p:nvPr/>
          </p:nvSpPr>
          <p:spPr bwMode="auto">
            <a:xfrm>
              <a:off x="3552" y="292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9" name="Text Box 72"/>
            <p:cNvSpPr txBox="1">
              <a:spLocks noChangeArrowheads="1"/>
            </p:cNvSpPr>
            <p:nvPr/>
          </p:nvSpPr>
          <p:spPr bwMode="auto">
            <a:xfrm>
              <a:off x="3782" y="2804"/>
              <a:ext cx="2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q</a:t>
              </a:r>
            </a:p>
          </p:txBody>
        </p:sp>
        <p:sp>
          <p:nvSpPr>
            <p:cNvPr id="11300" name="Text Box 73"/>
            <p:cNvSpPr txBox="1">
              <a:spLocks noChangeArrowheads="1"/>
            </p:cNvSpPr>
            <p:nvPr/>
          </p:nvSpPr>
          <p:spPr bwMode="auto">
            <a:xfrm>
              <a:off x="4128" y="2592"/>
              <a:ext cx="1066" cy="8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What value</a:t>
              </a:r>
            </a:p>
            <a:p>
              <a:pPr eaLnBrk="1" hangingPunct="1"/>
              <a:r>
                <a:rPr lang="en-US" altLang="en-US" sz="1600"/>
                <a:t>does q have prior to any positive clock edge?</a:t>
              </a:r>
            </a:p>
          </p:txBody>
        </p:sp>
        <p:sp>
          <p:nvSpPr>
            <p:cNvPr id="11301" name="Text Box 74"/>
            <p:cNvSpPr txBox="1">
              <a:spLocks noChangeArrowheads="1"/>
            </p:cNvSpPr>
            <p:nvPr/>
          </p:nvSpPr>
          <p:spPr bwMode="auto">
            <a:xfrm>
              <a:off x="2966" y="2948"/>
              <a:ext cx="2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</a:t>
              </a:r>
            </a:p>
          </p:txBody>
        </p:sp>
      </p:grpSp>
      <p:sp>
        <p:nvSpPr>
          <p:cNvPr id="195660" name="Text Box 76"/>
          <p:cNvSpPr txBox="1">
            <a:spLocks noChangeArrowheads="1"/>
          </p:cNvSpPr>
          <p:nvPr/>
        </p:nvSpPr>
        <p:spPr bwMode="auto">
          <a:xfrm>
            <a:off x="5105400" y="5867400"/>
            <a:ext cx="2103438" cy="654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It is unknown: </a:t>
            </a:r>
            <a:r>
              <a:rPr lang="en-US" altLang="en-US" b="1"/>
              <a:t>x</a:t>
            </a:r>
          </a:p>
          <a:p>
            <a:pPr eaLnBrk="1" hangingPunct="1"/>
            <a:r>
              <a:rPr lang="en-US" altLang="en-US"/>
              <a:t>(uninitialized)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6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A87C256-D84C-4DB3-89C1-C787E1EA202D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457200" y="228600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000">
                <a:solidFill>
                  <a:srgbClr val="000066"/>
                </a:solidFill>
                <a:latin typeface="Arial" panose="020B0604020202020204" pitchFamily="34" charset="0"/>
              </a:rPr>
              <a:t>Resolving 4-Value Logic</a:t>
            </a:r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700088" y="1727200"/>
            <a:ext cx="2119312" cy="3379788"/>
            <a:chOff x="441" y="1088"/>
            <a:chExt cx="1335" cy="2129"/>
          </a:xfrm>
        </p:grpSpPr>
        <p:sp>
          <p:nvSpPr>
            <p:cNvPr id="12351" name="Line 16"/>
            <p:cNvSpPr>
              <a:spLocks noChangeShapeType="1"/>
            </p:cNvSpPr>
            <p:nvPr/>
          </p:nvSpPr>
          <p:spPr bwMode="auto">
            <a:xfrm>
              <a:off x="585" y="1932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52" name="Group 5"/>
            <p:cNvGrpSpPr>
              <a:grpSpLocks/>
            </p:cNvGrpSpPr>
            <p:nvPr/>
          </p:nvGrpSpPr>
          <p:grpSpPr bwMode="auto">
            <a:xfrm>
              <a:off x="915" y="1127"/>
              <a:ext cx="486" cy="480"/>
              <a:chOff x="762" y="1200"/>
              <a:chExt cx="486" cy="480"/>
            </a:xfrm>
          </p:grpSpPr>
          <p:sp>
            <p:nvSpPr>
              <p:cNvPr id="12362" name="Arc 6"/>
              <p:cNvSpPr>
                <a:spLocks/>
              </p:cNvSpPr>
              <p:nvPr/>
            </p:nvSpPr>
            <p:spPr bwMode="auto">
              <a:xfrm rot="5400000">
                <a:off x="888" y="1320"/>
                <a:ext cx="240" cy="4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CCEC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63" name="Arc 7"/>
              <p:cNvSpPr>
                <a:spLocks/>
              </p:cNvSpPr>
              <p:nvPr/>
            </p:nvSpPr>
            <p:spPr bwMode="auto">
              <a:xfrm rot="5400000" flipH="1">
                <a:off x="888" y="1080"/>
                <a:ext cx="240" cy="4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CCEC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64" name="Arc 8"/>
              <p:cNvSpPr>
                <a:spLocks/>
              </p:cNvSpPr>
              <p:nvPr/>
            </p:nvSpPr>
            <p:spPr bwMode="auto">
              <a:xfrm rot="5400000" flipH="1">
                <a:off x="705" y="1257"/>
                <a:ext cx="240" cy="12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bg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65" name="Arc 9"/>
              <p:cNvSpPr>
                <a:spLocks/>
              </p:cNvSpPr>
              <p:nvPr/>
            </p:nvSpPr>
            <p:spPr bwMode="auto">
              <a:xfrm rot="5400000">
                <a:off x="705" y="1497"/>
                <a:ext cx="240" cy="12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53" name="Line 10"/>
            <p:cNvSpPr>
              <a:spLocks noChangeShapeType="1"/>
            </p:cNvSpPr>
            <p:nvPr/>
          </p:nvSpPr>
          <p:spPr bwMode="auto">
            <a:xfrm>
              <a:off x="681" y="1223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54" name="Line 11"/>
            <p:cNvSpPr>
              <a:spLocks noChangeShapeType="1"/>
            </p:cNvSpPr>
            <p:nvPr/>
          </p:nvSpPr>
          <p:spPr bwMode="auto">
            <a:xfrm>
              <a:off x="681" y="1511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55" name="Text Box 12"/>
            <p:cNvSpPr txBox="1">
              <a:spLocks noChangeArrowheads="1"/>
            </p:cNvSpPr>
            <p:nvPr/>
          </p:nvSpPr>
          <p:spPr bwMode="auto">
            <a:xfrm>
              <a:off x="441" y="1088"/>
              <a:ext cx="2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</a:t>
              </a:r>
            </a:p>
          </p:txBody>
        </p:sp>
        <p:sp>
          <p:nvSpPr>
            <p:cNvPr id="12356" name="Text Box 13"/>
            <p:cNvSpPr txBox="1">
              <a:spLocks noChangeArrowheads="1"/>
            </p:cNvSpPr>
            <p:nvPr/>
          </p:nvSpPr>
          <p:spPr bwMode="auto">
            <a:xfrm>
              <a:off x="441" y="1367"/>
              <a:ext cx="2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B</a:t>
              </a:r>
            </a:p>
          </p:txBody>
        </p:sp>
        <p:sp>
          <p:nvSpPr>
            <p:cNvPr id="12357" name="Line 14"/>
            <p:cNvSpPr>
              <a:spLocks noChangeShapeType="1"/>
            </p:cNvSpPr>
            <p:nvPr/>
          </p:nvSpPr>
          <p:spPr bwMode="auto">
            <a:xfrm>
              <a:off x="1401" y="1367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58" name="Text Box 15"/>
            <p:cNvSpPr txBox="1">
              <a:spLocks noChangeArrowheads="1"/>
            </p:cNvSpPr>
            <p:nvPr/>
          </p:nvSpPr>
          <p:spPr bwMode="auto">
            <a:xfrm>
              <a:off x="1353" y="1136"/>
              <a:ext cx="4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OUT</a:t>
              </a:r>
            </a:p>
          </p:txBody>
        </p:sp>
        <p:sp>
          <p:nvSpPr>
            <p:cNvPr id="12359" name="Text Box 17"/>
            <p:cNvSpPr txBox="1">
              <a:spLocks noChangeArrowheads="1"/>
            </p:cNvSpPr>
            <p:nvPr/>
          </p:nvSpPr>
          <p:spPr bwMode="auto">
            <a:xfrm>
              <a:off x="562" y="1740"/>
              <a:ext cx="10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   B     OUT</a:t>
              </a:r>
            </a:p>
          </p:txBody>
        </p:sp>
        <p:sp>
          <p:nvSpPr>
            <p:cNvPr id="12360" name="Text Box 18"/>
            <p:cNvSpPr txBox="1">
              <a:spLocks noChangeArrowheads="1"/>
            </p:cNvSpPr>
            <p:nvPr/>
          </p:nvSpPr>
          <p:spPr bwMode="auto">
            <a:xfrm>
              <a:off x="562" y="1948"/>
              <a:ext cx="890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0  0    0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0  1    1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1  1    1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x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z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x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z</a:t>
              </a:r>
            </a:p>
          </p:txBody>
        </p:sp>
        <p:sp>
          <p:nvSpPr>
            <p:cNvPr id="12361" name="Line 33"/>
            <p:cNvSpPr>
              <a:spLocks noChangeShapeType="1"/>
            </p:cNvSpPr>
            <p:nvPr/>
          </p:nvSpPr>
          <p:spPr bwMode="auto">
            <a:xfrm>
              <a:off x="1113" y="1788"/>
              <a:ext cx="0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3457575" y="1727200"/>
            <a:ext cx="2119313" cy="3379788"/>
            <a:chOff x="2178" y="1088"/>
            <a:chExt cx="1335" cy="2129"/>
          </a:xfrm>
        </p:grpSpPr>
        <p:sp>
          <p:nvSpPr>
            <p:cNvPr id="12340" name="Line 19"/>
            <p:cNvSpPr>
              <a:spLocks noChangeShapeType="1"/>
            </p:cNvSpPr>
            <p:nvPr/>
          </p:nvSpPr>
          <p:spPr bwMode="auto">
            <a:xfrm>
              <a:off x="2364" y="1932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1" name="Text Box 20"/>
            <p:cNvSpPr txBox="1">
              <a:spLocks noChangeArrowheads="1"/>
            </p:cNvSpPr>
            <p:nvPr/>
          </p:nvSpPr>
          <p:spPr bwMode="auto">
            <a:xfrm>
              <a:off x="2341" y="1740"/>
              <a:ext cx="10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   B     OUT</a:t>
              </a:r>
            </a:p>
          </p:txBody>
        </p:sp>
        <p:sp>
          <p:nvSpPr>
            <p:cNvPr id="12342" name="Text Box 21"/>
            <p:cNvSpPr txBox="1">
              <a:spLocks noChangeArrowheads="1"/>
            </p:cNvSpPr>
            <p:nvPr/>
          </p:nvSpPr>
          <p:spPr bwMode="auto">
            <a:xfrm>
              <a:off x="2341" y="1948"/>
              <a:ext cx="890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0  0    0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0  1    0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1  1    1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x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z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x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z</a:t>
              </a:r>
              <a:endParaRPr lang="en-US" altLang="en-US" b="1">
                <a:solidFill>
                  <a:srgbClr val="CC33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2343" name="Line 22"/>
            <p:cNvSpPr>
              <a:spLocks noChangeShapeType="1"/>
            </p:cNvSpPr>
            <p:nvPr/>
          </p:nvSpPr>
          <p:spPr bwMode="auto">
            <a:xfrm>
              <a:off x="2418" y="1223"/>
              <a:ext cx="2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4" name="Line 23"/>
            <p:cNvSpPr>
              <a:spLocks noChangeShapeType="1"/>
            </p:cNvSpPr>
            <p:nvPr/>
          </p:nvSpPr>
          <p:spPr bwMode="auto">
            <a:xfrm>
              <a:off x="2418" y="1511"/>
              <a:ext cx="2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5" name="Text Box 24"/>
            <p:cNvSpPr txBox="1">
              <a:spLocks noChangeArrowheads="1"/>
            </p:cNvSpPr>
            <p:nvPr/>
          </p:nvSpPr>
          <p:spPr bwMode="auto">
            <a:xfrm>
              <a:off x="2178" y="1088"/>
              <a:ext cx="2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</a:t>
              </a:r>
            </a:p>
          </p:txBody>
        </p:sp>
        <p:sp>
          <p:nvSpPr>
            <p:cNvPr id="12346" name="Text Box 25"/>
            <p:cNvSpPr txBox="1">
              <a:spLocks noChangeArrowheads="1"/>
            </p:cNvSpPr>
            <p:nvPr/>
          </p:nvSpPr>
          <p:spPr bwMode="auto">
            <a:xfrm>
              <a:off x="2178" y="1367"/>
              <a:ext cx="2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B</a:t>
              </a:r>
            </a:p>
          </p:txBody>
        </p:sp>
        <p:sp>
          <p:nvSpPr>
            <p:cNvPr id="12347" name="Line 26"/>
            <p:cNvSpPr>
              <a:spLocks noChangeShapeType="1"/>
            </p:cNvSpPr>
            <p:nvPr/>
          </p:nvSpPr>
          <p:spPr bwMode="auto">
            <a:xfrm>
              <a:off x="3138" y="1367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8" name="Text Box 27"/>
            <p:cNvSpPr txBox="1">
              <a:spLocks noChangeArrowheads="1"/>
            </p:cNvSpPr>
            <p:nvPr/>
          </p:nvSpPr>
          <p:spPr bwMode="auto">
            <a:xfrm>
              <a:off x="3090" y="1136"/>
              <a:ext cx="4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OUT</a:t>
              </a:r>
            </a:p>
          </p:txBody>
        </p:sp>
        <p:sp>
          <p:nvSpPr>
            <p:cNvPr id="12349" name="AutoShape 28"/>
            <p:cNvSpPr>
              <a:spLocks noChangeArrowheads="1"/>
            </p:cNvSpPr>
            <p:nvPr/>
          </p:nvSpPr>
          <p:spPr bwMode="auto">
            <a:xfrm>
              <a:off x="2697" y="1127"/>
              <a:ext cx="432" cy="480"/>
            </a:xfrm>
            <a:prstGeom prst="flowChartDelay">
              <a:avLst/>
            </a:prstGeom>
            <a:solidFill>
              <a:srgbClr val="CCE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50" name="Line 34"/>
            <p:cNvSpPr>
              <a:spLocks noChangeShapeType="1"/>
            </p:cNvSpPr>
            <p:nvPr/>
          </p:nvSpPr>
          <p:spPr bwMode="auto">
            <a:xfrm>
              <a:off x="2889" y="1788"/>
              <a:ext cx="0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70"/>
          <p:cNvGrpSpPr>
            <a:grpSpLocks/>
          </p:cNvGrpSpPr>
          <p:nvPr/>
        </p:nvGrpSpPr>
        <p:grpSpPr bwMode="auto">
          <a:xfrm>
            <a:off x="6172200" y="1447800"/>
            <a:ext cx="2576513" cy="4208463"/>
            <a:chOff x="3888" y="912"/>
            <a:chExt cx="1623" cy="2651"/>
          </a:xfrm>
        </p:grpSpPr>
        <p:sp>
          <p:nvSpPr>
            <p:cNvPr id="12325" name="Line 29"/>
            <p:cNvSpPr>
              <a:spLocks noChangeShapeType="1"/>
            </p:cNvSpPr>
            <p:nvPr/>
          </p:nvSpPr>
          <p:spPr bwMode="auto">
            <a:xfrm>
              <a:off x="4233" y="1262"/>
              <a:ext cx="2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6" name="Text Box 30"/>
            <p:cNvSpPr txBox="1">
              <a:spLocks noChangeArrowheads="1"/>
            </p:cNvSpPr>
            <p:nvPr/>
          </p:nvSpPr>
          <p:spPr bwMode="auto">
            <a:xfrm>
              <a:off x="3993" y="1127"/>
              <a:ext cx="2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</a:t>
              </a:r>
            </a:p>
          </p:txBody>
        </p:sp>
        <p:sp>
          <p:nvSpPr>
            <p:cNvPr id="12327" name="Text Box 31"/>
            <p:cNvSpPr txBox="1">
              <a:spLocks noChangeArrowheads="1"/>
            </p:cNvSpPr>
            <p:nvPr/>
          </p:nvSpPr>
          <p:spPr bwMode="auto">
            <a:xfrm>
              <a:off x="3993" y="1358"/>
              <a:ext cx="2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B</a:t>
              </a:r>
            </a:p>
          </p:txBody>
        </p:sp>
        <p:sp>
          <p:nvSpPr>
            <p:cNvPr id="12328" name="Text Box 32"/>
            <p:cNvSpPr txBox="1">
              <a:spLocks noChangeArrowheads="1"/>
            </p:cNvSpPr>
            <p:nvPr/>
          </p:nvSpPr>
          <p:spPr bwMode="auto">
            <a:xfrm>
              <a:off x="4905" y="1127"/>
              <a:ext cx="4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OUT</a:t>
              </a:r>
            </a:p>
          </p:txBody>
        </p:sp>
        <p:sp>
          <p:nvSpPr>
            <p:cNvPr id="12329" name="Line 35"/>
            <p:cNvSpPr>
              <a:spLocks noChangeShapeType="1"/>
            </p:cNvSpPr>
            <p:nvPr/>
          </p:nvSpPr>
          <p:spPr bwMode="auto">
            <a:xfrm>
              <a:off x="3936" y="1932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0" name="Text Box 36"/>
            <p:cNvSpPr txBox="1">
              <a:spLocks noChangeArrowheads="1"/>
            </p:cNvSpPr>
            <p:nvPr/>
          </p:nvSpPr>
          <p:spPr bwMode="auto">
            <a:xfrm>
              <a:off x="3888" y="1740"/>
              <a:ext cx="16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   A     T   B     OUT</a:t>
              </a:r>
            </a:p>
          </p:txBody>
        </p:sp>
        <p:sp>
          <p:nvSpPr>
            <p:cNvPr id="12331" name="Text Box 37"/>
            <p:cNvSpPr txBox="1">
              <a:spLocks noChangeArrowheads="1"/>
            </p:cNvSpPr>
            <p:nvPr/>
          </p:nvSpPr>
          <p:spPr bwMode="auto">
            <a:xfrm>
              <a:off x="3888" y="1948"/>
              <a:ext cx="1492" cy="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0   z  z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1   z  x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x   z  1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0  z   z  0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1  0   0  1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0   0  z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1   1  z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x   x  z</a:t>
              </a:r>
            </a:p>
            <a:p>
              <a:pPr eaLnBrk="1" hangingPunct="1"/>
              <a:r>
                <a:rPr lang="en-US" altLang="en-US" b="1">
                  <a:latin typeface="Courier New" panose="02070309020205020404" pitchFamily="49" charset="0"/>
                </a:rPr>
                <a:t>1  z   x  0</a:t>
              </a:r>
            </a:p>
          </p:txBody>
        </p:sp>
        <p:sp>
          <p:nvSpPr>
            <p:cNvPr id="12332" name="Line 38"/>
            <p:cNvSpPr>
              <a:spLocks noChangeShapeType="1"/>
            </p:cNvSpPr>
            <p:nvPr/>
          </p:nvSpPr>
          <p:spPr bwMode="auto">
            <a:xfrm>
              <a:off x="4416" y="1788"/>
              <a:ext cx="0" cy="17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3" name="Line 39"/>
            <p:cNvSpPr>
              <a:spLocks noChangeShapeType="1"/>
            </p:cNvSpPr>
            <p:nvPr/>
          </p:nvSpPr>
          <p:spPr bwMode="auto">
            <a:xfrm>
              <a:off x="5040" y="1788"/>
              <a:ext cx="0" cy="17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4" name="Text Box 40"/>
            <p:cNvSpPr txBox="1">
              <a:spLocks noChangeArrowheads="1"/>
            </p:cNvSpPr>
            <p:nvPr/>
          </p:nvSpPr>
          <p:spPr bwMode="auto">
            <a:xfrm>
              <a:off x="4394" y="912"/>
              <a:ext cx="2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</a:t>
              </a:r>
            </a:p>
          </p:txBody>
        </p:sp>
        <p:sp>
          <p:nvSpPr>
            <p:cNvPr id="12335" name="Line 41"/>
            <p:cNvSpPr>
              <a:spLocks noChangeShapeType="1"/>
            </p:cNvSpPr>
            <p:nvPr/>
          </p:nvSpPr>
          <p:spPr bwMode="auto">
            <a:xfrm>
              <a:off x="4560" y="1068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6" name="AutoShape 42"/>
            <p:cNvSpPr>
              <a:spLocks noChangeArrowheads="1"/>
            </p:cNvSpPr>
            <p:nvPr/>
          </p:nvSpPr>
          <p:spPr bwMode="auto">
            <a:xfrm rot="5400000">
              <a:off x="4404" y="1128"/>
              <a:ext cx="288" cy="264"/>
            </a:xfrm>
            <a:prstGeom prst="triangle">
              <a:avLst>
                <a:gd name="adj" fmla="val 50000"/>
              </a:avLst>
            </a:prstGeom>
            <a:solidFill>
              <a:srgbClr val="CCE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37" name="Freeform 43"/>
            <p:cNvSpPr>
              <a:spLocks/>
            </p:cNvSpPr>
            <p:nvPr/>
          </p:nvSpPr>
          <p:spPr bwMode="auto">
            <a:xfrm>
              <a:off x="4656" y="1260"/>
              <a:ext cx="576" cy="96"/>
            </a:xfrm>
            <a:custGeom>
              <a:avLst/>
              <a:gdLst>
                <a:gd name="T0" fmla="*/ 0 w 576"/>
                <a:gd name="T1" fmla="*/ 0 h 96"/>
                <a:gd name="T2" fmla="*/ 288 w 576"/>
                <a:gd name="T3" fmla="*/ 0 h 96"/>
                <a:gd name="T4" fmla="*/ 288 w 576"/>
                <a:gd name="T5" fmla="*/ 96 h 96"/>
                <a:gd name="T6" fmla="*/ 576 w 576"/>
                <a:gd name="T7" fmla="*/ 9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96"/>
                <a:gd name="T14" fmla="*/ 576 w 576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96">
                  <a:moveTo>
                    <a:pt x="0" y="0"/>
                  </a:moveTo>
                  <a:lnTo>
                    <a:pt x="288" y="0"/>
                  </a:lnTo>
                  <a:lnTo>
                    <a:pt x="288" y="96"/>
                  </a:lnTo>
                  <a:lnTo>
                    <a:pt x="576" y="96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8" name="Freeform 44"/>
            <p:cNvSpPr>
              <a:spLocks/>
            </p:cNvSpPr>
            <p:nvPr/>
          </p:nvSpPr>
          <p:spPr bwMode="auto">
            <a:xfrm>
              <a:off x="4224" y="1356"/>
              <a:ext cx="720" cy="144"/>
            </a:xfrm>
            <a:custGeom>
              <a:avLst/>
              <a:gdLst>
                <a:gd name="T0" fmla="*/ 0 w 720"/>
                <a:gd name="T1" fmla="*/ 144 h 144"/>
                <a:gd name="T2" fmla="*/ 720 w 720"/>
                <a:gd name="T3" fmla="*/ 144 h 144"/>
                <a:gd name="T4" fmla="*/ 720 w 720"/>
                <a:gd name="T5" fmla="*/ 0 h 144"/>
                <a:gd name="T6" fmla="*/ 0 60000 65536"/>
                <a:gd name="T7" fmla="*/ 0 60000 65536"/>
                <a:gd name="T8" fmla="*/ 0 60000 65536"/>
                <a:gd name="T9" fmla="*/ 0 w 720"/>
                <a:gd name="T10" fmla="*/ 0 h 144"/>
                <a:gd name="T11" fmla="*/ 720 w 72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44">
                  <a:moveTo>
                    <a:pt x="0" y="144"/>
                  </a:moveTo>
                  <a:lnTo>
                    <a:pt x="720" y="144"/>
                  </a:lnTo>
                  <a:lnTo>
                    <a:pt x="720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9" name="Text Box 45"/>
            <p:cNvSpPr txBox="1">
              <a:spLocks noChangeArrowheads="1"/>
            </p:cNvSpPr>
            <p:nvPr/>
          </p:nvSpPr>
          <p:spPr bwMode="auto">
            <a:xfrm>
              <a:off x="4704" y="1056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T</a:t>
              </a:r>
            </a:p>
          </p:txBody>
        </p:sp>
      </p:grpSp>
      <p:grpSp>
        <p:nvGrpSpPr>
          <p:cNvPr id="12295" name="Group 46"/>
          <p:cNvGrpSpPr>
            <a:grpSpLocks/>
          </p:cNvGrpSpPr>
          <p:nvPr/>
        </p:nvGrpSpPr>
        <p:grpSpPr bwMode="auto">
          <a:xfrm>
            <a:off x="1524000" y="5715000"/>
            <a:ext cx="533400" cy="457200"/>
            <a:chOff x="960" y="3600"/>
            <a:chExt cx="336" cy="288"/>
          </a:xfrm>
        </p:grpSpPr>
        <p:sp>
          <p:nvSpPr>
            <p:cNvPr id="12323" name="AutoShape 47"/>
            <p:cNvSpPr>
              <a:spLocks noChangeArrowheads="1"/>
            </p:cNvSpPr>
            <p:nvPr/>
          </p:nvSpPr>
          <p:spPr bwMode="auto">
            <a:xfrm rot="5400000">
              <a:off x="948" y="3612"/>
              <a:ext cx="288" cy="264"/>
            </a:xfrm>
            <a:prstGeom prst="triangle">
              <a:avLst>
                <a:gd name="adj" fmla="val 50000"/>
              </a:avLst>
            </a:prstGeom>
            <a:solidFill>
              <a:srgbClr val="CCE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24" name="Oval 48"/>
            <p:cNvSpPr>
              <a:spLocks noChangeArrowheads="1"/>
            </p:cNvSpPr>
            <p:nvPr/>
          </p:nvSpPr>
          <p:spPr bwMode="auto">
            <a:xfrm>
              <a:off x="1200" y="3695"/>
              <a:ext cx="96" cy="96"/>
            </a:xfrm>
            <a:prstGeom prst="ellipse">
              <a:avLst/>
            </a:prstGeom>
            <a:solidFill>
              <a:srgbClr val="CCECFF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2296" name="Line 49"/>
          <p:cNvSpPr>
            <a:spLocks noChangeShapeType="1"/>
          </p:cNvSpPr>
          <p:nvPr/>
        </p:nvSpPr>
        <p:spPr bwMode="auto">
          <a:xfrm>
            <a:off x="1066800" y="5943600"/>
            <a:ext cx="4429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Text Box 50"/>
          <p:cNvSpPr txBox="1">
            <a:spLocks noChangeArrowheads="1"/>
          </p:cNvSpPr>
          <p:nvPr/>
        </p:nvSpPr>
        <p:spPr bwMode="auto">
          <a:xfrm>
            <a:off x="685800" y="5729288"/>
            <a:ext cx="339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A</a:t>
            </a:r>
          </a:p>
        </p:txBody>
      </p:sp>
      <p:sp>
        <p:nvSpPr>
          <p:cNvPr id="12298" name="Line 51"/>
          <p:cNvSpPr>
            <a:spLocks noChangeShapeType="1"/>
          </p:cNvSpPr>
          <p:nvPr/>
        </p:nvSpPr>
        <p:spPr bwMode="auto">
          <a:xfrm>
            <a:off x="2057400" y="5943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Text Box 52"/>
          <p:cNvSpPr txBox="1">
            <a:spLocks noChangeArrowheads="1"/>
          </p:cNvSpPr>
          <p:nvPr/>
        </p:nvSpPr>
        <p:spPr bwMode="auto">
          <a:xfrm>
            <a:off x="1981200" y="5576888"/>
            <a:ext cx="671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OUT</a:t>
            </a:r>
          </a:p>
        </p:txBody>
      </p:sp>
      <p:sp>
        <p:nvSpPr>
          <p:cNvPr id="12300" name="Text Box 53"/>
          <p:cNvSpPr txBox="1">
            <a:spLocks noChangeArrowheads="1"/>
          </p:cNvSpPr>
          <p:nvPr/>
        </p:nvSpPr>
        <p:spPr bwMode="auto">
          <a:xfrm>
            <a:off x="2833688" y="5638800"/>
            <a:ext cx="6715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  A</a:t>
            </a:r>
          </a:p>
          <a:p>
            <a:pPr eaLnBrk="1" hangingPunct="1"/>
            <a:r>
              <a:rPr lang="en-US" altLang="en-US"/>
              <a:t>OUT</a:t>
            </a:r>
          </a:p>
        </p:txBody>
      </p:sp>
      <p:sp>
        <p:nvSpPr>
          <p:cNvPr id="12301" name="Text Box 54"/>
          <p:cNvSpPr txBox="1">
            <a:spLocks noChangeArrowheads="1"/>
          </p:cNvSpPr>
          <p:nvPr/>
        </p:nvSpPr>
        <p:spPr bwMode="auto">
          <a:xfrm>
            <a:off x="3540125" y="5638800"/>
            <a:ext cx="1139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Courier New" panose="02070309020205020404" pitchFamily="49" charset="0"/>
              </a:rPr>
              <a:t>0 1 x z</a:t>
            </a:r>
          </a:p>
          <a:p>
            <a:pPr eaLnBrk="1" hangingPunct="1"/>
            <a:r>
              <a:rPr lang="en-US" altLang="en-US" b="1">
                <a:latin typeface="Courier New" panose="02070309020205020404" pitchFamily="49" charset="0"/>
              </a:rPr>
              <a:t>1 0 x</a:t>
            </a:r>
            <a:endParaRPr lang="en-US" altLang="en-US" b="1">
              <a:solidFill>
                <a:srgbClr val="CC3300"/>
              </a:solidFill>
              <a:latin typeface="Courier New" panose="02070309020205020404" pitchFamily="49" charset="0"/>
            </a:endParaRPr>
          </a:p>
        </p:txBody>
      </p:sp>
      <p:sp>
        <p:nvSpPr>
          <p:cNvPr id="12302" name="Line 55"/>
          <p:cNvSpPr>
            <a:spLocks noChangeShapeType="1"/>
          </p:cNvSpPr>
          <p:nvPr/>
        </p:nvSpPr>
        <p:spPr bwMode="auto">
          <a:xfrm>
            <a:off x="2895600" y="594360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Line 56"/>
          <p:cNvSpPr>
            <a:spLocks noChangeShapeType="1"/>
          </p:cNvSpPr>
          <p:nvPr/>
        </p:nvSpPr>
        <p:spPr bwMode="auto">
          <a:xfrm>
            <a:off x="3505200" y="5715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Text Box 57"/>
          <p:cNvSpPr txBox="1">
            <a:spLocks noChangeArrowheads="1"/>
          </p:cNvSpPr>
          <p:nvPr/>
        </p:nvSpPr>
        <p:spPr bwMode="auto">
          <a:xfrm>
            <a:off x="4419600" y="58674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7690" name="Text Box 58"/>
          <p:cNvSpPr txBox="1">
            <a:spLocks noChangeArrowheads="1"/>
          </p:cNvSpPr>
          <p:nvPr/>
        </p:nvSpPr>
        <p:spPr bwMode="auto">
          <a:xfrm>
            <a:off x="4343400" y="594360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97691" name="Text Box 59"/>
          <p:cNvSpPr txBox="1">
            <a:spLocks noChangeArrowheads="1"/>
          </p:cNvSpPr>
          <p:nvPr/>
        </p:nvSpPr>
        <p:spPr bwMode="auto">
          <a:xfrm>
            <a:off x="1981200" y="396240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97692" name="Text Box 60"/>
          <p:cNvSpPr txBox="1">
            <a:spLocks noChangeArrowheads="1"/>
          </p:cNvSpPr>
          <p:nvPr/>
        </p:nvSpPr>
        <p:spPr bwMode="auto">
          <a:xfrm>
            <a:off x="1981200" y="4233863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97693" name="Text Box 61"/>
          <p:cNvSpPr txBox="1">
            <a:spLocks noChangeArrowheads="1"/>
          </p:cNvSpPr>
          <p:nvPr/>
        </p:nvSpPr>
        <p:spPr bwMode="auto">
          <a:xfrm>
            <a:off x="1981200" y="449580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97694" name="Text Box 62"/>
          <p:cNvSpPr txBox="1">
            <a:spLocks noChangeArrowheads="1"/>
          </p:cNvSpPr>
          <p:nvPr/>
        </p:nvSpPr>
        <p:spPr bwMode="auto">
          <a:xfrm>
            <a:off x="1976438" y="476250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97698" name="Text Box 66"/>
          <p:cNvSpPr txBox="1">
            <a:spLocks noChangeArrowheads="1"/>
          </p:cNvSpPr>
          <p:nvPr/>
        </p:nvSpPr>
        <p:spPr bwMode="auto">
          <a:xfrm>
            <a:off x="4800600" y="396240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97699" name="Text Box 67"/>
          <p:cNvSpPr txBox="1">
            <a:spLocks noChangeArrowheads="1"/>
          </p:cNvSpPr>
          <p:nvPr/>
        </p:nvSpPr>
        <p:spPr bwMode="auto">
          <a:xfrm>
            <a:off x="4800600" y="422910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97700" name="Text Box 68"/>
          <p:cNvSpPr txBox="1">
            <a:spLocks noChangeArrowheads="1"/>
          </p:cNvSpPr>
          <p:nvPr/>
        </p:nvSpPr>
        <p:spPr bwMode="auto">
          <a:xfrm>
            <a:off x="4800600" y="449580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97701" name="Text Box 69"/>
          <p:cNvSpPr txBox="1">
            <a:spLocks noChangeArrowheads="1"/>
          </p:cNvSpPr>
          <p:nvPr/>
        </p:nvSpPr>
        <p:spPr bwMode="auto">
          <a:xfrm>
            <a:off x="4800600" y="4752975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97704" name="Text Box 72"/>
          <p:cNvSpPr txBox="1">
            <a:spLocks noChangeArrowheads="1"/>
          </p:cNvSpPr>
          <p:nvPr/>
        </p:nvSpPr>
        <p:spPr bwMode="auto">
          <a:xfrm>
            <a:off x="8229600" y="312420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z</a:t>
            </a:r>
          </a:p>
        </p:txBody>
      </p:sp>
      <p:sp>
        <p:nvSpPr>
          <p:cNvPr id="197705" name="Text Box 73"/>
          <p:cNvSpPr txBox="1">
            <a:spLocks noChangeArrowheads="1"/>
          </p:cNvSpPr>
          <p:nvPr/>
        </p:nvSpPr>
        <p:spPr bwMode="auto">
          <a:xfrm>
            <a:off x="8229600" y="337185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97706" name="Text Box 74"/>
          <p:cNvSpPr txBox="1">
            <a:spLocks noChangeArrowheads="1"/>
          </p:cNvSpPr>
          <p:nvPr/>
        </p:nvSpPr>
        <p:spPr bwMode="auto">
          <a:xfrm>
            <a:off x="8229600" y="3648075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97707" name="Text Box 75"/>
          <p:cNvSpPr txBox="1">
            <a:spLocks noChangeArrowheads="1"/>
          </p:cNvSpPr>
          <p:nvPr/>
        </p:nvSpPr>
        <p:spPr bwMode="auto">
          <a:xfrm>
            <a:off x="8220075" y="3948113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97708" name="Text Box 76"/>
          <p:cNvSpPr txBox="1">
            <a:spLocks noChangeArrowheads="1"/>
          </p:cNvSpPr>
          <p:nvPr/>
        </p:nvSpPr>
        <p:spPr bwMode="auto">
          <a:xfrm>
            <a:off x="8229600" y="419100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97709" name="Text Box 77"/>
          <p:cNvSpPr txBox="1">
            <a:spLocks noChangeArrowheads="1"/>
          </p:cNvSpPr>
          <p:nvPr/>
        </p:nvSpPr>
        <p:spPr bwMode="auto">
          <a:xfrm>
            <a:off x="8224838" y="4510088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97710" name="Text Box 78"/>
          <p:cNvSpPr txBox="1">
            <a:spLocks noChangeArrowheads="1"/>
          </p:cNvSpPr>
          <p:nvPr/>
        </p:nvSpPr>
        <p:spPr bwMode="auto">
          <a:xfrm>
            <a:off x="8229600" y="4776788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97711" name="Text Box 79"/>
          <p:cNvSpPr txBox="1">
            <a:spLocks noChangeArrowheads="1"/>
          </p:cNvSpPr>
          <p:nvPr/>
        </p:nvSpPr>
        <p:spPr bwMode="auto">
          <a:xfrm>
            <a:off x="8229600" y="5029200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97712" name="Text Box 80"/>
          <p:cNvSpPr txBox="1">
            <a:spLocks noChangeArrowheads="1"/>
          </p:cNvSpPr>
          <p:nvPr/>
        </p:nvSpPr>
        <p:spPr bwMode="auto">
          <a:xfrm>
            <a:off x="8229600" y="5281613"/>
            <a:ext cx="32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anose="02070309020205020404" pitchFamily="49" charset="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9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9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9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9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9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9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9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9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90" grpId="0"/>
      <p:bldP spid="197691" grpId="0"/>
      <p:bldP spid="197692" grpId="0"/>
      <p:bldP spid="197693" grpId="0"/>
      <p:bldP spid="197694" grpId="0"/>
      <p:bldP spid="197698" grpId="0"/>
      <p:bldP spid="197699" grpId="0"/>
      <p:bldP spid="197700" grpId="0"/>
      <p:bldP spid="197701" grpId="0"/>
      <p:bldP spid="197704" grpId="0"/>
      <p:bldP spid="197705" grpId="0"/>
      <p:bldP spid="197706" grpId="0"/>
      <p:bldP spid="197707" grpId="0"/>
      <p:bldP spid="197708" grpId="0"/>
      <p:bldP spid="197709" grpId="0"/>
      <p:bldP spid="197710" grpId="0"/>
      <p:bldP spid="197711" grpId="0"/>
      <p:bldP spid="1977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65A632C-BDB9-44AA-B10D-7DE44C6B9C4C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277813"/>
            <a:ext cx="8229600" cy="11398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000" kern="0">
                <a:solidFill>
                  <a:srgbClr val="000066"/>
                </a:solidFill>
                <a:latin typeface="+mj-lt"/>
                <a:ea typeface="+mj-ea"/>
                <a:cs typeface="+mj-cs"/>
              </a:rPr>
              <a:t>Signal Values &amp; Strength in Verilog</a:t>
            </a:r>
            <a:endParaRPr lang="en-US" sz="4000" kern="0" dirty="0">
              <a:solidFill>
                <a:srgbClr val="000066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Group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6810608"/>
              </p:ext>
            </p:extLst>
          </p:nvPr>
        </p:nvGraphicFramePr>
        <p:xfrm>
          <a:off x="1683709" y="1295400"/>
          <a:ext cx="4953000" cy="226695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Strength Level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Meaning: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supply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Strongest (like a supply VDD or VSS)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strong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Strong (default if not specified)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pull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Medium strength (like a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pullup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device)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weak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Weak, like a keeper (sustainer, leaker)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highz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A0"/>
                        </a:buClr>
                        <a:buSzPct val="12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High impedance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97583" y="3872681"/>
            <a:ext cx="7280808" cy="9144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A0"/>
              </a:buClr>
              <a:buSzPct val="125000"/>
              <a:buFont typeface="Wingdings" pitchFamily="2" charset="2"/>
              <a:buChar char="§"/>
              <a:defRPr/>
            </a:pPr>
            <a:r>
              <a:rPr lang="en-US" sz="2400" kern="0" dirty="0">
                <a:latin typeface="+mn-lt"/>
                <a:cs typeface="+mn-cs"/>
              </a:rPr>
              <a:t>Concept of drive strength supported to model certain CMOS circuits that utilize contention.</a:t>
            </a:r>
          </a:p>
          <a:p>
            <a:pPr marL="742950" lvl="1" indent="-285750">
              <a:spcBef>
                <a:spcPct val="20000"/>
              </a:spcBef>
              <a:buClr>
                <a:srgbClr val="0000A0"/>
              </a:buClr>
              <a:buSzPct val="125000"/>
              <a:defRPr/>
            </a:pPr>
            <a:endParaRPr lang="en-US" sz="2000" kern="0" dirty="0">
              <a:latin typeface="+mn-lt"/>
              <a:cs typeface="Arial" charset="0"/>
            </a:endParaRPr>
          </a:p>
        </p:txBody>
      </p: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762000" y="5105400"/>
            <a:ext cx="3641725" cy="1219200"/>
            <a:chOff x="762000" y="5105400"/>
            <a:chExt cx="3642406" cy="1219200"/>
          </a:xfrm>
        </p:grpSpPr>
        <p:cxnSp>
          <p:nvCxnSpPr>
            <p:cNvPr id="13342" name="Straight Connector 6"/>
            <p:cNvCxnSpPr>
              <a:cxnSpLocks noChangeShapeType="1"/>
            </p:cNvCxnSpPr>
            <p:nvPr/>
          </p:nvCxnSpPr>
          <p:spPr bwMode="auto">
            <a:xfrm rot="16200000" flipH="1">
              <a:off x="1447800" y="5181600"/>
              <a:ext cx="457200" cy="4572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3" name="Straight Connector 7"/>
            <p:cNvCxnSpPr>
              <a:cxnSpLocks noChangeShapeType="1"/>
            </p:cNvCxnSpPr>
            <p:nvPr/>
          </p:nvCxnSpPr>
          <p:spPr bwMode="auto">
            <a:xfrm rot="5400000" flipH="1" flipV="1">
              <a:off x="1447800" y="5181600"/>
              <a:ext cx="457200" cy="4572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4" name="Straight Connector 9"/>
            <p:cNvCxnSpPr>
              <a:cxnSpLocks noChangeShapeType="1"/>
            </p:cNvCxnSpPr>
            <p:nvPr/>
          </p:nvCxnSpPr>
          <p:spPr bwMode="auto">
            <a:xfrm rot="5400000" flipH="1" flipV="1">
              <a:off x="1676400" y="5410200"/>
              <a:ext cx="4572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5" name="Straight Connector 10"/>
            <p:cNvCxnSpPr>
              <a:cxnSpLocks noChangeShapeType="1"/>
            </p:cNvCxnSpPr>
            <p:nvPr/>
          </p:nvCxnSpPr>
          <p:spPr bwMode="auto">
            <a:xfrm rot="5400000" flipH="1" flipV="1">
              <a:off x="1219200" y="5410200"/>
              <a:ext cx="4572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6" name="Straight Connector 12"/>
            <p:cNvCxnSpPr>
              <a:cxnSpLocks noChangeShapeType="1"/>
            </p:cNvCxnSpPr>
            <p:nvPr/>
          </p:nvCxnSpPr>
          <p:spPr bwMode="auto">
            <a:xfrm rot="10800000">
              <a:off x="1143000" y="5410200"/>
              <a:ext cx="3048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7" name="Straight Connector 18"/>
            <p:cNvCxnSpPr>
              <a:cxnSpLocks noChangeShapeType="1"/>
            </p:cNvCxnSpPr>
            <p:nvPr/>
          </p:nvCxnSpPr>
          <p:spPr bwMode="auto">
            <a:xfrm rot="10800000">
              <a:off x="1905000" y="54102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3348" name="Group 31"/>
            <p:cNvGrpSpPr>
              <a:grpSpLocks/>
            </p:cNvGrpSpPr>
            <p:nvPr/>
          </p:nvGrpSpPr>
          <p:grpSpPr bwMode="auto">
            <a:xfrm>
              <a:off x="2514600" y="5105400"/>
              <a:ext cx="1066800" cy="609600"/>
              <a:chOff x="4038600" y="5410200"/>
              <a:chExt cx="1066800" cy="609600"/>
            </a:xfrm>
          </p:grpSpPr>
          <p:cxnSp>
            <p:nvCxnSpPr>
              <p:cNvPr id="13368" name="Straight Connector 20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733800" y="5715000"/>
                <a:ext cx="609600" cy="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369" name="Straight Connector 26"/>
              <p:cNvCxnSpPr>
                <a:cxnSpLocks noChangeShapeType="1"/>
              </p:cNvCxnSpPr>
              <p:nvPr/>
            </p:nvCxnSpPr>
            <p:spPr bwMode="auto">
              <a:xfrm>
                <a:off x="4038600" y="5410200"/>
                <a:ext cx="609600" cy="30480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370" name="Straight Connector 27"/>
              <p:cNvCxnSpPr>
                <a:cxnSpLocks noChangeShapeType="1"/>
              </p:cNvCxnSpPr>
              <p:nvPr/>
            </p:nvCxnSpPr>
            <p:spPr bwMode="auto">
              <a:xfrm flipV="1">
                <a:off x="4038600" y="5715000"/>
                <a:ext cx="609600" cy="30480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3371" name="Oval 28"/>
              <p:cNvSpPr>
                <a:spLocks noChangeArrowheads="1"/>
              </p:cNvSpPr>
              <p:nvPr/>
            </p:nvSpPr>
            <p:spPr bwMode="auto">
              <a:xfrm>
                <a:off x="4648200" y="5638800"/>
                <a:ext cx="152400" cy="152400"/>
              </a:xfrm>
              <a:prstGeom prst="ellips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13372" name="Straight Connector 30"/>
              <p:cNvCxnSpPr>
                <a:cxnSpLocks noChangeShapeType="1"/>
                <a:stCxn id="13371" idx="6"/>
              </p:cNvCxnSpPr>
              <p:nvPr/>
            </p:nvCxnSpPr>
            <p:spPr bwMode="auto">
              <a:xfrm>
                <a:off x="4800600" y="5715000"/>
                <a:ext cx="304800" cy="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349" name="Group 32"/>
            <p:cNvGrpSpPr>
              <a:grpSpLocks/>
            </p:cNvGrpSpPr>
            <p:nvPr/>
          </p:nvGrpSpPr>
          <p:grpSpPr bwMode="auto">
            <a:xfrm flipH="1">
              <a:off x="2362200" y="5715000"/>
              <a:ext cx="1066800" cy="609600"/>
              <a:chOff x="4038600" y="5410200"/>
              <a:chExt cx="1066800" cy="609600"/>
            </a:xfrm>
          </p:grpSpPr>
          <p:cxnSp>
            <p:nvCxnSpPr>
              <p:cNvPr id="13363" name="Straight Connector 33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733800" y="5715000"/>
                <a:ext cx="609600" cy="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364" name="Straight Connector 34"/>
              <p:cNvCxnSpPr>
                <a:cxnSpLocks noChangeShapeType="1"/>
              </p:cNvCxnSpPr>
              <p:nvPr/>
            </p:nvCxnSpPr>
            <p:spPr bwMode="auto">
              <a:xfrm>
                <a:off x="4038600" y="5410200"/>
                <a:ext cx="609600" cy="30480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365" name="Straight Connector 35"/>
              <p:cNvCxnSpPr>
                <a:cxnSpLocks noChangeShapeType="1"/>
              </p:cNvCxnSpPr>
              <p:nvPr/>
            </p:nvCxnSpPr>
            <p:spPr bwMode="auto">
              <a:xfrm flipV="1">
                <a:off x="4038600" y="5715000"/>
                <a:ext cx="609600" cy="30480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3366" name="Oval 36"/>
              <p:cNvSpPr>
                <a:spLocks noChangeArrowheads="1"/>
              </p:cNvSpPr>
              <p:nvPr/>
            </p:nvSpPr>
            <p:spPr bwMode="auto">
              <a:xfrm>
                <a:off x="4648200" y="5638800"/>
                <a:ext cx="152400" cy="152400"/>
              </a:xfrm>
              <a:prstGeom prst="ellips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13367" name="Straight Connector 37"/>
              <p:cNvCxnSpPr>
                <a:cxnSpLocks noChangeShapeType="1"/>
                <a:stCxn id="13366" idx="6"/>
              </p:cNvCxnSpPr>
              <p:nvPr/>
            </p:nvCxnSpPr>
            <p:spPr bwMode="auto">
              <a:xfrm>
                <a:off x="4800600" y="5715000"/>
                <a:ext cx="304800" cy="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3350" name="Straight Connector 39"/>
            <p:cNvCxnSpPr>
              <a:cxnSpLocks noChangeShapeType="1"/>
            </p:cNvCxnSpPr>
            <p:nvPr/>
          </p:nvCxnSpPr>
          <p:spPr bwMode="auto">
            <a:xfrm rot="5400000">
              <a:off x="3276600" y="57150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1" name="Straight Connector 41"/>
            <p:cNvCxnSpPr>
              <a:cxnSpLocks noChangeShapeType="1"/>
            </p:cNvCxnSpPr>
            <p:nvPr/>
          </p:nvCxnSpPr>
          <p:spPr bwMode="auto">
            <a:xfrm rot="10800000">
              <a:off x="3429000" y="6019800"/>
              <a:ext cx="1524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2" name="Straight Connector 47"/>
            <p:cNvCxnSpPr>
              <a:cxnSpLocks noChangeShapeType="1"/>
            </p:cNvCxnSpPr>
            <p:nvPr/>
          </p:nvCxnSpPr>
          <p:spPr bwMode="auto">
            <a:xfrm rot="5400000" flipH="1" flipV="1">
              <a:off x="1905000" y="5715000"/>
              <a:ext cx="6096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3" name="Straight Connector 49"/>
            <p:cNvCxnSpPr>
              <a:cxnSpLocks noChangeShapeType="1"/>
            </p:cNvCxnSpPr>
            <p:nvPr/>
          </p:nvCxnSpPr>
          <p:spPr bwMode="auto">
            <a:xfrm rot="10800000">
              <a:off x="2209800" y="6019800"/>
              <a:ext cx="1524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4" name="Straight Connector 51"/>
            <p:cNvCxnSpPr>
              <a:cxnSpLocks noChangeShapeType="1"/>
            </p:cNvCxnSpPr>
            <p:nvPr/>
          </p:nvCxnSpPr>
          <p:spPr bwMode="auto">
            <a:xfrm>
              <a:off x="3581400" y="5410200"/>
              <a:ext cx="4572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55" name="TextBox 53"/>
            <p:cNvSpPr txBox="1">
              <a:spLocks noChangeArrowheads="1"/>
            </p:cNvSpPr>
            <p:nvPr/>
          </p:nvSpPr>
          <p:spPr bwMode="auto">
            <a:xfrm>
              <a:off x="762000" y="5257800"/>
              <a:ext cx="36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</a:t>
              </a:r>
            </a:p>
          </p:txBody>
        </p:sp>
        <p:sp>
          <p:nvSpPr>
            <p:cNvPr id="13356" name="TextBox 54"/>
            <p:cNvSpPr txBox="1">
              <a:spLocks noChangeArrowheads="1"/>
            </p:cNvSpPr>
            <p:nvPr/>
          </p:nvSpPr>
          <p:spPr bwMode="auto">
            <a:xfrm>
              <a:off x="4038600" y="5181600"/>
              <a:ext cx="3658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Q</a:t>
              </a:r>
            </a:p>
          </p:txBody>
        </p:sp>
        <p:cxnSp>
          <p:nvCxnSpPr>
            <p:cNvPr id="13357" name="Straight Connector 56"/>
            <p:cNvCxnSpPr>
              <a:cxnSpLocks noChangeShapeType="1"/>
            </p:cNvCxnSpPr>
            <p:nvPr/>
          </p:nvCxnSpPr>
          <p:spPr bwMode="auto">
            <a:xfrm rot="5400000">
              <a:off x="1447800" y="5638800"/>
              <a:ext cx="45720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58" name="TextBox 61"/>
            <p:cNvSpPr txBox="1">
              <a:spLocks noChangeArrowheads="1"/>
            </p:cNvSpPr>
            <p:nvPr/>
          </p:nvSpPr>
          <p:spPr bwMode="auto">
            <a:xfrm>
              <a:off x="1524000" y="5867400"/>
              <a:ext cx="3305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E</a:t>
              </a:r>
            </a:p>
          </p:txBody>
        </p:sp>
        <p:sp>
          <p:nvSpPr>
            <p:cNvPr id="13359" name="Oval 65"/>
            <p:cNvSpPr>
              <a:spLocks noChangeArrowheads="1"/>
            </p:cNvSpPr>
            <p:nvPr/>
          </p:nvSpPr>
          <p:spPr bwMode="auto">
            <a:xfrm>
              <a:off x="3540125" y="5380038"/>
              <a:ext cx="76200" cy="76200"/>
            </a:xfrm>
            <a:prstGeom prst="ellipse">
              <a:avLst/>
            </a:prstGeom>
            <a:solidFill>
              <a:schemeClr val="tx1"/>
            </a:solidFill>
            <a:ln w="222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60" name="Oval 66"/>
            <p:cNvSpPr>
              <a:spLocks noChangeArrowheads="1"/>
            </p:cNvSpPr>
            <p:nvPr/>
          </p:nvSpPr>
          <p:spPr bwMode="auto">
            <a:xfrm>
              <a:off x="2173288" y="5375276"/>
              <a:ext cx="76200" cy="76200"/>
            </a:xfrm>
            <a:prstGeom prst="ellipse">
              <a:avLst/>
            </a:prstGeom>
            <a:solidFill>
              <a:schemeClr val="tx1"/>
            </a:solidFill>
            <a:ln w="222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61" name="TextBox 67"/>
            <p:cNvSpPr txBox="1">
              <a:spLocks noChangeArrowheads="1"/>
            </p:cNvSpPr>
            <p:nvPr/>
          </p:nvSpPr>
          <p:spPr bwMode="auto">
            <a:xfrm>
              <a:off x="2514600" y="5257800"/>
              <a:ext cx="51180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inv1</a:t>
              </a:r>
            </a:p>
          </p:txBody>
        </p:sp>
        <p:sp>
          <p:nvSpPr>
            <p:cNvPr id="13362" name="TextBox 68"/>
            <p:cNvSpPr txBox="1">
              <a:spLocks noChangeArrowheads="1"/>
            </p:cNvSpPr>
            <p:nvPr/>
          </p:nvSpPr>
          <p:spPr bwMode="auto">
            <a:xfrm>
              <a:off x="2971800" y="5867400"/>
              <a:ext cx="51180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inv2</a:t>
              </a:r>
            </a:p>
          </p:txBody>
        </p:sp>
      </p:grp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4419600" y="5410200"/>
            <a:ext cx="3852863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not 		      inv1 (Q,n1)</a:t>
            </a:r>
          </a:p>
          <a:p>
            <a:pPr eaLnBrk="1" hangingPunct="1"/>
            <a:r>
              <a:rPr lang="en-US" altLang="en-US" dirty="0"/>
              <a:t>not (weak0,weak1) inv2 (n1,Q)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77185"/>
            <a:ext cx="6781800" cy="11430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reg</a:t>
            </a:r>
            <a:r>
              <a:rPr lang="en-US" altLang="en-US" sz="4000" dirty="0"/>
              <a:t> (or </a:t>
            </a:r>
            <a:r>
              <a:rPr lang="en-US" alt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altLang="en-US" sz="4000" dirty="0"/>
              <a:t>) in Verilog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22098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reg</a:t>
            </a:r>
            <a:r>
              <a:rPr lang="en-US" altLang="en-US" sz="2800" dirty="0"/>
              <a:t> (or 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altLang="en-US" sz="2800" dirty="0"/>
              <a:t>)</a:t>
            </a:r>
            <a:r>
              <a:rPr lang="en-US" altLang="en-US" dirty="0"/>
              <a:t> are storage nodes</a:t>
            </a:r>
          </a:p>
          <a:p>
            <a:pPr lvl="1" eaLnBrk="1" hangingPunct="1"/>
            <a:r>
              <a:rPr lang="en-US" altLang="en-US" dirty="0"/>
              <a:t>They retain their value till a new value is assigned</a:t>
            </a:r>
          </a:p>
          <a:p>
            <a:pPr lvl="1" eaLnBrk="1" hangingPunct="1"/>
            <a:r>
              <a:rPr lang="en-US" altLang="en-US" dirty="0"/>
              <a:t>Unlike a net (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wire</a:t>
            </a:r>
            <a:r>
              <a:rPr lang="en-US" altLang="en-US" dirty="0"/>
              <a:t>) they do not need a driver</a:t>
            </a:r>
          </a:p>
          <a:p>
            <a:pPr lvl="1" eaLnBrk="1" hangingPunct="1"/>
            <a:r>
              <a:rPr lang="en-US" altLang="en-US" dirty="0"/>
              <a:t>Can be changed in simulation by assigning a new value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E3A04A6-FA2C-40A7-AA78-0D76B11B77F7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199684" name="Rectangle 4"/>
          <p:cNvSpPr>
            <a:spLocks noChangeArrowheads="1"/>
          </p:cNvSpPr>
          <p:nvPr/>
        </p:nvSpPr>
        <p:spPr bwMode="auto">
          <a:xfrm>
            <a:off x="457200" y="3581400"/>
            <a:ext cx="8229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</a:rPr>
              <a:t>Signals of type 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reg</a:t>
            </a:r>
            <a:r>
              <a:rPr lang="en-US" altLang="en-US" sz="2800" dirty="0">
                <a:latin typeface="Times New Roman" panose="02020603050405020304" pitchFamily="18" charset="0"/>
              </a:rPr>
              <a:t> are not necessarily </a:t>
            </a:r>
            <a:r>
              <a:rPr lang="en-US" altLang="en-US" sz="2800" dirty="0" err="1">
                <a:latin typeface="Times New Roman" panose="02020603050405020304" pitchFamily="18" charset="0"/>
              </a:rPr>
              <a:t>FlipFlops</a:t>
            </a:r>
            <a:endParaRPr lang="en-US" altLang="en-US" sz="2800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Anything assigned in an </a:t>
            </a:r>
            <a:r>
              <a:rPr lang="en-US" altLang="en-US" sz="2400" i="1" dirty="0">
                <a:latin typeface="Times New Roman" panose="02020603050405020304" pitchFamily="18" charset="0"/>
              </a:rPr>
              <a:t>always</a:t>
            </a:r>
            <a:r>
              <a:rPr lang="en-US" altLang="en-US" sz="2400" dirty="0">
                <a:latin typeface="Times New Roman" panose="02020603050405020304" pitchFamily="18" charset="0"/>
              </a:rPr>
              <a:t> or </a:t>
            </a:r>
            <a:r>
              <a:rPr lang="en-US" altLang="en-US" sz="2400" i="1" dirty="0">
                <a:latin typeface="Times New Roman" panose="02020603050405020304" pitchFamily="18" charset="0"/>
              </a:rPr>
              <a:t>initial</a:t>
            </a:r>
            <a:r>
              <a:rPr lang="en-US" altLang="en-US" sz="2400" dirty="0">
                <a:latin typeface="Times New Roman" panose="02020603050405020304" pitchFamily="18" charset="0"/>
              </a:rPr>
              <a:t> block must be assigned to a signal of type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reg</a:t>
            </a:r>
            <a:r>
              <a:rPr lang="en-US" altLang="en-US" sz="2400" dirty="0"/>
              <a:t> (or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altLang="en-US" sz="2400" dirty="0"/>
              <a:t>) 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This inconsistency along with people’s inability to keep it straight was part of the motivation for creation of the superset type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altLang="en-US" sz="2400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Just make you life easier by using type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47817"/>
            <a:ext cx="5181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Vectors in Verilog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/>
              <a:t>Vectors are a collection of bits (i.e. 16-bit wide bus)</a:t>
            </a:r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D3AD8B2-8D96-4A04-BDD7-61AFFE80393B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1203325" y="2362200"/>
            <a:ext cx="6950075" cy="1477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////////////////////////////////////////////////////////////////////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// Define the 16-bit busses going in and out of the ALU //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//////////////////////////////////////////////////////////////////</a:t>
            </a:r>
          </a:p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logic</a:t>
            </a:r>
            <a:r>
              <a:rPr lang="en-US" altLang="en-US" dirty="0">
                <a:latin typeface="Tahoma" panose="020B0604030504040204" pitchFamily="34" charset="0"/>
              </a:rPr>
              <a:t> [15:0] src1_bus,src2_bus,dst_bus;</a:t>
            </a:r>
          </a:p>
          <a:p>
            <a:pPr eaLnBrk="1" hangingPunct="1"/>
            <a:endParaRPr lang="en-US" altLang="en-US" dirty="0">
              <a:latin typeface="Tahoma" panose="020B0604030504040204" pitchFamily="34" charset="0"/>
            </a:endParaRPr>
          </a:p>
        </p:txBody>
      </p:sp>
      <p:sp>
        <p:nvSpPr>
          <p:cNvPr id="200709" name="Text Box 5"/>
          <p:cNvSpPr txBox="1">
            <a:spLocks noChangeArrowheads="1"/>
          </p:cNvSpPr>
          <p:nvPr/>
        </p:nvSpPr>
        <p:spPr bwMode="auto">
          <a:xfrm>
            <a:off x="1219200" y="4114800"/>
            <a:ext cx="6697663" cy="12033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///////////////////////////////////////////////////////////////</a:t>
            </a:r>
          </a:p>
          <a:p>
            <a:pPr eaLnBrk="1" hangingPunct="1"/>
            <a:r>
              <a:rPr lang="en-US" altLang="en-US" dirty="0"/>
              <a:t>// State machine has 8 states, need a 3-bit encoding //</a:t>
            </a:r>
          </a:p>
          <a:p>
            <a:pPr eaLnBrk="1" hangingPunct="1"/>
            <a:r>
              <a:rPr lang="en-US" altLang="en-US" dirty="0"/>
              <a:t>/////////////////////////////////////////////////////////////</a:t>
            </a:r>
          </a:p>
          <a:p>
            <a:pPr eaLnBrk="1" hangingPunct="1"/>
            <a:r>
              <a:rPr lang="en-US" altLang="en-US" b="1" dirty="0"/>
              <a:t>reg</a:t>
            </a:r>
            <a:r>
              <a:rPr lang="en-US" altLang="en-US" dirty="0"/>
              <a:t> [2:0] </a:t>
            </a:r>
            <a:r>
              <a:rPr lang="en-US" altLang="en-US" dirty="0" err="1"/>
              <a:t>state,nxt_state</a:t>
            </a:r>
            <a:r>
              <a:rPr lang="en-US" altLang="en-US" dirty="0"/>
              <a:t>;</a:t>
            </a:r>
          </a:p>
        </p:txBody>
      </p:sp>
      <p:sp>
        <p:nvSpPr>
          <p:cNvPr id="200711" name="Rectangle 7"/>
          <p:cNvSpPr>
            <a:spLocks noChangeArrowheads="1"/>
          </p:cNvSpPr>
          <p:nvPr/>
        </p:nvSpPr>
        <p:spPr bwMode="auto">
          <a:xfrm>
            <a:off x="457200" y="55626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>
                <a:latin typeface="Times New Roman" panose="02020603050405020304" pitchFamily="18" charset="0"/>
              </a:rPr>
              <a:t>Bus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≠ Vector (how are they different?)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9" grpId="0" animBg="1"/>
      <p:bldP spid="2007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6477"/>
            <a:ext cx="5410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Vectors in Verilog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/>
              <a:t>Can select parts of a vector (single bit or a range)</a:t>
            </a:r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FECBB2B-1429-4E63-BEA4-4E55A7FF1559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>
            <a:off x="5334000" y="2819400"/>
            <a:ext cx="2057400" cy="533400"/>
          </a:xfrm>
          <a:prstGeom prst="parallelogram">
            <a:avLst>
              <a:gd name="adj" fmla="val 96429"/>
            </a:avLst>
          </a:prstGeom>
          <a:solidFill>
            <a:srgbClr val="6969FF">
              <a:alpha val="30980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left shift</a:t>
            </a:r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6477000" y="25908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6248400" y="2246313"/>
            <a:ext cx="519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src</a:t>
            </a:r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 flipV="1">
            <a:off x="6397625" y="2620963"/>
            <a:ext cx="1524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6096000" y="3352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 flipV="1">
            <a:off x="6019800" y="3429000"/>
            <a:ext cx="1524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5638800" y="3581400"/>
            <a:ext cx="835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result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6232525" y="3360738"/>
            <a:ext cx="377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6629400" y="2438400"/>
            <a:ext cx="377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 flipH="1">
            <a:off x="7086600" y="31242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7543800" y="2971800"/>
            <a:ext cx="973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shft_in</a:t>
            </a:r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 flipH="1">
            <a:off x="5181600" y="3124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4114800" y="2895600"/>
            <a:ext cx="1138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shft_out</a:t>
            </a:r>
          </a:p>
        </p:txBody>
      </p:sp>
      <p:sp>
        <p:nvSpPr>
          <p:cNvPr id="201748" name="Text Box 20"/>
          <p:cNvSpPr txBox="1">
            <a:spLocks noChangeArrowheads="1"/>
          </p:cNvSpPr>
          <p:nvPr/>
        </p:nvSpPr>
        <p:spPr bwMode="auto">
          <a:xfrm>
            <a:off x="381000" y="2175064"/>
            <a:ext cx="8305800" cy="40318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dirty="0"/>
              <a:t>module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lft_shift</a:t>
            </a:r>
            <a:r>
              <a:rPr lang="en-US" altLang="en-US" sz="1600" dirty="0"/>
              <a:t>(</a:t>
            </a:r>
            <a:r>
              <a:rPr lang="en-US" altLang="en-US" sz="1600" dirty="0" err="1"/>
              <a:t>src,shft_in,result,shft_out</a:t>
            </a:r>
            <a:r>
              <a:rPr lang="en-US" altLang="en-US" sz="1600" dirty="0"/>
              <a:t>);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b="1" dirty="0"/>
              <a:t>input</a:t>
            </a:r>
            <a:r>
              <a:rPr lang="en-US" altLang="en-US" sz="1600" dirty="0"/>
              <a:t> [15:0] </a:t>
            </a:r>
            <a:r>
              <a:rPr lang="en-US" altLang="en-US" sz="1600" dirty="0" err="1"/>
              <a:t>src</a:t>
            </a:r>
            <a:r>
              <a:rPr lang="en-US" altLang="en-US" sz="1600" dirty="0"/>
              <a:t>;</a:t>
            </a:r>
          </a:p>
          <a:p>
            <a:pPr eaLnBrk="1" hangingPunct="1"/>
            <a:r>
              <a:rPr lang="en-US" altLang="en-US" sz="1600" b="1" dirty="0"/>
              <a:t>input</a:t>
            </a:r>
            <a:r>
              <a:rPr lang="en-US" altLang="en-US" sz="1600" dirty="0"/>
              <a:t> </a:t>
            </a:r>
            <a:r>
              <a:rPr lang="en-US" altLang="en-US" sz="1600" dirty="0" err="1"/>
              <a:t>shft_in</a:t>
            </a:r>
            <a:r>
              <a:rPr lang="en-US" altLang="en-US" sz="1600" dirty="0"/>
              <a:t>;</a:t>
            </a:r>
          </a:p>
          <a:p>
            <a:pPr eaLnBrk="1" hangingPunct="1"/>
            <a:r>
              <a:rPr lang="en-US" altLang="en-US" sz="1600" b="1" dirty="0"/>
              <a:t>output</a:t>
            </a:r>
            <a:r>
              <a:rPr lang="en-US" altLang="en-US" sz="1600" dirty="0"/>
              <a:t> [15:0] result;</a:t>
            </a:r>
          </a:p>
          <a:p>
            <a:pPr eaLnBrk="1" hangingPunct="1"/>
            <a:r>
              <a:rPr lang="en-US" altLang="en-US" sz="1600" b="1" dirty="0"/>
              <a:t>output</a:t>
            </a:r>
            <a:r>
              <a:rPr lang="en-US" altLang="en-US" sz="1600" dirty="0"/>
              <a:t> </a:t>
            </a:r>
            <a:r>
              <a:rPr lang="en-US" altLang="en-US" sz="1600" dirty="0" err="1"/>
              <a:t>shft_out</a:t>
            </a:r>
            <a:r>
              <a:rPr lang="en-US" altLang="en-US" sz="1600" dirty="0"/>
              <a:t>;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dirty="0"/>
              <a:t>/////////////////////////////////////////////////////////////////////////</a:t>
            </a:r>
          </a:p>
          <a:p>
            <a:pPr eaLnBrk="1" hangingPunct="1"/>
            <a:r>
              <a:rPr lang="en-US" altLang="en-US" sz="1600" dirty="0"/>
              <a:t>// Can access 15 LSB’s of </a:t>
            </a:r>
            <a:r>
              <a:rPr lang="en-US" altLang="en-US" sz="1600" dirty="0" err="1"/>
              <a:t>src</a:t>
            </a:r>
            <a:r>
              <a:rPr lang="en-US" altLang="en-US" sz="1600" dirty="0"/>
              <a:t> with [14:0] selector                   //</a:t>
            </a:r>
          </a:p>
          <a:p>
            <a:pPr eaLnBrk="1" hangingPunct="1"/>
            <a:r>
              <a:rPr lang="en-US" altLang="en-US" sz="1600" dirty="0"/>
              <a:t>// { , } is a process of concatenating two vectors to form one //</a:t>
            </a:r>
          </a:p>
          <a:p>
            <a:pPr eaLnBrk="1" hangingPunct="1"/>
            <a:r>
              <a:rPr lang="en-US" altLang="en-US" sz="1600" dirty="0"/>
              <a:t>//////////////////////////////////////////////////////////////////////</a:t>
            </a:r>
          </a:p>
          <a:p>
            <a:pPr eaLnBrk="1" hangingPunct="1"/>
            <a:r>
              <a:rPr lang="en-US" altLang="en-US" sz="1600" b="1" dirty="0"/>
              <a:t>assign</a:t>
            </a:r>
            <a:r>
              <a:rPr lang="en-US" altLang="en-US" sz="1600" dirty="0"/>
              <a:t> result = {</a:t>
            </a:r>
            <a:r>
              <a:rPr lang="en-US" altLang="en-US" sz="1600" dirty="0" err="1"/>
              <a:t>src</a:t>
            </a:r>
            <a:r>
              <a:rPr lang="en-US" altLang="en-US" sz="1600" dirty="0"/>
              <a:t>[14:0],</a:t>
            </a:r>
            <a:r>
              <a:rPr lang="en-US" altLang="en-US" sz="1600" dirty="0" err="1"/>
              <a:t>shft_in</a:t>
            </a:r>
            <a:r>
              <a:rPr lang="en-US" altLang="en-US" sz="1600" dirty="0"/>
              <a:t>};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b="1" dirty="0"/>
              <a:t>assign</a:t>
            </a:r>
            <a:r>
              <a:rPr lang="en-US" altLang="en-US" sz="1600" dirty="0"/>
              <a:t> </a:t>
            </a:r>
            <a:r>
              <a:rPr lang="en-US" altLang="en-US" sz="1600" dirty="0" err="1"/>
              <a:t>shft_out</a:t>
            </a:r>
            <a:r>
              <a:rPr lang="en-US" altLang="en-US" sz="1600" dirty="0"/>
              <a:t> = </a:t>
            </a:r>
            <a:r>
              <a:rPr lang="en-US" altLang="en-US" sz="1600" dirty="0" err="1"/>
              <a:t>src</a:t>
            </a:r>
            <a:r>
              <a:rPr lang="en-US" altLang="en-US" sz="1600" dirty="0"/>
              <a:t>[15];	// can access a single bit MSB with [15]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b="1" dirty="0" err="1"/>
              <a:t>endmodule</a:t>
            </a:r>
            <a:endParaRPr lang="en-US" alt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8911C8-A1A9-44FD-8AC9-BCAA66A7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4425BC-E1C5-4114-B167-8A9C316E36C6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533400"/>
            <a:ext cx="54102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 dirty="0"/>
              <a:t>Concatenation { }</a:t>
            </a:r>
          </a:p>
        </p:txBody>
      </p:sp>
      <p:sp>
        <p:nvSpPr>
          <p:cNvPr id="4" name="Text Box 20">
            <a:extLst>
              <a:ext uri="{FF2B5EF4-FFF2-40B4-BE49-F238E27FC236}">
                <a16:creationId xmlns:a16="http://schemas.microsoft.com/office/drawing/2014/main" id="{19763EBA-DDB8-4C55-8BC9-45782873E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1600200"/>
            <a:ext cx="8305800" cy="230832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dirty="0"/>
              <a:t>module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off_corr</a:t>
            </a:r>
            <a:r>
              <a:rPr lang="en-US" altLang="en-US" sz="1600" dirty="0"/>
              <a:t>(</a:t>
            </a:r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input</a:t>
            </a:r>
            <a:r>
              <a:rPr lang="en-US" altLang="en-US" sz="1600" dirty="0"/>
              <a:t> [15:0] </a:t>
            </a:r>
            <a:r>
              <a:rPr lang="en-US" altLang="en-US" sz="1600" dirty="0" err="1"/>
              <a:t>raw_sensor</a:t>
            </a:r>
            <a:r>
              <a:rPr lang="en-US" altLang="en-US" sz="1600" dirty="0"/>
              <a:t>,	// raw signed 16-bit sensor reading</a:t>
            </a:r>
          </a:p>
          <a:p>
            <a:pPr eaLnBrk="1" hangingPunct="1"/>
            <a:r>
              <a:rPr lang="en-US" altLang="en-US" sz="1600" b="1" dirty="0"/>
              <a:t>  input </a:t>
            </a:r>
            <a:r>
              <a:rPr lang="en-US" altLang="en-US" sz="1600" dirty="0"/>
              <a:t>[7:0] offset,		// +/- offset to correct sensor reading</a:t>
            </a:r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output</a:t>
            </a:r>
            <a:r>
              <a:rPr lang="en-US" altLang="en-US" sz="1600" dirty="0"/>
              <a:t> [15:0] </a:t>
            </a:r>
            <a:r>
              <a:rPr lang="en-US" altLang="en-US" sz="1600" dirty="0" err="1"/>
              <a:t>corr_sensor</a:t>
            </a:r>
            <a:r>
              <a:rPr lang="en-US" altLang="en-US" sz="1600" dirty="0"/>
              <a:t>	// corrected sensor reading</a:t>
            </a:r>
          </a:p>
          <a:p>
            <a:pPr eaLnBrk="1" hangingPunct="1"/>
            <a:r>
              <a:rPr lang="en-US" altLang="en-US" sz="1600" dirty="0"/>
              <a:t>);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assign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corr_sensor</a:t>
            </a:r>
            <a:r>
              <a:rPr lang="en-US" altLang="en-US" sz="1600" dirty="0"/>
              <a:t> = </a:t>
            </a:r>
            <a:r>
              <a:rPr lang="en-US" altLang="en-US" sz="1600" dirty="0" err="1"/>
              <a:t>raw_sensor</a:t>
            </a:r>
            <a:r>
              <a:rPr lang="en-US" altLang="en-US" sz="1600" dirty="0"/>
              <a:t> + offset;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b="1" dirty="0" err="1"/>
              <a:t>endmodule</a:t>
            </a:r>
            <a:endParaRPr lang="en-US" altLang="en-US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45FC3-49BB-48F9-8E0B-ABE20DADF97E}"/>
              </a:ext>
            </a:extLst>
          </p:cNvPr>
          <p:cNvSpPr txBox="1"/>
          <p:nvPr/>
        </p:nvSpPr>
        <p:spPr>
          <a:xfrm>
            <a:off x="609600" y="4495800"/>
            <a:ext cx="523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wrong with this implementation?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C810F-DDF5-4F29-8812-6A5F442B3D3F}"/>
              </a:ext>
            </a:extLst>
          </p:cNvPr>
          <p:cNvSpPr txBox="1"/>
          <p:nvPr/>
        </p:nvSpPr>
        <p:spPr>
          <a:xfrm>
            <a:off x="609600" y="5073134"/>
            <a:ext cx="72022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effectively the same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	</a:t>
            </a:r>
            <a:r>
              <a:rPr lang="en-US" b="1" dirty="0"/>
              <a:t>assign</a:t>
            </a:r>
            <a:r>
              <a:rPr lang="en-US" dirty="0"/>
              <a:t> </a:t>
            </a:r>
            <a:r>
              <a:rPr lang="en-US" dirty="0" err="1"/>
              <a:t>corr_sensor</a:t>
            </a:r>
            <a:r>
              <a:rPr lang="en-US" dirty="0"/>
              <a:t> = </a:t>
            </a:r>
            <a:r>
              <a:rPr lang="en-US" dirty="0" err="1"/>
              <a:t>raw_sensor</a:t>
            </a:r>
            <a:r>
              <a:rPr lang="en-US" dirty="0"/>
              <a:t> + {8’h00,offset};</a:t>
            </a:r>
          </a:p>
        </p:txBody>
      </p:sp>
    </p:spTree>
    <p:extLst>
      <p:ext uri="{BB962C8B-B14F-4D97-AF65-F5344CB8AC3E}">
        <p14:creationId xmlns:p14="http://schemas.microsoft.com/office/powerpoint/2010/main" val="378218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8911C8-A1A9-44FD-8AC9-BCAA66A7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4425BC-E1C5-4114-B167-8A9C316E36C6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533400"/>
            <a:ext cx="76200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 dirty="0"/>
              <a:t>Concatenation { } </a:t>
            </a:r>
            <a:r>
              <a:rPr lang="en-US" altLang="en-US" sz="2400" dirty="0"/>
              <a:t>(fixing it by sign extension)</a:t>
            </a:r>
          </a:p>
        </p:txBody>
      </p:sp>
      <p:sp>
        <p:nvSpPr>
          <p:cNvPr id="4" name="Text Box 20">
            <a:extLst>
              <a:ext uri="{FF2B5EF4-FFF2-40B4-BE49-F238E27FC236}">
                <a16:creationId xmlns:a16="http://schemas.microsoft.com/office/drawing/2014/main" id="{19763EBA-DDB8-4C55-8BC9-45782873E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1600200"/>
            <a:ext cx="8305800" cy="255454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dirty="0"/>
              <a:t>module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off_corr</a:t>
            </a:r>
            <a:r>
              <a:rPr lang="en-US" altLang="en-US" sz="1600" dirty="0"/>
              <a:t>(</a:t>
            </a:r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input</a:t>
            </a:r>
            <a:r>
              <a:rPr lang="en-US" altLang="en-US" sz="1600" dirty="0"/>
              <a:t> [15:0] </a:t>
            </a:r>
            <a:r>
              <a:rPr lang="en-US" altLang="en-US" sz="1600" dirty="0" err="1"/>
              <a:t>raw_sensor</a:t>
            </a:r>
            <a:r>
              <a:rPr lang="en-US" altLang="en-US" sz="1600" dirty="0"/>
              <a:t>,	// raw signed 16-bit sensor reading</a:t>
            </a:r>
          </a:p>
          <a:p>
            <a:pPr eaLnBrk="1" hangingPunct="1"/>
            <a:r>
              <a:rPr lang="en-US" altLang="en-US" sz="1600" b="1" dirty="0"/>
              <a:t>  input </a:t>
            </a:r>
            <a:r>
              <a:rPr lang="en-US" altLang="en-US" sz="1600" dirty="0"/>
              <a:t>[7:0] offset,		// +/- offset to correct sensor reading</a:t>
            </a:r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output</a:t>
            </a:r>
            <a:r>
              <a:rPr lang="en-US" altLang="en-US" sz="1600" dirty="0"/>
              <a:t> [15:0] </a:t>
            </a:r>
            <a:r>
              <a:rPr lang="en-US" altLang="en-US" sz="1600" dirty="0" err="1"/>
              <a:t>corr_sensor</a:t>
            </a:r>
            <a:r>
              <a:rPr lang="en-US" altLang="en-US" sz="1600" dirty="0"/>
              <a:t>	// corrected sensor reading</a:t>
            </a:r>
          </a:p>
          <a:p>
            <a:pPr eaLnBrk="1" hangingPunct="1"/>
            <a:r>
              <a:rPr lang="en-US" altLang="en-US" sz="1600" dirty="0"/>
              <a:t>);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assign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corr_sensor</a:t>
            </a:r>
            <a:r>
              <a:rPr lang="en-US" altLang="en-US" sz="1600" dirty="0"/>
              <a:t> = </a:t>
            </a:r>
            <a:r>
              <a:rPr lang="en-US" altLang="en-US" sz="1600" dirty="0" err="1"/>
              <a:t>raw_sensor</a:t>
            </a:r>
            <a:r>
              <a:rPr lang="en-US" altLang="en-US" sz="1600" dirty="0"/>
              <a:t> + {offset[7],offset[7],offset[7],offset[7],</a:t>
            </a:r>
          </a:p>
          <a:p>
            <a:pPr eaLnBrk="1" hangingPunct="1"/>
            <a:r>
              <a:rPr lang="en-US" altLang="en-US" sz="1600" dirty="0"/>
              <a:t>                                  offset[7],offset[7],offset[7],offset[7],offset};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b="1" dirty="0" err="1"/>
              <a:t>endmodule</a:t>
            </a:r>
            <a:endParaRPr lang="en-US" altLang="en-US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45FC3-49BB-48F9-8E0B-ABE20DADF97E}"/>
              </a:ext>
            </a:extLst>
          </p:cNvPr>
          <p:cNvSpPr txBox="1"/>
          <p:nvPr/>
        </p:nvSpPr>
        <p:spPr>
          <a:xfrm>
            <a:off x="609600" y="4495800"/>
            <a:ext cx="623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 extension is a replication of the MSB’s right?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C810F-DDF5-4F29-8812-6A5F442B3D3F}"/>
              </a:ext>
            </a:extLst>
          </p:cNvPr>
          <p:cNvSpPr txBox="1"/>
          <p:nvPr/>
        </p:nvSpPr>
        <p:spPr>
          <a:xfrm>
            <a:off x="609600" y="5073134"/>
            <a:ext cx="3797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must be a better way!</a:t>
            </a:r>
          </a:p>
        </p:txBody>
      </p:sp>
    </p:spTree>
    <p:extLst>
      <p:ext uri="{BB962C8B-B14F-4D97-AF65-F5344CB8AC3E}">
        <p14:creationId xmlns:p14="http://schemas.microsoft.com/office/powerpoint/2010/main" val="435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8911C8-A1A9-44FD-8AC9-BCAA66A7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4425BC-E1C5-4114-B167-8A9C316E36C6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533400"/>
            <a:ext cx="76200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 dirty="0"/>
              <a:t>Replication {N{sig}} </a:t>
            </a:r>
            <a:r>
              <a:rPr lang="en-US" altLang="en-US" sz="2400" dirty="0"/>
              <a:t>(sign extension)</a:t>
            </a:r>
          </a:p>
        </p:txBody>
      </p:sp>
      <p:sp>
        <p:nvSpPr>
          <p:cNvPr id="4" name="Text Box 20">
            <a:extLst>
              <a:ext uri="{FF2B5EF4-FFF2-40B4-BE49-F238E27FC236}">
                <a16:creationId xmlns:a16="http://schemas.microsoft.com/office/drawing/2014/main" id="{19763EBA-DDB8-4C55-8BC9-45782873E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819400"/>
            <a:ext cx="8305800" cy="230832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dirty="0"/>
              <a:t>module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off_corr</a:t>
            </a:r>
            <a:r>
              <a:rPr lang="en-US" altLang="en-US" sz="1600" dirty="0"/>
              <a:t>(</a:t>
            </a:r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input</a:t>
            </a:r>
            <a:r>
              <a:rPr lang="en-US" altLang="en-US" sz="1600" dirty="0"/>
              <a:t> [15:0] </a:t>
            </a:r>
            <a:r>
              <a:rPr lang="en-US" altLang="en-US" sz="1600" dirty="0" err="1"/>
              <a:t>raw_sensor</a:t>
            </a:r>
            <a:r>
              <a:rPr lang="en-US" altLang="en-US" sz="1600" dirty="0"/>
              <a:t>,	// raw signed 16-bit sensor reading</a:t>
            </a:r>
          </a:p>
          <a:p>
            <a:pPr eaLnBrk="1" hangingPunct="1"/>
            <a:r>
              <a:rPr lang="en-US" altLang="en-US" sz="1600" b="1" dirty="0"/>
              <a:t>  input </a:t>
            </a:r>
            <a:r>
              <a:rPr lang="en-US" altLang="en-US" sz="1600" dirty="0"/>
              <a:t>[7:0] offset,		// +/- offset to correct sensor reading</a:t>
            </a:r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output</a:t>
            </a:r>
            <a:r>
              <a:rPr lang="en-US" altLang="en-US" sz="1600" dirty="0"/>
              <a:t> [15:0] </a:t>
            </a:r>
            <a:r>
              <a:rPr lang="en-US" altLang="en-US" sz="1600" dirty="0" err="1"/>
              <a:t>corr_sensor</a:t>
            </a:r>
            <a:r>
              <a:rPr lang="en-US" altLang="en-US" sz="1600" dirty="0"/>
              <a:t>	// corrected sensor reading</a:t>
            </a:r>
          </a:p>
          <a:p>
            <a:pPr eaLnBrk="1" hangingPunct="1"/>
            <a:r>
              <a:rPr lang="en-US" altLang="en-US" sz="1600" dirty="0"/>
              <a:t>);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assign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corr_sensor</a:t>
            </a:r>
            <a:r>
              <a:rPr lang="en-US" altLang="en-US" sz="1600" dirty="0"/>
              <a:t> = </a:t>
            </a:r>
            <a:r>
              <a:rPr lang="en-US" altLang="en-US" sz="1600" dirty="0" err="1"/>
              <a:t>raw_sensor</a:t>
            </a:r>
            <a:r>
              <a:rPr lang="en-US" altLang="en-US" sz="1600" dirty="0"/>
              <a:t> + {{8{offset[7]}}, offset};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b="1" dirty="0" err="1"/>
              <a:t>endmodule</a:t>
            </a:r>
            <a:endParaRPr lang="en-US" altLang="en-US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45FC3-49BB-48F9-8E0B-ABE20DADF97E}"/>
              </a:ext>
            </a:extLst>
          </p:cNvPr>
          <p:cNvSpPr txBox="1"/>
          <p:nvPr/>
        </p:nvSpPr>
        <p:spPr>
          <a:xfrm>
            <a:off x="609600" y="1426309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digit (N) can be a placed in front of a set of { } to replicate whatever scalar or vector quantity is inside the curly braces.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C810F-DDF5-4F29-8812-6A5F442B3D3F}"/>
              </a:ext>
            </a:extLst>
          </p:cNvPr>
          <p:cNvSpPr txBox="1"/>
          <p:nvPr/>
        </p:nvSpPr>
        <p:spPr>
          <a:xfrm>
            <a:off x="617220" y="2199977"/>
            <a:ext cx="5939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{2’b00,{3{2’b10}},2’b11} = 10’b0010101011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00B59B8E-5C8B-46D4-BAB7-092ABF514D9D}"/>
              </a:ext>
            </a:extLst>
          </p:cNvPr>
          <p:cNvSpPr/>
          <p:nvPr/>
        </p:nvSpPr>
        <p:spPr bwMode="auto">
          <a:xfrm rot="5400000">
            <a:off x="5486400" y="4038600"/>
            <a:ext cx="228600" cy="1447800"/>
          </a:xfrm>
          <a:prstGeom prst="rightBrac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1DEB3-F287-4FA1-BCD9-5E7D43D97ECE}"/>
              </a:ext>
            </a:extLst>
          </p:cNvPr>
          <p:cNvSpPr txBox="1"/>
          <p:nvPr/>
        </p:nvSpPr>
        <p:spPr>
          <a:xfrm>
            <a:off x="4762501" y="5179883"/>
            <a:ext cx="33147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sign extension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(NOTE: the curly braces around the replicated quantity)</a:t>
            </a:r>
          </a:p>
        </p:txBody>
      </p:sp>
    </p:spTree>
    <p:extLst>
      <p:ext uri="{BB962C8B-B14F-4D97-AF65-F5344CB8AC3E}">
        <p14:creationId xmlns:p14="http://schemas.microsoft.com/office/powerpoint/2010/main" val="39725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8911C8-A1A9-44FD-8AC9-BCAA66A7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4425BC-E1C5-4114-B167-8A9C316E36C6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381000"/>
            <a:ext cx="76200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 dirty="0"/>
              <a:t>Other Handy Uses of { }</a:t>
            </a:r>
            <a:endParaRPr lang="en-US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C810F-DDF5-4F29-8812-6A5F442B3D3F}"/>
              </a:ext>
            </a:extLst>
          </p:cNvPr>
          <p:cNvSpPr txBox="1"/>
          <p:nvPr/>
        </p:nvSpPr>
        <p:spPr>
          <a:xfrm>
            <a:off x="615332" y="1348397"/>
            <a:ext cx="816486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assign</a:t>
            </a:r>
            <a:r>
              <a:rPr lang="en-US" dirty="0"/>
              <a:t> signedDiv8 = {{3{value[15]}},value[15:3]};	// ASR 3-bits</a:t>
            </a:r>
          </a:p>
          <a:p>
            <a:endParaRPr lang="en-US" dirty="0"/>
          </a:p>
          <a:p>
            <a:r>
              <a:rPr lang="en-US" b="1" dirty="0"/>
              <a:t>assign</a:t>
            </a:r>
            <a:r>
              <a:rPr lang="en-US" dirty="0"/>
              <a:t> signedDiv8 = (value&gt;&gt;&gt;3);		// watch it!</a:t>
            </a:r>
          </a:p>
          <a:p>
            <a:endParaRPr lang="en-US" b="1" dirty="0"/>
          </a:p>
          <a:p>
            <a:r>
              <a:rPr lang="en-US" b="1" dirty="0"/>
              <a:t>assign</a:t>
            </a:r>
            <a:r>
              <a:rPr lang="en-US" dirty="0"/>
              <a:t> rotated = {value[0],value[15:1]};	// RR 1-bit  </a:t>
            </a:r>
          </a:p>
          <a:p>
            <a:endParaRPr lang="en-US" dirty="0"/>
          </a:p>
          <a:p>
            <a:r>
              <a:rPr lang="en-US" dirty="0"/>
              <a:t>Can also do concatenation on left hand side.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Box 20">
            <a:extLst>
              <a:ext uri="{FF2B5EF4-FFF2-40B4-BE49-F238E27FC236}">
                <a16:creationId xmlns:a16="http://schemas.microsoft.com/office/drawing/2014/main" id="{81A9C5FC-78C4-4275-8A2A-EB72874A3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32" y="3758117"/>
            <a:ext cx="8071468" cy="255454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dirty="0"/>
              <a:t>module</a:t>
            </a:r>
            <a:r>
              <a:rPr lang="en-US" altLang="en-US" sz="1600" dirty="0"/>
              <a:t> add(</a:t>
            </a:r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input</a:t>
            </a:r>
            <a:r>
              <a:rPr lang="en-US" altLang="en-US" sz="1600" dirty="0"/>
              <a:t> [15:0] </a:t>
            </a:r>
            <a:r>
              <a:rPr lang="en-US" altLang="en-US" sz="1600" dirty="0" err="1"/>
              <a:t>A_op</a:t>
            </a:r>
            <a:r>
              <a:rPr lang="en-US" altLang="en-US" sz="1600" dirty="0"/>
              <a:t>, </a:t>
            </a:r>
            <a:r>
              <a:rPr lang="en-US" altLang="en-US" sz="1600" dirty="0" err="1"/>
              <a:t>B_op</a:t>
            </a:r>
            <a:r>
              <a:rPr lang="en-US" altLang="en-US" sz="1600" dirty="0"/>
              <a:t>	,	// operands to be summed</a:t>
            </a:r>
          </a:p>
          <a:p>
            <a:pPr eaLnBrk="1" hangingPunct="1"/>
            <a:r>
              <a:rPr lang="en-US" altLang="en-US" sz="1600" b="1" dirty="0"/>
              <a:t>  input </a:t>
            </a:r>
            <a:r>
              <a:rPr lang="en-US" altLang="en-US" sz="1600" dirty="0" err="1"/>
              <a:t>Cin</a:t>
            </a:r>
            <a:r>
              <a:rPr lang="en-US" altLang="en-US" sz="1600" dirty="0"/>
              <a:t>,			// carry in bit</a:t>
            </a:r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output</a:t>
            </a:r>
            <a:r>
              <a:rPr lang="en-US" altLang="en-US" sz="1600" dirty="0"/>
              <a:t> [15:0] sum,		// 16-bit sum</a:t>
            </a:r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output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Cout</a:t>
            </a:r>
            <a:r>
              <a:rPr lang="en-US" altLang="en-US" sz="1600" dirty="0"/>
              <a:t>			// carry out</a:t>
            </a:r>
          </a:p>
          <a:p>
            <a:pPr eaLnBrk="1" hangingPunct="1"/>
            <a:r>
              <a:rPr lang="en-US" altLang="en-US" sz="1600" dirty="0"/>
              <a:t>);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dirty="0"/>
              <a:t>  </a:t>
            </a:r>
            <a:r>
              <a:rPr lang="en-US" altLang="en-US" sz="1600" b="1" dirty="0"/>
              <a:t>assign</a:t>
            </a:r>
            <a:r>
              <a:rPr lang="en-US" altLang="en-US" sz="1600" dirty="0"/>
              <a:t> {</a:t>
            </a:r>
            <a:r>
              <a:rPr lang="en-US" altLang="en-US" sz="1600" dirty="0" err="1"/>
              <a:t>Cout,sum</a:t>
            </a:r>
            <a:r>
              <a:rPr lang="en-US" altLang="en-US" sz="1600" dirty="0"/>
              <a:t>} = </a:t>
            </a:r>
            <a:r>
              <a:rPr lang="en-US" altLang="en-US" sz="1600" dirty="0" err="1"/>
              <a:t>A_op</a:t>
            </a:r>
            <a:r>
              <a:rPr lang="en-US" altLang="en-US" sz="1600" dirty="0"/>
              <a:t> + </a:t>
            </a:r>
            <a:r>
              <a:rPr lang="en-US" altLang="en-US" sz="1600" dirty="0" err="1"/>
              <a:t>B_op</a:t>
            </a:r>
            <a:r>
              <a:rPr lang="en-US" altLang="en-US" sz="1600" dirty="0"/>
              <a:t> + </a:t>
            </a:r>
            <a:r>
              <a:rPr lang="en-US" altLang="en-US" sz="1600" dirty="0" err="1"/>
              <a:t>Cin</a:t>
            </a:r>
            <a:r>
              <a:rPr lang="en-US" altLang="en-US" sz="1600" dirty="0"/>
              <a:t>;       // could be 17-bit result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1600" b="1" dirty="0" err="1"/>
              <a:t>endmodule</a:t>
            </a:r>
            <a:endParaRPr lang="en-US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46650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527254" y="7962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Concatenation in port list</a:t>
            </a:r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B2A5BD9-558F-42F8-9D64-06D8C4AD44BA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  <p:sp>
        <p:nvSpPr>
          <p:cNvPr id="35845" name="Rectangle 7"/>
          <p:cNvSpPr>
            <a:spLocks noChangeArrowheads="1"/>
          </p:cNvSpPr>
          <p:nvPr/>
        </p:nvSpPr>
        <p:spPr bwMode="auto">
          <a:xfrm>
            <a:off x="527254" y="1308690"/>
            <a:ext cx="8007146" cy="261610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en-US" b="1" dirty="0"/>
              <a:t>module </a:t>
            </a:r>
            <a:r>
              <a:rPr kumimoji="1" lang="en-US" altLang="en-US" dirty="0" err="1"/>
              <a:t>add_concatenate</a:t>
            </a:r>
            <a:r>
              <a:rPr kumimoji="1" lang="en-US" altLang="en-US" dirty="0"/>
              <a:t>(out, a, b, c, d);</a:t>
            </a:r>
            <a:endParaRPr kumimoji="1" lang="en-US" altLang="en-US" b="1" dirty="0"/>
          </a:p>
          <a:p>
            <a:pPr eaLnBrk="1" hangingPunct="1"/>
            <a:r>
              <a:rPr kumimoji="1" lang="en-US" altLang="en-US" b="1" dirty="0"/>
              <a:t>    input</a:t>
            </a:r>
            <a:r>
              <a:rPr kumimoji="1" lang="en-US" altLang="en-US" dirty="0"/>
              <a:t> [7:0] a;</a:t>
            </a:r>
          </a:p>
          <a:p>
            <a:pPr eaLnBrk="1" hangingPunct="1"/>
            <a:r>
              <a:rPr kumimoji="1" lang="en-US" altLang="en-US" b="1" dirty="0"/>
              <a:t>    input</a:t>
            </a:r>
            <a:r>
              <a:rPr kumimoji="1" lang="en-US" altLang="en-US" dirty="0"/>
              <a:t> [4:0] b;</a:t>
            </a:r>
          </a:p>
          <a:p>
            <a:pPr eaLnBrk="1" hangingPunct="1"/>
            <a:r>
              <a:rPr kumimoji="1" lang="en-US" altLang="en-US" b="1" dirty="0"/>
              <a:t>    input</a:t>
            </a:r>
            <a:r>
              <a:rPr kumimoji="1" lang="en-US" altLang="en-US" dirty="0"/>
              <a:t> [1:0] c;</a:t>
            </a:r>
          </a:p>
          <a:p>
            <a:pPr eaLnBrk="1" hangingPunct="1"/>
            <a:r>
              <a:rPr kumimoji="1" lang="en-US" altLang="en-US" b="1" dirty="0"/>
              <a:t>    input</a:t>
            </a:r>
            <a:r>
              <a:rPr kumimoji="1" lang="en-US" altLang="en-US" dirty="0"/>
              <a:t> d;</a:t>
            </a:r>
          </a:p>
          <a:p>
            <a:pPr eaLnBrk="1" hangingPunct="1"/>
            <a:r>
              <a:rPr kumimoji="1" lang="en-US" altLang="en-US" b="1" dirty="0"/>
              <a:t>    output </a:t>
            </a:r>
            <a:r>
              <a:rPr kumimoji="1" lang="en-US" altLang="en-US" dirty="0"/>
              <a:t>[7:0] out;</a:t>
            </a:r>
          </a:p>
          <a:p>
            <a:pPr eaLnBrk="1" hangingPunct="1"/>
            <a:endParaRPr kumimoji="1" lang="en-US" altLang="en-US" sz="1000" dirty="0"/>
          </a:p>
          <a:p>
            <a:pPr eaLnBrk="1" hangingPunct="1"/>
            <a:r>
              <a:rPr kumimoji="1" lang="en-US" altLang="en-US" dirty="0"/>
              <a:t>    add8bit(.sum(out), .</a:t>
            </a:r>
            <a:r>
              <a:rPr kumimoji="1" lang="en-US" altLang="en-US" dirty="0" err="1"/>
              <a:t>cout</a:t>
            </a:r>
            <a:r>
              <a:rPr kumimoji="1" lang="en-US" altLang="en-US" dirty="0"/>
              <a:t>(), .a(a), .b({</a:t>
            </a:r>
            <a:r>
              <a:rPr kumimoji="1" lang="en-US" altLang="en-US" dirty="0" err="1"/>
              <a:t>b,c,d</a:t>
            </a:r>
            <a:r>
              <a:rPr kumimoji="1" lang="en-US" altLang="en-US" dirty="0"/>
              <a:t>}), .</a:t>
            </a:r>
            <a:r>
              <a:rPr kumimoji="1" lang="en-US" altLang="en-US" dirty="0" err="1"/>
              <a:t>cin</a:t>
            </a:r>
            <a:r>
              <a:rPr kumimoji="1" lang="en-US" altLang="en-US" dirty="0"/>
              <a:t>(</a:t>
            </a:r>
            <a:r>
              <a:rPr kumimoji="1" lang="en-US" altLang="en-US" dirty="0" err="1"/>
              <a:t>Cin</a:t>
            </a:r>
            <a:r>
              <a:rPr kumimoji="1" lang="en-US" altLang="en-US" dirty="0"/>
              <a:t>));</a:t>
            </a:r>
          </a:p>
          <a:p>
            <a:pPr eaLnBrk="1" hangingPunct="1"/>
            <a:endParaRPr kumimoji="1" lang="en-US" altLang="en-US" sz="1000" dirty="0"/>
          </a:p>
          <a:p>
            <a:pPr eaLnBrk="1" hangingPunct="1"/>
            <a:r>
              <a:rPr kumimoji="1" lang="en-US" altLang="en-US" b="1" dirty="0" err="1"/>
              <a:t>endmodule</a:t>
            </a:r>
            <a:endParaRPr kumimoji="1" lang="en-US" altLang="en-US" dirty="0"/>
          </a:p>
        </p:txBody>
      </p:sp>
      <p:sp>
        <p:nvSpPr>
          <p:cNvPr id="35846" name="Rectangle 8"/>
          <p:cNvSpPr>
            <a:spLocks noChangeArrowheads="1"/>
          </p:cNvSpPr>
          <p:nvPr/>
        </p:nvSpPr>
        <p:spPr bwMode="auto">
          <a:xfrm>
            <a:off x="527254" y="4033718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</a:rPr>
              <a:t>Vector concatenation is not limited to </a:t>
            </a:r>
            <a:r>
              <a:rPr lang="en-US" altLang="en-US" dirty="0">
                <a:latin typeface="Tahoma" panose="020B0604030504040204" pitchFamily="34" charset="0"/>
              </a:rPr>
              <a:t>assign</a:t>
            </a:r>
            <a:r>
              <a:rPr lang="en-US" altLang="en-US" dirty="0">
                <a:latin typeface="Times New Roman" panose="02020603050405020304" pitchFamily="18" charset="0"/>
              </a:rPr>
              <a:t> statements.  In these examples it is done in a port connection of a module instantiation.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55F7E-3860-4D2F-BF0A-C38220FCAA01}"/>
              </a:ext>
            </a:extLst>
          </p:cNvPr>
          <p:cNvSpPr txBox="1"/>
          <p:nvPr/>
        </p:nvSpPr>
        <p:spPr>
          <a:xfrm>
            <a:off x="2774544" y="6109831"/>
            <a:ext cx="3512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Example from Aaron Cohen’s Verilog Guide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970F5F-9016-40BE-B4CC-B2C8AB9FE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4658558"/>
            <a:ext cx="8763000" cy="1503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40350-0929-410C-9F5A-B80E153F1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7E56F-A426-4A3E-9136-E74CA3CF9570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83292-CC13-4EFB-B2FF-2D00201F3B34}"/>
              </a:ext>
            </a:extLst>
          </p:cNvPr>
          <p:cNvSpPr txBox="1"/>
          <p:nvPr/>
        </p:nvSpPr>
        <p:spPr>
          <a:xfrm>
            <a:off x="2895600" y="3059668"/>
            <a:ext cx="3195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 of part I of Lecture02</a:t>
            </a:r>
          </a:p>
        </p:txBody>
      </p:sp>
    </p:spTree>
    <p:extLst>
      <p:ext uri="{BB962C8B-B14F-4D97-AF65-F5344CB8AC3E}">
        <p14:creationId xmlns:p14="http://schemas.microsoft.com/office/powerpoint/2010/main" val="3775914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086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Dataflow Verilog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600200"/>
          </a:xfrm>
        </p:spPr>
        <p:txBody>
          <a:bodyPr/>
          <a:lstStyle/>
          <a:p>
            <a:pPr eaLnBrk="1" hangingPunct="1"/>
            <a:r>
              <a:rPr lang="en-US" altLang="en-US" dirty="0"/>
              <a:t>The continuous</a:t>
            </a:r>
            <a:r>
              <a:rPr lang="en-US" altLang="en-US" dirty="0">
                <a:latin typeface="Tahoma" panose="020B0604030504040204" pitchFamily="34" charset="0"/>
              </a:rPr>
              <a:t> assign</a:t>
            </a:r>
            <a:r>
              <a:rPr lang="en-US" altLang="en-US" dirty="0"/>
              <a:t> statement</a:t>
            </a:r>
          </a:p>
          <a:p>
            <a:pPr lvl="1" eaLnBrk="1" hangingPunct="1"/>
            <a:r>
              <a:rPr lang="en-US" altLang="en-US" dirty="0"/>
              <a:t>It is the main construct of Dataflow Verilog</a:t>
            </a:r>
          </a:p>
          <a:p>
            <a:pPr lvl="1" eaLnBrk="1" hangingPunct="1"/>
            <a:r>
              <a:rPr lang="en-US" altLang="en-US" dirty="0"/>
              <a:t>It is deceptively powerful &amp; useful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CE89878-C17D-4590-ACD4-394CDCDBDB2F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57200" y="2971800"/>
            <a:ext cx="8229600" cy="2362200"/>
            <a:chOff x="288" y="1872"/>
            <a:chExt cx="5184" cy="1488"/>
          </a:xfrm>
        </p:grpSpPr>
        <p:sp>
          <p:nvSpPr>
            <p:cNvPr id="32775" name="Rectangle 5"/>
            <p:cNvSpPr>
              <a:spLocks noChangeArrowheads="1"/>
            </p:cNvSpPr>
            <p:nvPr/>
          </p:nvSpPr>
          <p:spPr bwMode="auto">
            <a:xfrm>
              <a:off x="288" y="1872"/>
              <a:ext cx="5184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0000A0"/>
                </a:buClr>
                <a:buSzPct val="125000"/>
                <a:buFont typeface="Wingdings" panose="05000000000000000000" pitchFamily="2" charset="2"/>
                <a:buChar char="§"/>
              </a:pPr>
              <a:r>
                <a:rPr lang="en-US" altLang="en-US" sz="2800">
                  <a:latin typeface="Times New Roman" panose="02020603050405020304" pitchFamily="18" charset="0"/>
                </a:rPr>
                <a:t>Generic form:</a:t>
              </a:r>
            </a:p>
          </p:txBody>
        </p:sp>
        <p:sp>
          <p:nvSpPr>
            <p:cNvPr id="32776" name="Text Box 6"/>
            <p:cNvSpPr txBox="1">
              <a:spLocks noChangeArrowheads="1"/>
            </p:cNvSpPr>
            <p:nvPr/>
          </p:nvSpPr>
          <p:spPr bwMode="auto">
            <a:xfrm>
              <a:off x="480" y="2256"/>
              <a:ext cx="4752" cy="110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latin typeface="Tahoma" panose="020B0604030504040204" pitchFamily="34" charset="0"/>
                </a:rPr>
                <a:t>assign</a:t>
              </a:r>
              <a:r>
                <a:rPr lang="en-US" altLang="en-US">
                  <a:latin typeface="Tahoma" panose="020B0604030504040204" pitchFamily="34" charset="0"/>
                </a:rPr>
                <a:t> [drive_strength] [delay] list_of_net_assignments;</a:t>
              </a:r>
            </a:p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  <a:p>
              <a:pPr eaLnBrk="1" hangingPunct="1"/>
              <a:r>
                <a:rPr lang="en-US" altLang="en-US" i="1">
                  <a:latin typeface="Tahoma" panose="020B0604030504040204" pitchFamily="34" charset="0"/>
                </a:rPr>
                <a:t>Where:</a:t>
              </a:r>
            </a:p>
            <a:p>
              <a:pPr eaLnBrk="1" hangingPunct="1"/>
              <a:r>
                <a:rPr lang="en-US" altLang="en-US">
                  <a:latin typeface="Tahoma" panose="020B0604030504040204" pitchFamily="34" charset="0"/>
                </a:rPr>
                <a:t>list_of_net_assignment ::= net_assignment [{,net_assignment}]</a:t>
              </a:r>
            </a:p>
            <a:p>
              <a:pPr eaLnBrk="1" hangingPunct="1"/>
              <a:r>
                <a:rPr lang="en-US" altLang="en-US" i="1">
                  <a:latin typeface="Tahoma" panose="020B0604030504040204" pitchFamily="34" charset="0"/>
                </a:rPr>
                <a:t>&amp; Where:</a:t>
              </a:r>
            </a:p>
            <a:p>
              <a:pPr eaLnBrk="1" hangingPunct="1"/>
              <a:r>
                <a:rPr lang="en-US" altLang="en-US" i="1">
                  <a:latin typeface="Tahoma" panose="020B0604030504040204" pitchFamily="34" charset="0"/>
                </a:rPr>
                <a:t>Net_assignment ::= net_lvalue = expression</a:t>
              </a:r>
            </a:p>
          </p:txBody>
        </p:sp>
      </p:grpSp>
      <p:sp>
        <p:nvSpPr>
          <p:cNvPr id="230407" name="Text Box 7"/>
          <p:cNvSpPr txBox="1">
            <a:spLocks noChangeArrowheads="1"/>
          </p:cNvSpPr>
          <p:nvPr/>
        </p:nvSpPr>
        <p:spPr bwMode="auto">
          <a:xfrm>
            <a:off x="898525" y="5670550"/>
            <a:ext cx="7331075" cy="64135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OK…that means just about nothing to me…how about some examples?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2284" y="1905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Continuous Assign Examples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>
          <a:xfrm>
            <a:off x="452284" y="1485900"/>
            <a:ext cx="8229600" cy="1600200"/>
          </a:xfrm>
        </p:spPr>
        <p:txBody>
          <a:bodyPr/>
          <a:lstStyle/>
          <a:p>
            <a:pPr eaLnBrk="1" hangingPunct="1"/>
            <a:r>
              <a:rPr lang="en-US" altLang="en-US" dirty="0"/>
              <a:t>Simplest form:</a:t>
            </a:r>
          </a:p>
          <a:p>
            <a:pPr lvl="1" eaLnBrk="1" hangingPunct="1"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// out is a net, a &amp; b are also nets</a:t>
            </a:r>
          </a:p>
          <a:p>
            <a:pPr lvl="1" eaLnBrk="1" hangingPunct="1"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assign</a:t>
            </a:r>
            <a:r>
              <a:rPr lang="en-US" altLang="en-US" sz="2000" dirty="0">
                <a:latin typeface="Tahoma" panose="020B0604030504040204" pitchFamily="34" charset="0"/>
              </a:rPr>
              <a:t> out = a &amp; b;		// and gate functionality</a:t>
            </a:r>
          </a:p>
          <a:p>
            <a:pPr lvl="1" eaLnBrk="1" hangingPunct="1"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>
              <a:latin typeface="Tahoma" panose="020B0604030504040204" pitchFamily="34" charset="0"/>
            </a:endParaRP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0C4C273-BAF3-4D2B-B9D7-74C3EA56D775}" type="slidenum">
              <a:rPr lang="en-US" altLang="en-US"/>
              <a:pPr eaLnBrk="1" hangingPunct="1"/>
              <a:t>25</a:t>
            </a:fld>
            <a:endParaRPr lang="en-US" altLang="en-US"/>
          </a:p>
        </p:txBody>
      </p:sp>
      <p:sp>
        <p:nvSpPr>
          <p:cNvPr id="231428" name="Rectangle 4"/>
          <p:cNvSpPr>
            <a:spLocks noChangeArrowheads="1"/>
          </p:cNvSpPr>
          <p:nvPr/>
        </p:nvSpPr>
        <p:spPr bwMode="auto">
          <a:xfrm>
            <a:off x="457200" y="2895600"/>
            <a:ext cx="8229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 panose="02020603050405020304" pitchFamily="18" charset="0"/>
              </a:rPr>
              <a:t>Using vectors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sz="2000" b="1" dirty="0">
                <a:latin typeface="Tahoma" panose="020B0604030504040204" pitchFamily="34" charset="0"/>
              </a:rPr>
              <a:t>logic</a:t>
            </a:r>
            <a:r>
              <a:rPr lang="en-US" altLang="en-US" sz="2000" dirty="0">
                <a:latin typeface="Tahoma" panose="020B0604030504040204" pitchFamily="34" charset="0"/>
              </a:rPr>
              <a:t> [15:0] result, src1, src2;	// 3 16-bit wide vectors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sz="2000" b="1" dirty="0">
                <a:latin typeface="Tahoma" panose="020B0604030504040204" pitchFamily="34" charset="0"/>
              </a:rPr>
              <a:t>assign</a:t>
            </a:r>
            <a:r>
              <a:rPr lang="en-US" altLang="en-US" sz="2000" dirty="0">
                <a:latin typeface="Tahoma" panose="020B0604030504040204" pitchFamily="34" charset="0"/>
              </a:rPr>
              <a:t> result = src1 ^ src2;	// 16-bit wide XOR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</p:txBody>
      </p:sp>
      <p:sp>
        <p:nvSpPr>
          <p:cNvPr id="231429" name="Rectangle 5"/>
          <p:cNvSpPr>
            <a:spLocks noChangeArrowheads="1"/>
          </p:cNvSpPr>
          <p:nvPr/>
        </p:nvSpPr>
        <p:spPr bwMode="auto">
          <a:xfrm>
            <a:off x="457200" y="4343400"/>
            <a:ext cx="8382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>
                <a:latin typeface="Times New Roman" panose="02020603050405020304" pitchFamily="18" charset="0"/>
              </a:rPr>
              <a:t>Can you implement a 32-bit adder in a single line?</a:t>
            </a:r>
            <a:r>
              <a:rPr lang="en-US" altLang="en-US" sz="2800">
                <a:latin typeface="Tahoma" panose="020B0604030504040204" pitchFamily="34" charset="0"/>
              </a:rPr>
              <a:t>	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31430" name="Rectangle 6"/>
          <p:cNvSpPr>
            <a:spLocks noChangeArrowheads="1"/>
          </p:cNvSpPr>
          <p:nvPr/>
        </p:nvSpPr>
        <p:spPr bwMode="auto">
          <a:xfrm>
            <a:off x="457200" y="4876800"/>
            <a:ext cx="8382000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sz="2000" b="1" dirty="0">
                <a:latin typeface="Tahoma" panose="020B0604030504040204" pitchFamily="34" charset="0"/>
              </a:rPr>
              <a:t>wire</a:t>
            </a:r>
            <a:r>
              <a:rPr lang="en-US" altLang="en-US" sz="2000" dirty="0">
                <a:latin typeface="Tahoma" panose="020B0604030504040204" pitchFamily="34" charset="0"/>
              </a:rPr>
              <a:t> [31:0] sum, src1, src2;      // 3 32-bit wide vectors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sz="2000" b="1" dirty="0">
                <a:latin typeface="Tahoma" panose="020B0604030504040204" pitchFamily="34" charset="0"/>
              </a:rPr>
              <a:t>assign</a:t>
            </a:r>
            <a:r>
              <a:rPr lang="en-US" altLang="en-US" sz="2000" dirty="0">
                <a:latin typeface="Tahoma" panose="020B0604030504040204" pitchFamily="34" charset="0"/>
              </a:rPr>
              <a:t> {</a:t>
            </a:r>
            <a:r>
              <a:rPr lang="en-US" altLang="en-US" sz="2000" dirty="0" err="1">
                <a:latin typeface="Tahoma" panose="020B0604030504040204" pitchFamily="34" charset="0"/>
              </a:rPr>
              <a:t>c_out</a:t>
            </a:r>
            <a:r>
              <a:rPr lang="en-US" altLang="en-US" sz="2000" dirty="0">
                <a:latin typeface="Tahoma" panose="020B0604030504040204" pitchFamily="34" charset="0"/>
              </a:rPr>
              <a:t>, sum} = src1 + src2 + </a:t>
            </a:r>
            <a:r>
              <a:rPr lang="en-US" altLang="en-US" sz="2000" dirty="0" err="1">
                <a:latin typeface="Tahoma" panose="020B0604030504040204" pitchFamily="34" charset="0"/>
              </a:rPr>
              <a:t>c_in</a:t>
            </a:r>
            <a:r>
              <a:rPr lang="en-US" altLang="en-US" sz="2000" dirty="0">
                <a:latin typeface="Tahoma" panose="020B0604030504040204" pitchFamily="34" charset="0"/>
              </a:rPr>
              <a:t>;	   // wow</a:t>
            </a:r>
            <a:r>
              <a:rPr lang="en-US" altLang="en-US" sz="2400" dirty="0">
                <a:latin typeface="Tahoma" panose="020B0604030504040204" pitchFamily="34" charset="0"/>
              </a:rPr>
              <a:t>!	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8" grpId="0"/>
      <p:bldP spid="231429" grpId="0"/>
      <p:bldP spid="2314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27703" y="298757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Continuous Assign </a:t>
            </a:r>
            <a:r>
              <a:rPr lang="en-US" altLang="en-US" sz="2400" dirty="0"/>
              <a:t>(continued)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2895600"/>
          </a:xfrm>
        </p:spPr>
        <p:txBody>
          <a:bodyPr/>
          <a:lstStyle/>
          <a:p>
            <a:pPr eaLnBrk="1" hangingPunct="1"/>
            <a:r>
              <a:rPr lang="en-US" altLang="en-US" dirty="0"/>
              <a:t>If RHS result changes, LHS is updated with new value</a:t>
            </a:r>
          </a:p>
          <a:p>
            <a:pPr lvl="1" eaLnBrk="1" hangingPunct="1"/>
            <a:r>
              <a:rPr lang="en-US" altLang="en-US" dirty="0"/>
              <a:t>Constantly operating (“continuous”)</a:t>
            </a:r>
          </a:p>
          <a:p>
            <a:pPr lvl="1" eaLnBrk="1" hangingPunct="1"/>
            <a:r>
              <a:rPr lang="en-US" altLang="en-US" dirty="0"/>
              <a:t>It’s </a:t>
            </a:r>
            <a:r>
              <a:rPr lang="en-US" altLang="en-US" b="1" i="1" u="sng" dirty="0"/>
              <a:t>hardware!</a:t>
            </a:r>
          </a:p>
          <a:p>
            <a:pPr lvl="1" eaLnBrk="1" hangingPunct="1"/>
            <a:r>
              <a:rPr lang="en-US" altLang="en-US" dirty="0"/>
              <a:t>What makes it powerful?</a:t>
            </a:r>
          </a:p>
          <a:p>
            <a:pPr lvl="2"/>
            <a:r>
              <a:rPr lang="en-US" altLang="en-US" dirty="0"/>
              <a:t>RHS can use operators: ( +, - ,&amp;, |, ^, ~, &gt;&gt;, &lt;&lt;, &gt;&gt;&gt;, …)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ED65004-AED0-4D07-91FD-5108C7D06972}" type="slidenum">
              <a:rPr lang="en-US" altLang="en-US"/>
              <a:pPr eaLnBrk="1" hangingPunct="1"/>
              <a:t>26</a:t>
            </a:fld>
            <a:endParaRPr lang="en-US" altLang="en-US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647700" y="4343400"/>
            <a:ext cx="7848600" cy="1752600"/>
            <a:chOff x="432" y="2976"/>
            <a:chExt cx="4944" cy="1104"/>
          </a:xfrm>
        </p:grpSpPr>
        <p:sp>
          <p:nvSpPr>
            <p:cNvPr id="37895" name="Line 5"/>
            <p:cNvSpPr>
              <a:spLocks noChangeShapeType="1"/>
            </p:cNvSpPr>
            <p:nvPr/>
          </p:nvSpPr>
          <p:spPr bwMode="auto">
            <a:xfrm>
              <a:off x="1056" y="3360"/>
              <a:ext cx="96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6" name="Line 6"/>
            <p:cNvSpPr>
              <a:spLocks noChangeShapeType="1"/>
            </p:cNvSpPr>
            <p:nvPr/>
          </p:nvSpPr>
          <p:spPr bwMode="auto">
            <a:xfrm flipV="1">
              <a:off x="1152" y="3360"/>
              <a:ext cx="96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7" name="Line 7"/>
            <p:cNvSpPr>
              <a:spLocks noChangeShapeType="1"/>
            </p:cNvSpPr>
            <p:nvPr/>
          </p:nvSpPr>
          <p:spPr bwMode="auto">
            <a:xfrm flipH="1">
              <a:off x="720" y="3360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8" name="Line 8"/>
            <p:cNvSpPr>
              <a:spLocks noChangeShapeType="1"/>
            </p:cNvSpPr>
            <p:nvPr/>
          </p:nvSpPr>
          <p:spPr bwMode="auto">
            <a:xfrm flipH="1">
              <a:off x="1248" y="3360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9" name="Line 9"/>
            <p:cNvSpPr>
              <a:spLocks noChangeShapeType="1"/>
            </p:cNvSpPr>
            <p:nvPr/>
          </p:nvSpPr>
          <p:spPr bwMode="auto">
            <a:xfrm>
              <a:off x="720" y="3360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0" name="Line 10"/>
            <p:cNvSpPr>
              <a:spLocks noChangeShapeType="1"/>
            </p:cNvSpPr>
            <p:nvPr/>
          </p:nvSpPr>
          <p:spPr bwMode="auto">
            <a:xfrm flipH="1">
              <a:off x="1344" y="3360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1" name="Line 11"/>
            <p:cNvSpPr>
              <a:spLocks noChangeShapeType="1"/>
            </p:cNvSpPr>
            <p:nvPr/>
          </p:nvSpPr>
          <p:spPr bwMode="auto">
            <a:xfrm>
              <a:off x="960" y="369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2" name="Line 12"/>
            <p:cNvSpPr>
              <a:spLocks noChangeShapeType="1"/>
            </p:cNvSpPr>
            <p:nvPr/>
          </p:nvSpPr>
          <p:spPr bwMode="auto">
            <a:xfrm>
              <a:off x="1152" y="369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3" name="Line 13"/>
            <p:cNvSpPr>
              <a:spLocks noChangeShapeType="1"/>
            </p:cNvSpPr>
            <p:nvPr/>
          </p:nvSpPr>
          <p:spPr bwMode="auto">
            <a:xfrm flipH="1">
              <a:off x="720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4" name="Line 14"/>
            <p:cNvSpPr>
              <a:spLocks noChangeShapeType="1"/>
            </p:cNvSpPr>
            <p:nvPr/>
          </p:nvSpPr>
          <p:spPr bwMode="auto">
            <a:xfrm flipH="1">
              <a:off x="720" y="3552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5" name="Line 15"/>
            <p:cNvSpPr>
              <a:spLocks noChangeShapeType="1"/>
            </p:cNvSpPr>
            <p:nvPr/>
          </p:nvSpPr>
          <p:spPr bwMode="auto">
            <a:xfrm flipH="1">
              <a:off x="1440" y="355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6" name="Line 17"/>
            <p:cNvSpPr>
              <a:spLocks noChangeShapeType="1"/>
            </p:cNvSpPr>
            <p:nvPr/>
          </p:nvSpPr>
          <p:spPr bwMode="auto">
            <a:xfrm>
              <a:off x="912" y="321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7" name="Line 18"/>
            <p:cNvSpPr>
              <a:spLocks noChangeShapeType="1"/>
            </p:cNvSpPr>
            <p:nvPr/>
          </p:nvSpPr>
          <p:spPr bwMode="auto">
            <a:xfrm>
              <a:off x="1392" y="321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8" name="Text Box 19"/>
            <p:cNvSpPr txBox="1">
              <a:spLocks noChangeArrowheads="1"/>
            </p:cNvSpPr>
            <p:nvPr/>
          </p:nvSpPr>
          <p:spPr bwMode="auto">
            <a:xfrm>
              <a:off x="864" y="3840"/>
              <a:ext cx="63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ahoma" panose="020B0604030504040204" pitchFamily="34" charset="0"/>
                </a:rPr>
                <a:t>sum[31:0]</a:t>
              </a:r>
            </a:p>
          </p:txBody>
        </p:sp>
        <p:sp>
          <p:nvSpPr>
            <p:cNvPr id="37909" name="Text Box 20"/>
            <p:cNvSpPr txBox="1">
              <a:spLocks noChangeArrowheads="1"/>
            </p:cNvSpPr>
            <p:nvPr/>
          </p:nvSpPr>
          <p:spPr bwMode="auto">
            <a:xfrm>
              <a:off x="480" y="3840"/>
              <a:ext cx="3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ahoma" panose="020B0604030504040204" pitchFamily="34" charset="0"/>
                </a:rPr>
                <a:t>c_out</a:t>
              </a:r>
            </a:p>
          </p:txBody>
        </p:sp>
        <p:sp>
          <p:nvSpPr>
            <p:cNvPr id="37910" name="Text Box 21"/>
            <p:cNvSpPr txBox="1">
              <a:spLocks noChangeArrowheads="1"/>
            </p:cNvSpPr>
            <p:nvPr/>
          </p:nvSpPr>
          <p:spPr bwMode="auto">
            <a:xfrm>
              <a:off x="1632" y="3456"/>
              <a:ext cx="31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ahoma" panose="020B0604030504040204" pitchFamily="34" charset="0"/>
                </a:rPr>
                <a:t>c_in</a:t>
              </a:r>
            </a:p>
          </p:txBody>
        </p:sp>
        <p:sp>
          <p:nvSpPr>
            <p:cNvPr id="37911" name="Text Box 22"/>
            <p:cNvSpPr txBox="1">
              <a:spLocks noChangeArrowheads="1"/>
            </p:cNvSpPr>
            <p:nvPr/>
          </p:nvSpPr>
          <p:spPr bwMode="auto">
            <a:xfrm>
              <a:off x="806" y="2996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12" name="Text Box 23"/>
            <p:cNvSpPr txBox="1">
              <a:spLocks noChangeArrowheads="1"/>
            </p:cNvSpPr>
            <p:nvPr/>
          </p:nvSpPr>
          <p:spPr bwMode="auto">
            <a:xfrm>
              <a:off x="528" y="3024"/>
              <a:ext cx="6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ahoma" panose="020B0604030504040204" pitchFamily="34" charset="0"/>
                </a:rPr>
                <a:t>src1[31:0]</a:t>
              </a:r>
            </a:p>
          </p:txBody>
        </p:sp>
        <p:sp>
          <p:nvSpPr>
            <p:cNvPr id="37913" name="Text Box 24"/>
            <p:cNvSpPr txBox="1">
              <a:spLocks noChangeArrowheads="1"/>
            </p:cNvSpPr>
            <p:nvPr/>
          </p:nvSpPr>
          <p:spPr bwMode="auto">
            <a:xfrm>
              <a:off x="1200" y="3024"/>
              <a:ext cx="6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ahoma" panose="020B0604030504040204" pitchFamily="34" charset="0"/>
                </a:rPr>
                <a:t>src2[31:0]</a:t>
              </a:r>
            </a:p>
          </p:txBody>
        </p:sp>
        <p:sp>
          <p:nvSpPr>
            <p:cNvPr id="37914" name="Rectangle 25"/>
            <p:cNvSpPr>
              <a:spLocks noChangeArrowheads="1"/>
            </p:cNvSpPr>
            <p:nvPr/>
          </p:nvSpPr>
          <p:spPr bwMode="auto">
            <a:xfrm>
              <a:off x="432" y="2976"/>
              <a:ext cx="1584" cy="1104"/>
            </a:xfrm>
            <a:prstGeom prst="rect">
              <a:avLst/>
            </a:prstGeom>
            <a:solidFill>
              <a:srgbClr val="6969FF">
                <a:alpha val="14902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15" name="Rectangle 26"/>
            <p:cNvSpPr>
              <a:spLocks noChangeArrowheads="1"/>
            </p:cNvSpPr>
            <p:nvPr/>
          </p:nvSpPr>
          <p:spPr bwMode="auto">
            <a:xfrm>
              <a:off x="2592" y="3456"/>
              <a:ext cx="278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0000A0"/>
                </a:buClr>
                <a:buSzPct val="125000"/>
                <a:buFont typeface="Wingdings" panose="05000000000000000000" pitchFamily="2" charset="2"/>
                <a:buNone/>
              </a:pPr>
              <a:r>
                <a:rPr lang="en-US" altLang="en-US">
                  <a:latin typeface="Tahoma" panose="020B0604030504040204" pitchFamily="34" charset="0"/>
                </a:rPr>
                <a:t>assign {c_out,sum} = src1 + src2 + c_in; </a:t>
              </a:r>
              <a:r>
                <a:rPr lang="en-US" altLang="en-US" sz="2800">
                  <a:latin typeface="Tahoma" panose="020B0604030504040204" pitchFamily="34" charset="0"/>
                </a:rPr>
                <a:t>	</a:t>
              </a:r>
            </a:p>
            <a:p>
              <a:pPr eaLnBrk="1" hangingPunct="1">
                <a:spcBef>
                  <a:spcPct val="20000"/>
                </a:spcBef>
                <a:buClr>
                  <a:srgbClr val="0000A0"/>
                </a:buClr>
                <a:buSzPct val="125000"/>
                <a:buFont typeface="Wingdings" panose="05000000000000000000" pitchFamily="2" charset="2"/>
                <a:buNone/>
              </a:pPr>
              <a:endParaRPr lang="en-US" altLang="en-US" sz="2800">
                <a:latin typeface="Tahoma" panose="020B0604030504040204" pitchFamily="34" charset="0"/>
              </a:endParaRPr>
            </a:p>
          </p:txBody>
        </p:sp>
        <p:sp>
          <p:nvSpPr>
            <p:cNvPr id="37916" name="Text Box 27"/>
            <p:cNvSpPr txBox="1">
              <a:spLocks noChangeArrowheads="1"/>
            </p:cNvSpPr>
            <p:nvPr/>
          </p:nvSpPr>
          <p:spPr bwMode="auto">
            <a:xfrm>
              <a:off x="2160" y="3456"/>
              <a:ext cx="27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ym typeface="Wingdings" panose="05000000000000000000" pitchFamily="2" charset="2"/>
                </a:rPr>
                <a:t></a:t>
              </a:r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194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Lets Kick up the Horse Power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You thought a 32-bit adder in one line was powerful.  Lets try a 32-bit MAC…</a:t>
            </a:r>
          </a:p>
        </p:txBody>
      </p:sp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ACACE9A-B8D6-4084-8126-E3C8262E95DF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685800" y="2895600"/>
            <a:ext cx="78486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Times New Roman" panose="02020603050405020304" pitchFamily="18" charset="0"/>
              </a:rPr>
              <a:t>Design a multiply-accumulate (MAC) unit that computes</a:t>
            </a:r>
          </a:p>
          <a:p>
            <a:pPr eaLnBrk="1" hangingPunct="1"/>
            <a:r>
              <a:rPr lang="en-US" altLang="en-US" dirty="0"/>
              <a:t>	</a:t>
            </a:r>
            <a:r>
              <a:rPr lang="en-US" altLang="en-US" dirty="0">
                <a:latin typeface="Tahoma" panose="020B0604030504040204" pitchFamily="34" charset="0"/>
              </a:rPr>
              <a:t>Z[31:0] = A[15:0]*B[15:0] + C[31:0]</a:t>
            </a:r>
          </a:p>
          <a:p>
            <a:pPr eaLnBrk="1" hangingPunct="1"/>
            <a:r>
              <a:rPr lang="en-US" altLang="en-US" sz="2000" dirty="0">
                <a:latin typeface="Times New Roman" panose="02020603050405020304" pitchFamily="18" charset="0"/>
              </a:rPr>
              <a:t>It sets overflow to one, if the result cannot be represented using 32 bits.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module </a:t>
            </a:r>
            <a:r>
              <a:rPr lang="en-US" altLang="en-US" dirty="0">
                <a:latin typeface="Tahoma" panose="020B0604030504040204" pitchFamily="34" charset="0"/>
              </a:rPr>
              <a:t>mac(</a:t>
            </a:r>
            <a:r>
              <a:rPr lang="en-US" altLang="en-US" b="1" dirty="0">
                <a:latin typeface="Tahoma" panose="020B0604030504040204" pitchFamily="34" charset="0"/>
              </a:rPr>
              <a:t>output</a:t>
            </a:r>
            <a:r>
              <a:rPr lang="en-US" altLang="en-US" dirty="0">
                <a:latin typeface="Tahoma" panose="020B0604030504040204" pitchFamily="34" charset="0"/>
              </a:rPr>
              <a:t> Z [31:0], </a:t>
            </a:r>
            <a:r>
              <a:rPr lang="en-US" altLang="en-US" b="1" dirty="0">
                <a:latin typeface="Tahoma" panose="020B0604030504040204" pitchFamily="34" charset="0"/>
              </a:rPr>
              <a:t>output </a:t>
            </a:r>
            <a:r>
              <a:rPr lang="en-US" altLang="en-US" dirty="0">
                <a:latin typeface="Tahoma" panose="020B0604030504040204" pitchFamily="34" charset="0"/>
              </a:rPr>
              <a:t>overflow, 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                </a:t>
            </a:r>
            <a:r>
              <a:rPr lang="en-US" altLang="en-US" b="1" dirty="0">
                <a:latin typeface="Tahoma" panose="020B0604030504040204" pitchFamily="34" charset="0"/>
              </a:rPr>
              <a:t>input</a:t>
            </a:r>
            <a:r>
              <a:rPr lang="en-US" altLang="en-US" dirty="0">
                <a:latin typeface="Tahoma" panose="020B0604030504040204" pitchFamily="34" charset="0"/>
              </a:rPr>
              <a:t> [15:0] A, B, </a:t>
            </a:r>
            <a:r>
              <a:rPr lang="en-US" altLang="en-US" b="1" dirty="0">
                <a:latin typeface="Tahoma" panose="020B0604030504040204" pitchFamily="34" charset="0"/>
              </a:rPr>
              <a:t>input</a:t>
            </a:r>
            <a:r>
              <a:rPr lang="en-US" altLang="en-US" dirty="0">
                <a:latin typeface="Tahoma" panose="020B0604030504040204" pitchFamily="34" charset="0"/>
              </a:rPr>
              <a:t> [31:0] C);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169987"/>
          </a:xfrm>
        </p:spPr>
        <p:txBody>
          <a:bodyPr/>
          <a:lstStyle/>
          <a:p>
            <a:pPr eaLnBrk="1" hangingPunct="1"/>
            <a:r>
              <a:rPr lang="en-US" altLang="en-US"/>
              <a:t>Lets Kick up the Horse Power</a:t>
            </a:r>
            <a:endParaRPr lang="en-US" altLang="en-US" sz="2800" i="1"/>
          </a:p>
        </p:txBody>
      </p:sp>
      <p:sp>
        <p:nvSpPr>
          <p:cNvPr id="43012" name="Text Box 4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6019800" cy="1676400"/>
          </a:xfrm>
          <a:noFill/>
        </p:spPr>
        <p:txBody>
          <a:bodyPr/>
          <a:lstStyle/>
          <a:p>
            <a:pPr marL="0" indent="0" eaLnBrk="1" hangingPunct="1">
              <a:buSzTx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module</a:t>
            </a:r>
            <a:r>
              <a:rPr lang="en-US" altLang="en-US" sz="2000" dirty="0">
                <a:latin typeface="Tahoma" panose="020B0604030504040204" pitchFamily="34" charset="0"/>
              </a:rPr>
              <a:t> mac(</a:t>
            </a:r>
            <a:r>
              <a:rPr lang="en-US" altLang="en-US" sz="2000" b="1" dirty="0">
                <a:latin typeface="Tahoma" panose="020B0604030504040204" pitchFamily="34" charset="0"/>
              </a:rPr>
              <a:t>output</a:t>
            </a:r>
            <a:r>
              <a:rPr lang="en-US" altLang="en-US" sz="2000" dirty="0">
                <a:latin typeface="Tahoma" panose="020B0604030504040204" pitchFamily="34" charset="0"/>
              </a:rPr>
              <a:t> Z [31:0], </a:t>
            </a:r>
            <a:r>
              <a:rPr lang="en-US" altLang="en-US" sz="2000" b="1" dirty="0">
                <a:latin typeface="Tahoma" panose="020B0604030504040204" pitchFamily="34" charset="0"/>
              </a:rPr>
              <a:t>output</a:t>
            </a:r>
            <a:r>
              <a:rPr lang="en-US" altLang="en-US" sz="2000" dirty="0">
                <a:latin typeface="Tahoma" panose="020B0604030504040204" pitchFamily="34" charset="0"/>
              </a:rPr>
              <a:t> overflow, </a:t>
            </a:r>
          </a:p>
          <a:p>
            <a:pPr marL="0" indent="0" eaLnBrk="1" hangingPunct="1">
              <a:buSzTx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                 </a:t>
            </a:r>
            <a:r>
              <a:rPr lang="en-US" altLang="en-US" sz="2000" b="1" dirty="0">
                <a:latin typeface="Tahoma" panose="020B0604030504040204" pitchFamily="34" charset="0"/>
              </a:rPr>
              <a:t>input</a:t>
            </a:r>
            <a:r>
              <a:rPr lang="en-US" altLang="en-US" sz="2000" dirty="0">
                <a:latin typeface="Tahoma" panose="020B0604030504040204" pitchFamily="34" charset="0"/>
              </a:rPr>
              <a:t> [15:0] A, B, </a:t>
            </a:r>
            <a:r>
              <a:rPr lang="en-US" altLang="en-US" sz="2000" b="1" dirty="0">
                <a:latin typeface="Tahoma" panose="020B0604030504040204" pitchFamily="34" charset="0"/>
              </a:rPr>
              <a:t>input</a:t>
            </a:r>
            <a:r>
              <a:rPr lang="en-US" altLang="en-US" sz="2000" dirty="0">
                <a:latin typeface="Tahoma" panose="020B0604030504040204" pitchFamily="34" charset="0"/>
              </a:rPr>
              <a:t> [31:0] C);</a:t>
            </a:r>
          </a:p>
          <a:p>
            <a:pPr marL="0" indent="0" eaLnBrk="1" hangingPunct="1">
              <a:buSzTx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 </a:t>
            </a:r>
            <a:r>
              <a:rPr lang="en-US" altLang="en-US" sz="2000" b="1" dirty="0">
                <a:latin typeface="Tahoma" panose="020B0604030504040204" pitchFamily="34" charset="0"/>
              </a:rPr>
              <a:t>assign</a:t>
            </a:r>
            <a:r>
              <a:rPr lang="en-US" altLang="en-US" sz="2000" dirty="0">
                <a:latin typeface="Tahoma" panose="020B0604030504040204" pitchFamily="34" charset="0"/>
              </a:rPr>
              <a:t> {overflow, Z} = A*B + C;</a:t>
            </a:r>
          </a:p>
          <a:p>
            <a:pPr marL="0" indent="0" eaLnBrk="1" hangingPunct="1">
              <a:buSzTx/>
              <a:buFont typeface="Wingdings" panose="05000000000000000000" pitchFamily="2" charset="2"/>
              <a:buNone/>
            </a:pPr>
            <a:r>
              <a:rPr lang="en-US" altLang="en-US" sz="2000" b="1" dirty="0" err="1">
                <a:latin typeface="Tahoma" panose="020B0604030504040204" pitchFamily="34" charset="0"/>
              </a:rPr>
              <a:t>endmodule</a:t>
            </a:r>
            <a:endParaRPr lang="en-US" altLang="en-US" sz="2000" b="1" dirty="0">
              <a:latin typeface="Tahoma" panose="020B0604030504040204" pitchFamily="34" charset="0"/>
            </a:endParaRP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B8D8E9A-6C3E-46B0-8887-8B577EF4EDFA}" type="slidenum">
              <a:rPr lang="en-US" altLang="en-US"/>
              <a:pPr eaLnBrk="1" hangingPunct="1"/>
              <a:t>28</a:t>
            </a:fld>
            <a:endParaRPr lang="en-US" altLang="en-US"/>
          </a:p>
        </p:txBody>
      </p:sp>
      <p:sp>
        <p:nvSpPr>
          <p:cNvPr id="237573" name="Text Box 5"/>
          <p:cNvSpPr txBox="1">
            <a:spLocks noChangeArrowheads="1"/>
          </p:cNvSpPr>
          <p:nvPr/>
        </p:nvSpPr>
        <p:spPr bwMode="auto">
          <a:xfrm>
            <a:off x="533400" y="3200400"/>
            <a:ext cx="7254875" cy="654050"/>
          </a:xfrm>
          <a:prstGeom prst="rect">
            <a:avLst/>
          </a:prstGeom>
          <a:solidFill>
            <a:srgbClr val="3366FF">
              <a:alpha val="52156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 am a brilliant genius.  I am a HDL coder extraordinaire.  I created a 32-bit MAC, and I did it in a single line.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517525" y="4038600"/>
            <a:ext cx="4283075" cy="1524000"/>
            <a:chOff x="326" y="2544"/>
            <a:chExt cx="2698" cy="960"/>
          </a:xfrm>
        </p:grpSpPr>
        <p:sp>
          <p:nvSpPr>
            <p:cNvPr id="43019" name="Text Box 6"/>
            <p:cNvSpPr txBox="1">
              <a:spLocks noChangeArrowheads="1"/>
            </p:cNvSpPr>
            <p:nvPr/>
          </p:nvSpPr>
          <p:spPr bwMode="auto">
            <a:xfrm>
              <a:off x="326" y="2544"/>
              <a:ext cx="2526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/>
                <a:t>assign {overflow, Z} = A*B + C;</a:t>
              </a:r>
            </a:p>
          </p:txBody>
        </p:sp>
        <p:sp>
          <p:nvSpPr>
            <p:cNvPr id="43020" name="Rectangle 7"/>
            <p:cNvSpPr>
              <a:spLocks noChangeArrowheads="1"/>
            </p:cNvSpPr>
            <p:nvPr/>
          </p:nvSpPr>
          <p:spPr bwMode="auto">
            <a:xfrm>
              <a:off x="2256" y="2928"/>
              <a:ext cx="768" cy="576"/>
            </a:xfrm>
            <a:prstGeom prst="rect">
              <a:avLst/>
            </a:prstGeom>
            <a:solidFill>
              <a:srgbClr val="6969FF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Synopsys</a:t>
              </a:r>
            </a:p>
          </p:txBody>
        </p:sp>
        <p:sp>
          <p:nvSpPr>
            <p:cNvPr id="43021" name="Line 9"/>
            <p:cNvSpPr>
              <a:spLocks noChangeShapeType="1"/>
            </p:cNvSpPr>
            <p:nvPr/>
          </p:nvSpPr>
          <p:spPr bwMode="auto">
            <a:xfrm>
              <a:off x="1392" y="2784"/>
              <a:ext cx="86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800600" y="4038600"/>
            <a:ext cx="3733800" cy="2390775"/>
            <a:chOff x="3024" y="2544"/>
            <a:chExt cx="2352" cy="1506"/>
          </a:xfrm>
        </p:grpSpPr>
        <p:pic>
          <p:nvPicPr>
            <p:cNvPr id="43017" name="Picture 10" descr="TajMaha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2" y="2544"/>
              <a:ext cx="1824" cy="15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018" name="Line 11"/>
            <p:cNvSpPr>
              <a:spLocks noChangeShapeType="1"/>
            </p:cNvSpPr>
            <p:nvPr/>
          </p:nvSpPr>
          <p:spPr bwMode="auto">
            <a:xfrm>
              <a:off x="3024" y="326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7581" name="AutoShape 13"/>
          <p:cNvSpPr>
            <a:spLocks noChangeArrowheads="1"/>
          </p:cNvSpPr>
          <p:nvPr/>
        </p:nvSpPr>
        <p:spPr bwMode="auto">
          <a:xfrm>
            <a:off x="457200" y="4724400"/>
            <a:ext cx="2743200" cy="1676400"/>
          </a:xfrm>
          <a:prstGeom prst="cloudCallout">
            <a:avLst>
              <a:gd name="adj1" fmla="val -11806"/>
              <a:gd name="adj2" fmla="val 25472"/>
            </a:avLst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/>
              <a:t>Oh my god, I’ve created a behemoth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3" grpId="0" animBg="1"/>
      <p:bldP spid="23758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481013" y="20478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Conditional Operator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This is a favorite!</a:t>
            </a:r>
          </a:p>
          <a:p>
            <a:pPr lvl="1" eaLnBrk="1" hangingPunct="1"/>
            <a:r>
              <a:rPr lang="en-US" altLang="en-US" sz="2000" dirty="0"/>
              <a:t>The functionality of a 2:1 Mux</a:t>
            </a:r>
          </a:p>
          <a:p>
            <a:pPr lvl="1" eaLnBrk="1" hangingPunct="1"/>
            <a:r>
              <a:rPr lang="en-US" altLang="en-US" sz="2000" b="1" dirty="0">
                <a:latin typeface="Tahoma" panose="020B0604030504040204" pitchFamily="34" charset="0"/>
              </a:rPr>
              <a:t>assign</a:t>
            </a:r>
            <a:r>
              <a:rPr lang="en-US" altLang="en-US" sz="2000" dirty="0">
                <a:latin typeface="Tahoma" panose="020B0604030504040204" pitchFamily="34" charset="0"/>
              </a:rPr>
              <a:t> out = </a:t>
            </a:r>
            <a:r>
              <a:rPr lang="en-US" altLang="en-US" sz="2000" dirty="0" err="1">
                <a:latin typeface="Tahoma" panose="020B0604030504040204" pitchFamily="34" charset="0"/>
              </a:rPr>
              <a:t>conditional_expr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?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dirty="0" err="1">
                <a:latin typeface="Tahoma" panose="020B0604030504040204" pitchFamily="34" charset="0"/>
              </a:rPr>
              <a:t>true_expr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: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dirty="0" err="1">
                <a:latin typeface="Tahoma" panose="020B0604030504040204" pitchFamily="34" charset="0"/>
              </a:rPr>
              <a:t>false_expr</a:t>
            </a:r>
            <a:r>
              <a:rPr lang="en-US" altLang="en-US" sz="20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endParaRPr lang="en-US" altLang="en-US" sz="2400" dirty="0">
              <a:latin typeface="Tahoma" panose="020B0604030504040204" pitchFamily="34" charset="0"/>
            </a:endParaRPr>
          </a:p>
        </p:txBody>
      </p:sp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D4AB582-E8F4-4647-BB75-E97DEB573701}" type="slidenum">
              <a:rPr lang="en-US" altLang="en-US"/>
              <a:pPr eaLnBrk="1" hangingPunct="1"/>
              <a:t>29</a:t>
            </a:fld>
            <a:endParaRPr lang="en-US" altLang="en-US"/>
          </a:p>
        </p:txBody>
      </p:sp>
      <p:grpSp>
        <p:nvGrpSpPr>
          <p:cNvPr id="44037" name="Group 15"/>
          <p:cNvGrpSpPr>
            <a:grpSpLocks/>
          </p:cNvGrpSpPr>
          <p:nvPr/>
        </p:nvGrpSpPr>
        <p:grpSpPr bwMode="auto">
          <a:xfrm>
            <a:off x="7239000" y="3048000"/>
            <a:ext cx="914400" cy="1295400"/>
            <a:chOff x="1248" y="1824"/>
            <a:chExt cx="576" cy="816"/>
          </a:xfrm>
        </p:grpSpPr>
        <p:sp>
          <p:nvSpPr>
            <p:cNvPr id="44043" name="Line 4"/>
            <p:cNvSpPr>
              <a:spLocks noChangeShapeType="1"/>
            </p:cNvSpPr>
            <p:nvPr/>
          </p:nvSpPr>
          <p:spPr bwMode="auto">
            <a:xfrm flipH="1" flipV="1">
              <a:off x="1488" y="1824"/>
              <a:ext cx="192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4" name="Line 5"/>
            <p:cNvSpPr>
              <a:spLocks noChangeShapeType="1"/>
            </p:cNvSpPr>
            <p:nvPr/>
          </p:nvSpPr>
          <p:spPr bwMode="auto">
            <a:xfrm flipH="1">
              <a:off x="1488" y="2400"/>
              <a:ext cx="192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5" name="Line 6"/>
            <p:cNvSpPr>
              <a:spLocks noChangeShapeType="1"/>
            </p:cNvSpPr>
            <p:nvPr/>
          </p:nvSpPr>
          <p:spPr bwMode="auto">
            <a:xfrm>
              <a:off x="1680" y="2016"/>
              <a:ext cx="0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6" name="Line 7"/>
            <p:cNvSpPr>
              <a:spLocks noChangeShapeType="1"/>
            </p:cNvSpPr>
            <p:nvPr/>
          </p:nvSpPr>
          <p:spPr bwMode="auto">
            <a:xfrm>
              <a:off x="1680" y="2208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7" name="Line 8"/>
            <p:cNvSpPr>
              <a:spLocks noChangeShapeType="1"/>
            </p:cNvSpPr>
            <p:nvPr/>
          </p:nvSpPr>
          <p:spPr bwMode="auto">
            <a:xfrm flipV="1">
              <a:off x="1488" y="1824"/>
              <a:ext cx="0" cy="76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8" name="Text Box 10"/>
            <p:cNvSpPr txBox="1">
              <a:spLocks noChangeArrowheads="1"/>
            </p:cNvSpPr>
            <p:nvPr/>
          </p:nvSpPr>
          <p:spPr bwMode="auto">
            <a:xfrm>
              <a:off x="1488" y="1968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0</a:t>
              </a:r>
            </a:p>
          </p:txBody>
        </p:sp>
        <p:sp>
          <p:nvSpPr>
            <p:cNvPr id="44049" name="Text Box 11"/>
            <p:cNvSpPr txBox="1">
              <a:spLocks noChangeArrowheads="1"/>
            </p:cNvSpPr>
            <p:nvPr/>
          </p:nvSpPr>
          <p:spPr bwMode="auto">
            <a:xfrm>
              <a:off x="1488" y="2256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1</a:t>
              </a:r>
            </a:p>
          </p:txBody>
        </p:sp>
        <p:sp>
          <p:nvSpPr>
            <p:cNvPr id="44050" name="Line 12"/>
            <p:cNvSpPr>
              <a:spLocks noChangeShapeType="1"/>
            </p:cNvSpPr>
            <p:nvPr/>
          </p:nvSpPr>
          <p:spPr bwMode="auto">
            <a:xfrm>
              <a:off x="1248" y="2016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51" name="Line 13"/>
            <p:cNvSpPr>
              <a:spLocks noChangeShapeType="1"/>
            </p:cNvSpPr>
            <p:nvPr/>
          </p:nvSpPr>
          <p:spPr bwMode="auto">
            <a:xfrm>
              <a:off x="1248" y="2400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52" name="Line 14"/>
            <p:cNvSpPr>
              <a:spLocks noChangeShapeType="1"/>
            </p:cNvSpPr>
            <p:nvPr/>
          </p:nvSpPr>
          <p:spPr bwMode="auto">
            <a:xfrm>
              <a:off x="1584" y="2496"/>
              <a:ext cx="0" cy="14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038" name="Text Box 16"/>
          <p:cNvSpPr txBox="1">
            <a:spLocks noChangeArrowheads="1"/>
          </p:cNvSpPr>
          <p:nvPr/>
        </p:nvSpPr>
        <p:spPr bwMode="auto">
          <a:xfrm>
            <a:off x="7162800" y="4343400"/>
            <a:ext cx="13858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cond_expr</a:t>
            </a:r>
          </a:p>
        </p:txBody>
      </p:sp>
      <p:sp>
        <p:nvSpPr>
          <p:cNvPr id="44039" name="Text Box 17"/>
          <p:cNvSpPr txBox="1">
            <a:spLocks noChangeArrowheads="1"/>
          </p:cNvSpPr>
          <p:nvPr/>
        </p:nvSpPr>
        <p:spPr bwMode="auto">
          <a:xfrm>
            <a:off x="8153400" y="3505200"/>
            <a:ext cx="557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out</a:t>
            </a:r>
          </a:p>
        </p:txBody>
      </p:sp>
      <p:sp>
        <p:nvSpPr>
          <p:cNvPr id="44040" name="Text Box 18"/>
          <p:cNvSpPr txBox="1">
            <a:spLocks noChangeArrowheads="1"/>
          </p:cNvSpPr>
          <p:nvPr/>
        </p:nvSpPr>
        <p:spPr bwMode="auto">
          <a:xfrm>
            <a:off x="5867400" y="3200400"/>
            <a:ext cx="1377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false_expr</a:t>
            </a:r>
          </a:p>
        </p:txBody>
      </p:sp>
      <p:sp>
        <p:nvSpPr>
          <p:cNvPr id="44041" name="Text Box 19"/>
          <p:cNvSpPr txBox="1">
            <a:spLocks noChangeArrowheads="1"/>
          </p:cNvSpPr>
          <p:nvPr/>
        </p:nvSpPr>
        <p:spPr bwMode="auto">
          <a:xfrm>
            <a:off x="5943600" y="3810000"/>
            <a:ext cx="1309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true_expr</a:t>
            </a:r>
          </a:p>
        </p:txBody>
      </p:sp>
      <p:sp>
        <p:nvSpPr>
          <p:cNvPr id="44042" name="Text Box 20"/>
          <p:cNvSpPr txBox="1">
            <a:spLocks noChangeArrowheads="1"/>
          </p:cNvSpPr>
          <p:nvPr/>
        </p:nvSpPr>
        <p:spPr bwMode="auto">
          <a:xfrm>
            <a:off x="762000" y="2825750"/>
            <a:ext cx="7937500" cy="34004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Examples: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// a 2:1 mux</a:t>
            </a:r>
          </a:p>
          <a:p>
            <a:pPr eaLnBrk="1" hangingPunct="1"/>
            <a:r>
              <a:rPr lang="en-US" altLang="en-US" b="1" dirty="0"/>
              <a:t>assign</a:t>
            </a:r>
            <a:r>
              <a:rPr lang="en-US" altLang="en-US" dirty="0"/>
              <a:t> out = select </a:t>
            </a:r>
            <a:r>
              <a:rPr lang="en-US" altLang="en-US" b="1" dirty="0"/>
              <a:t>?</a:t>
            </a:r>
            <a:r>
              <a:rPr lang="en-US" altLang="en-US" dirty="0"/>
              <a:t> in1 </a:t>
            </a:r>
            <a:r>
              <a:rPr lang="en-US" altLang="en-US" b="1" dirty="0"/>
              <a:t>:</a:t>
            </a:r>
            <a:r>
              <a:rPr lang="en-US" altLang="en-US" dirty="0"/>
              <a:t> in0;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// tri-state bus</a:t>
            </a:r>
          </a:p>
          <a:p>
            <a:pPr eaLnBrk="1" hangingPunct="1"/>
            <a:r>
              <a:rPr lang="en-US" altLang="en-US" b="1" dirty="0"/>
              <a:t>assign </a:t>
            </a:r>
            <a:r>
              <a:rPr lang="en-US" altLang="en-US" dirty="0"/>
              <a:t>src1 = rf2src1 </a:t>
            </a:r>
            <a:r>
              <a:rPr lang="en-US" altLang="en-US" b="1" dirty="0"/>
              <a:t>?</a:t>
            </a:r>
            <a:r>
              <a:rPr lang="en-US" altLang="en-US" dirty="0"/>
              <a:t> mem[addr1] </a:t>
            </a:r>
            <a:r>
              <a:rPr lang="en-US" altLang="en-US" b="1" dirty="0"/>
              <a:t>:</a:t>
            </a:r>
            <a:r>
              <a:rPr lang="en-US" altLang="en-US" dirty="0"/>
              <a:t> 16’hzzzz;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// Either </a:t>
            </a:r>
            <a:r>
              <a:rPr lang="en-US" altLang="en-US" dirty="0" err="1"/>
              <a:t>true_expr</a:t>
            </a:r>
            <a:r>
              <a:rPr lang="en-US" altLang="en-US" dirty="0"/>
              <a:t> or </a:t>
            </a:r>
            <a:r>
              <a:rPr lang="en-US" altLang="en-US" dirty="0" err="1"/>
              <a:t>false_expr</a:t>
            </a:r>
            <a:r>
              <a:rPr lang="en-US" altLang="en-US" dirty="0"/>
              <a:t> can also be a conditional operator</a:t>
            </a:r>
          </a:p>
          <a:p>
            <a:pPr eaLnBrk="1" hangingPunct="1"/>
            <a:r>
              <a:rPr lang="en-US" altLang="en-US" dirty="0"/>
              <a:t>// lets use this to build a 4:1 mux</a:t>
            </a:r>
          </a:p>
          <a:p>
            <a:pPr eaLnBrk="1" hangingPunct="1"/>
            <a:r>
              <a:rPr lang="en-US" altLang="en-US" b="1" dirty="0"/>
              <a:t>assign</a:t>
            </a:r>
            <a:r>
              <a:rPr lang="en-US" altLang="en-US" dirty="0"/>
              <a:t> out = </a:t>
            </a:r>
            <a:r>
              <a:rPr lang="en-US" altLang="en-US" dirty="0" err="1"/>
              <a:t>sel</a:t>
            </a:r>
            <a:r>
              <a:rPr lang="en-US" altLang="en-US" dirty="0"/>
              <a:t>[1] </a:t>
            </a:r>
            <a:r>
              <a:rPr lang="en-US" altLang="en-US" b="1" dirty="0"/>
              <a:t>?</a:t>
            </a:r>
            <a:r>
              <a:rPr lang="en-US" altLang="en-US" dirty="0"/>
              <a:t> (</a:t>
            </a:r>
            <a:r>
              <a:rPr lang="en-US" altLang="en-US" dirty="0" err="1"/>
              <a:t>sel</a:t>
            </a:r>
            <a:r>
              <a:rPr lang="en-US" altLang="en-US" dirty="0"/>
              <a:t>[0] </a:t>
            </a:r>
            <a:r>
              <a:rPr lang="en-US" altLang="en-US" b="1" dirty="0"/>
              <a:t>?</a:t>
            </a:r>
            <a:r>
              <a:rPr lang="en-US" altLang="en-US" dirty="0"/>
              <a:t> in3 </a:t>
            </a:r>
            <a:r>
              <a:rPr lang="en-US" altLang="en-US" b="1" dirty="0"/>
              <a:t>:</a:t>
            </a:r>
            <a:r>
              <a:rPr lang="en-US" altLang="en-US" dirty="0"/>
              <a:t> in2) </a:t>
            </a:r>
            <a:r>
              <a:rPr lang="en-US" altLang="en-US" b="1" dirty="0"/>
              <a:t>:</a:t>
            </a:r>
            <a:r>
              <a:rPr lang="en-US" altLang="en-US" dirty="0"/>
              <a:t> (</a:t>
            </a:r>
            <a:r>
              <a:rPr lang="en-US" altLang="en-US" dirty="0" err="1"/>
              <a:t>sel</a:t>
            </a:r>
            <a:r>
              <a:rPr lang="en-US" altLang="en-US" dirty="0"/>
              <a:t>[0] </a:t>
            </a:r>
            <a:r>
              <a:rPr lang="en-US" altLang="en-US" b="1" dirty="0"/>
              <a:t>?</a:t>
            </a:r>
            <a:r>
              <a:rPr lang="en-US" altLang="en-US" dirty="0"/>
              <a:t> in1 </a:t>
            </a:r>
            <a:r>
              <a:rPr lang="en-US" altLang="en-US" b="1" dirty="0"/>
              <a:t>:</a:t>
            </a:r>
            <a:r>
              <a:rPr lang="en-US" altLang="en-US" dirty="0"/>
              <a:t> in0);  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019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Conditional assign (continued)</a:t>
            </a:r>
          </a:p>
        </p:txBody>
      </p:sp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4C75FE9-F854-4DA8-A552-E6F9C3D2015C}" type="slidenum">
              <a:rPr lang="en-US" altLang="en-US"/>
              <a:pPr eaLnBrk="1" hangingPunct="1"/>
              <a:t>30</a:t>
            </a:fld>
            <a:endParaRPr lang="en-US" altLang="en-US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533400" y="1600200"/>
            <a:ext cx="8001000" cy="4498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Examples: (nesting of conditionals)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b="1" dirty="0" err="1"/>
              <a:t>localparam</a:t>
            </a:r>
            <a:r>
              <a:rPr lang="en-US" altLang="en-US" dirty="0"/>
              <a:t> add    = 3'b000</a:t>
            </a:r>
          </a:p>
          <a:p>
            <a:pPr eaLnBrk="1" hangingPunct="1"/>
            <a:r>
              <a:rPr lang="en-US" altLang="en-US" b="1" dirty="0" err="1"/>
              <a:t>localparam</a:t>
            </a:r>
            <a:r>
              <a:rPr lang="en-US" altLang="en-US" dirty="0"/>
              <a:t> and     = 3'b001</a:t>
            </a:r>
          </a:p>
          <a:p>
            <a:pPr eaLnBrk="1" hangingPunct="1"/>
            <a:r>
              <a:rPr lang="en-US" altLang="en-US" b="1" dirty="0" err="1"/>
              <a:t>localparam</a:t>
            </a:r>
            <a:r>
              <a:rPr lang="en-US" altLang="en-US" dirty="0"/>
              <a:t> </a:t>
            </a:r>
            <a:r>
              <a:rPr lang="en-US" altLang="en-US" dirty="0" err="1"/>
              <a:t>xor</a:t>
            </a:r>
            <a:r>
              <a:rPr lang="en-US" altLang="en-US" dirty="0"/>
              <a:t>     = 3'b010</a:t>
            </a:r>
          </a:p>
          <a:p>
            <a:pPr eaLnBrk="1" hangingPunct="1"/>
            <a:r>
              <a:rPr lang="en-US" altLang="en-US" b="1" dirty="0" err="1"/>
              <a:t>localparam</a:t>
            </a:r>
            <a:r>
              <a:rPr lang="en-US" altLang="en-US" dirty="0"/>
              <a:t> </a:t>
            </a:r>
            <a:r>
              <a:rPr lang="en-US" altLang="en-US" dirty="0" err="1"/>
              <a:t>shft_l</a:t>
            </a:r>
            <a:r>
              <a:rPr lang="en-US" altLang="en-US" dirty="0"/>
              <a:t>  = 3'b011</a:t>
            </a:r>
          </a:p>
          <a:p>
            <a:pPr eaLnBrk="1" hangingPunct="1"/>
            <a:r>
              <a:rPr lang="en-US" altLang="en-US" b="1" dirty="0" err="1"/>
              <a:t>localparam</a:t>
            </a:r>
            <a:r>
              <a:rPr lang="en-US" altLang="en-US" dirty="0"/>
              <a:t> </a:t>
            </a:r>
            <a:r>
              <a:rPr lang="en-US" altLang="en-US" dirty="0" err="1"/>
              <a:t>shft_r</a:t>
            </a:r>
            <a:r>
              <a:rPr lang="en-US" altLang="en-US" dirty="0"/>
              <a:t>  = 3'b100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// an ALU capable of </a:t>
            </a:r>
            <a:r>
              <a:rPr lang="en-US" altLang="en-US" dirty="0" err="1">
                <a:latin typeface="Tahoma" panose="020B0604030504040204" pitchFamily="34" charset="0"/>
              </a:rPr>
              <a:t>arithmetic,logical</a:t>
            </a:r>
            <a:r>
              <a:rPr lang="en-US" altLang="en-US" dirty="0">
                <a:latin typeface="Tahoma" panose="020B0604030504040204" pitchFamily="34" charset="0"/>
              </a:rPr>
              <a:t>, shift, and zero</a:t>
            </a:r>
          </a:p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assign</a:t>
            </a:r>
            <a:r>
              <a:rPr lang="en-US" altLang="en-US" dirty="0">
                <a:latin typeface="Tahoma" panose="020B0604030504040204" pitchFamily="34" charset="0"/>
              </a:rPr>
              <a:t> {</a:t>
            </a:r>
            <a:r>
              <a:rPr lang="en-US" altLang="en-US" dirty="0" err="1">
                <a:latin typeface="Tahoma" panose="020B0604030504040204" pitchFamily="34" charset="0"/>
              </a:rPr>
              <a:t>cout,dst</a:t>
            </a:r>
            <a:r>
              <a:rPr lang="en-US" altLang="en-US" dirty="0">
                <a:latin typeface="Tahoma" panose="020B0604030504040204" pitchFamily="34" charset="0"/>
              </a:rPr>
              <a:t>} = (op==add) 	? 	src1+src2+cin : 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                      	    (op==and) 	? 	{1’b0,src1 &amp; src2} :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		    (op==</a:t>
            </a:r>
            <a:r>
              <a:rPr lang="en-US" altLang="en-US" dirty="0" err="1">
                <a:latin typeface="Tahoma" panose="020B0604030504040204" pitchFamily="34" charset="0"/>
              </a:rPr>
              <a:t>xor</a:t>
            </a:r>
            <a:r>
              <a:rPr lang="en-US" altLang="en-US" dirty="0">
                <a:latin typeface="Tahoma" panose="020B0604030504040204" pitchFamily="34" charset="0"/>
              </a:rPr>
              <a:t>) 	? 	{1’b0,src1 ^ src2} :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		    (op==</a:t>
            </a:r>
            <a:r>
              <a:rPr lang="en-US" altLang="en-US" dirty="0" err="1">
                <a:latin typeface="Tahoma" panose="020B0604030504040204" pitchFamily="34" charset="0"/>
              </a:rPr>
              <a:t>shft_l</a:t>
            </a:r>
            <a:r>
              <a:rPr lang="en-US" altLang="en-US" dirty="0">
                <a:latin typeface="Tahoma" panose="020B0604030504040204" pitchFamily="34" charset="0"/>
              </a:rPr>
              <a:t>) 	? 	{src1,cin} :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                   	    (op==</a:t>
            </a:r>
            <a:r>
              <a:rPr lang="en-US" altLang="en-US" dirty="0" err="1">
                <a:latin typeface="Tahoma" panose="020B0604030504040204" pitchFamily="34" charset="0"/>
              </a:rPr>
              <a:t>shft_r</a:t>
            </a:r>
            <a:r>
              <a:rPr lang="en-US" altLang="en-US" dirty="0">
                <a:latin typeface="Tahoma" panose="020B0604030504040204" pitchFamily="34" charset="0"/>
              </a:rPr>
              <a:t>) 	? 	{src1[0],src1[15],src1[15:1]} :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					17’h00000;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		   </a:t>
            </a: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1981200" y="5867400"/>
            <a:ext cx="4740275" cy="65405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This can be very confusing to read if not coded with proper formating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10"/>
            <a:ext cx="8229600" cy="1143000"/>
          </a:xfrm>
        </p:spPr>
        <p:txBody>
          <a:bodyPr/>
          <a:lstStyle/>
          <a:p>
            <a:r>
              <a:rPr lang="en-US" sz="4000" dirty="0"/>
              <a:t>Aside: </a:t>
            </a:r>
            <a:r>
              <a:rPr lang="en-US" sz="3200" dirty="0" err="1"/>
              <a:t>enum</a:t>
            </a:r>
            <a:r>
              <a:rPr lang="en-US" sz="3200" dirty="0"/>
              <a:t> type for readability/</a:t>
            </a:r>
            <a:r>
              <a:rPr lang="en-US" sz="3200" dirty="0" err="1"/>
              <a:t>debugability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2895-1A62-40B5-92AA-CDBDB48804FD}" type="slidenum">
              <a:rPr lang="en-US" altLang="en-US" smtClean="0"/>
              <a:pPr/>
              <a:t>31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71621"/>
            <a:ext cx="5868219" cy="52585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629400" y="1687654"/>
            <a:ext cx="2209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</a:t>
            </a:r>
            <a:r>
              <a:rPr lang="en-US" dirty="0" err="1"/>
              <a:t>verilog</a:t>
            </a:r>
            <a:r>
              <a:rPr lang="en-US" dirty="0"/>
              <a:t> allows for the use of enumerated types.</a:t>
            </a:r>
          </a:p>
          <a:p>
            <a:endParaRPr lang="en-US" dirty="0"/>
          </a:p>
          <a:p>
            <a:r>
              <a:rPr lang="en-US" dirty="0"/>
              <a:t>Does not make the code more readable, but does enhance debug because of waveform view.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441" y="5586379"/>
            <a:ext cx="5556359" cy="9875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802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101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Operators: Arithmetic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1752282"/>
            <a:ext cx="8229600" cy="475615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Much easier (and better) than structural!</a:t>
            </a:r>
            <a:br>
              <a:rPr lang="en-US" altLang="en-US" dirty="0"/>
            </a:br>
            <a:r>
              <a:rPr lang="en-US" altLang="en-US" dirty="0"/>
              <a:t>	*	multiply		**	exponent</a:t>
            </a:r>
            <a:br>
              <a:rPr lang="en-US" altLang="en-US" dirty="0"/>
            </a:br>
            <a:r>
              <a:rPr lang="en-US" altLang="en-US" dirty="0"/>
              <a:t>	/ 	divide			%	modulus</a:t>
            </a:r>
            <a:br>
              <a:rPr lang="en-US" altLang="en-US" dirty="0"/>
            </a:br>
            <a:r>
              <a:rPr lang="en-US" altLang="en-US" dirty="0"/>
              <a:t>	+	add			-	subtract</a:t>
            </a:r>
          </a:p>
          <a:p>
            <a:pPr eaLnBrk="1" hangingPunct="1"/>
            <a:r>
              <a:rPr lang="en-US" altLang="en-US" dirty="0"/>
              <a:t>Some of these don’t synthesize</a:t>
            </a:r>
          </a:p>
          <a:p>
            <a:pPr eaLnBrk="1" hangingPunct="1"/>
            <a:r>
              <a:rPr lang="en-US" altLang="en-US" dirty="0"/>
              <a:t>Also have unary operators +/- (</a:t>
            </a:r>
            <a:r>
              <a:rPr lang="en-US" altLang="en-US" dirty="0" err="1"/>
              <a:t>pos</a:t>
            </a:r>
            <a:r>
              <a:rPr lang="en-US" altLang="en-US" dirty="0"/>
              <a:t>/</a:t>
            </a:r>
            <a:r>
              <a:rPr lang="en-US" altLang="en-US" dirty="0" err="1"/>
              <a:t>neg</a:t>
            </a:r>
            <a:r>
              <a:rPr lang="en-US" altLang="en-US" dirty="0"/>
              <a:t>)</a:t>
            </a:r>
          </a:p>
          <a:p>
            <a:pPr eaLnBrk="1" hangingPunct="1"/>
            <a:r>
              <a:rPr lang="en-US" altLang="en-US" dirty="0"/>
              <a:t>Understand </a:t>
            </a:r>
            <a:r>
              <a:rPr lang="en-US" altLang="en-US" dirty="0" err="1"/>
              <a:t>bitsize</a:t>
            </a:r>
            <a:r>
              <a:rPr lang="en-US" altLang="en-US" dirty="0"/>
              <a:t>!</a:t>
            </a:r>
          </a:p>
          <a:p>
            <a:pPr lvl="1" eaLnBrk="1" hangingPunct="1"/>
            <a:r>
              <a:rPr lang="en-US" altLang="en-US" dirty="0"/>
              <a:t>Can affect sign of result</a:t>
            </a:r>
          </a:p>
          <a:p>
            <a:pPr lvl="1" eaLnBrk="1" hangingPunct="1"/>
            <a:r>
              <a:rPr lang="en-US" altLang="en-US" dirty="0"/>
              <a:t>Is affected by </a:t>
            </a:r>
            <a:r>
              <a:rPr lang="en-US" altLang="en-US" dirty="0" err="1"/>
              <a:t>bitwidth</a:t>
            </a:r>
            <a:r>
              <a:rPr lang="en-US" altLang="en-US" dirty="0"/>
              <a:t> of BOTH sides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assign</a:t>
            </a:r>
            <a:r>
              <a:rPr lang="en-US" altLang="en-US" dirty="0"/>
              <a:t> </a:t>
            </a:r>
            <a:r>
              <a:rPr lang="en-US" altLang="en-US" dirty="0">
                <a:latin typeface="Tahoma" panose="020B0604030504040204" pitchFamily="34" charset="0"/>
              </a:rPr>
              <a:t>prod[7:0] = a[3:0] * b[3:0]</a:t>
            </a:r>
          </a:p>
        </p:txBody>
      </p:sp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701CB75-F7E9-4054-8261-2B44431978F2}" type="slidenum">
              <a:rPr lang="en-US" altLang="en-US"/>
              <a:pPr eaLnBrk="1" hangingPunct="1"/>
              <a:t>32</a:t>
            </a:fld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5486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Operators</a:t>
            </a:r>
          </a:p>
        </p:txBody>
      </p:sp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6D2A289-711C-477F-8419-20D1AA75CD4D}" type="slidenum">
              <a:rPr lang="en-US" altLang="en-US"/>
              <a:pPr eaLnBrk="1" hangingPunct="1"/>
              <a:t>33</a:t>
            </a:fld>
            <a:endParaRPr lang="en-US" altLang="en-US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0410174-60E3-4BBC-98D0-8E89D0FF3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49814"/>
              </p:ext>
            </p:extLst>
          </p:nvPr>
        </p:nvGraphicFramePr>
        <p:xfrm>
          <a:off x="762000" y="1752600"/>
          <a:ext cx="75438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>
                  <a:extLst>
                    <a:ext uri="{9D8B030D-6E8A-4147-A177-3AD203B41FA5}">
                      <a16:colId xmlns:a16="http://schemas.microsoft.com/office/drawing/2014/main" val="68105394"/>
                    </a:ext>
                  </a:extLst>
                </a:gridCol>
                <a:gridCol w="1702450">
                  <a:extLst>
                    <a:ext uri="{9D8B030D-6E8A-4147-A177-3AD203B41FA5}">
                      <a16:colId xmlns:a16="http://schemas.microsoft.com/office/drawing/2014/main" val="35093501"/>
                    </a:ext>
                  </a:extLst>
                </a:gridCol>
                <a:gridCol w="4385930">
                  <a:extLst>
                    <a:ext uri="{9D8B030D-6E8A-4147-A177-3AD203B41FA5}">
                      <a16:colId xmlns:a16="http://schemas.microsoft.com/office/drawing/2014/main" val="2285669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Operator Category: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715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&gt;&gt;, &lt;&lt;, &gt;&gt;&gt;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&gt;&gt;&gt; only works of operand and </a:t>
                      </a:r>
                      <a:r>
                        <a:rPr lang="en-US" dirty="0" err="1"/>
                        <a:t>dest</a:t>
                      </a:r>
                      <a:r>
                        <a:rPr lang="en-US" dirty="0"/>
                        <a:t> signal declared as 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signed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02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&lt;,&gt;,&lt;=,&gt;=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Will default to unsigned comparison if operands are not declared as 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signed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215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==,!=, ===, !==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=== and !== compare x’s and z’s explicitly not as don’t care.  Use in testbenches.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159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&amp;&amp;, ||, 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 clause for 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dirty="0"/>
                        <a:t> or ternary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29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Bitwise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&amp;, |, ^, 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Applies bit by bit, ~ is unary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9454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Reduction Operators </a:t>
            </a:r>
            <a:r>
              <a:rPr lang="en-US" altLang="en-US" sz="2400" dirty="0"/>
              <a:t>(remember these…they are slick)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447800"/>
          </a:xfrm>
        </p:spPr>
        <p:txBody>
          <a:bodyPr/>
          <a:lstStyle/>
          <a:p>
            <a:pPr eaLnBrk="1" hangingPunct="1"/>
            <a:r>
              <a:rPr lang="en-US" altLang="en-US" dirty="0"/>
              <a:t>Reduction operators reduce all the bits of a vector to a single bit by performing an operation across all bits.</a:t>
            </a:r>
          </a:p>
        </p:txBody>
      </p:sp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3AB4899-0295-4AB6-BF24-10E2486276D9}" type="slidenum">
              <a:rPr lang="en-US" altLang="en-US"/>
              <a:pPr eaLnBrk="1" hangingPunct="1"/>
              <a:t>34</a:t>
            </a:fld>
            <a:endParaRPr lang="en-US" altLang="en-US"/>
          </a:p>
        </p:txBody>
      </p:sp>
      <p:sp>
        <p:nvSpPr>
          <p:cNvPr id="241668" name="Rectangle 4"/>
          <p:cNvSpPr>
            <a:spLocks noChangeArrowheads="1"/>
          </p:cNvSpPr>
          <p:nvPr/>
        </p:nvSpPr>
        <p:spPr bwMode="auto">
          <a:xfrm>
            <a:off x="457200" y="28956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Reduction AND</a:t>
            </a:r>
          </a:p>
          <a:p>
            <a:pPr lvl="2"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assign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dirty="0" err="1">
                <a:latin typeface="Tahoma" panose="020B0604030504040204" pitchFamily="34" charset="0"/>
              </a:rPr>
              <a:t>all_ones</a:t>
            </a:r>
            <a:r>
              <a:rPr lang="en-US" altLang="en-US" sz="2000" dirty="0">
                <a:latin typeface="Tahoma" panose="020B0604030504040204" pitchFamily="34" charset="0"/>
              </a:rPr>
              <a:t> = &amp;accumulator;	// are all bits set?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41669" name="Rectangle 5"/>
          <p:cNvSpPr>
            <a:spLocks noChangeArrowheads="1"/>
          </p:cNvSpPr>
          <p:nvPr/>
        </p:nvSpPr>
        <p:spPr bwMode="auto">
          <a:xfrm>
            <a:off x="457200" y="40386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Reduction OR</a:t>
            </a:r>
          </a:p>
          <a:p>
            <a:pPr lvl="2"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assign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dirty="0" err="1">
                <a:latin typeface="Tahoma" panose="020B0604030504040204" pitchFamily="34" charset="0"/>
              </a:rPr>
              <a:t>not_zero</a:t>
            </a:r>
            <a:r>
              <a:rPr lang="en-US" altLang="en-US" sz="2000" dirty="0">
                <a:latin typeface="Tahoma" panose="020B0604030504040204" pitchFamily="34" charset="0"/>
              </a:rPr>
              <a:t> = |</a:t>
            </a:r>
            <a:r>
              <a:rPr lang="en-US" altLang="en-US" sz="2000" dirty="0" err="1">
                <a:latin typeface="Tahoma" panose="020B0604030504040204" pitchFamily="34" charset="0"/>
              </a:rPr>
              <a:t>accuumulator</a:t>
            </a:r>
            <a:r>
              <a:rPr lang="en-US" altLang="en-US" sz="2000" dirty="0">
                <a:latin typeface="Tahoma" panose="020B0604030504040204" pitchFamily="34" charset="0"/>
              </a:rPr>
              <a:t>;	// are any bits set?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41670" name="Rectangle 6"/>
          <p:cNvSpPr>
            <a:spLocks noChangeArrowheads="1"/>
          </p:cNvSpPr>
          <p:nvPr/>
        </p:nvSpPr>
        <p:spPr bwMode="auto">
          <a:xfrm>
            <a:off x="457200" y="51816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Reduction XOR</a:t>
            </a:r>
          </a:p>
          <a:p>
            <a:pPr lvl="2"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assign</a:t>
            </a:r>
            <a:r>
              <a:rPr lang="en-US" altLang="en-US" sz="2000" dirty="0">
                <a:latin typeface="Tahoma" panose="020B0604030504040204" pitchFamily="34" charset="0"/>
              </a:rPr>
              <a:t> parity = ^</a:t>
            </a:r>
            <a:r>
              <a:rPr lang="en-US" altLang="en-US" sz="2000" dirty="0" err="1">
                <a:latin typeface="Tahoma" panose="020B0604030504040204" pitchFamily="34" charset="0"/>
              </a:rPr>
              <a:t>data_out</a:t>
            </a:r>
            <a:r>
              <a:rPr lang="en-US" altLang="en-US" sz="2000" dirty="0">
                <a:latin typeface="Tahoma" panose="020B0604030504040204" pitchFamily="34" charset="0"/>
              </a:rPr>
              <a:t>;		// even parity bit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1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1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8" grpId="0"/>
      <p:bldP spid="241669" grpId="0"/>
      <p:bldP spid="24167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Saturation Example</a:t>
            </a:r>
          </a:p>
        </p:txBody>
      </p:sp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701CB75-F7E9-4054-8261-2B44431978F2}" type="slidenum">
              <a:rPr lang="en-US" altLang="en-US"/>
              <a:pPr eaLnBrk="1" hangingPunct="1"/>
              <a:t>35</a:t>
            </a:fld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002FD1E-B1B9-486D-ABC9-2EF8571A7F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229600" cy="1447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Assume we have a 16-bit signed </a:t>
            </a:r>
            <a:r>
              <a:rPr lang="en-US" altLang="en-US" sz="2400" b="1" dirty="0"/>
              <a:t>sum</a:t>
            </a:r>
            <a:r>
              <a:rPr lang="en-US" altLang="en-US" sz="2400" dirty="0"/>
              <a:t> and want to saturate it to a 12-bit signed value for use in “downstream” calculations.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8FF52-8554-4F56-9CD0-F5213E08034D}"/>
              </a:ext>
            </a:extLst>
          </p:cNvPr>
          <p:cNvSpPr txBox="1"/>
          <p:nvPr/>
        </p:nvSpPr>
        <p:spPr>
          <a:xfrm>
            <a:off x="491815" y="2925128"/>
            <a:ext cx="80022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eaLnBrk="1" hangingPunct="1">
              <a:buNone/>
            </a:pPr>
            <a:r>
              <a:rPr lang="en-US" alt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sat12 = (!sum[15] &amp;&amp; |sum[14:11]) ? 12’h7FF :</a:t>
            </a:r>
          </a:p>
          <a:p>
            <a:pPr marL="0" indent="0" eaLnBrk="1" hangingPunct="1">
              <a:buNone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(sum[15] &amp;&amp; !&amp;sum[14:11]) ? 12’h800 :</a:t>
            </a:r>
          </a:p>
          <a:p>
            <a:pPr marL="0" indent="0" eaLnBrk="1" hangingPunct="1">
              <a:buNone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sum[11:0];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4B166-5DB4-42EF-9BE4-045EBE9B17D3}"/>
              </a:ext>
            </a:extLst>
          </p:cNvPr>
          <p:cNvSpPr txBox="1"/>
          <p:nvPr/>
        </p:nvSpPr>
        <p:spPr>
          <a:xfrm>
            <a:off x="491815" y="5061584"/>
            <a:ext cx="79060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eaLnBrk="1" hangingPunct="1">
              <a:buNone/>
            </a:pPr>
            <a:r>
              <a:rPr lang="en-US" alt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sat12 = (~sum[15] &amp; |sum[14:11]) ? 12’h7FF :</a:t>
            </a:r>
          </a:p>
          <a:p>
            <a:pPr marL="0" indent="0" eaLnBrk="1" hangingPunct="1">
              <a:buNone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(sum[15] &amp; ~&amp;sum[14:11]) ? 12’h800 :</a:t>
            </a:r>
          </a:p>
          <a:p>
            <a:pPr marL="0" indent="0" eaLnBrk="1" hangingPunct="1">
              <a:buNone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sum[11:0];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63EF7-AE89-4731-B2D9-5B326056BBC2}"/>
              </a:ext>
            </a:extLst>
          </p:cNvPr>
          <p:cNvSpPr txBox="1"/>
          <p:nvPr/>
        </p:nvSpPr>
        <p:spPr>
          <a:xfrm>
            <a:off x="3886200" y="4362688"/>
            <a:ext cx="567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494071" y="2667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Latches with Continuous Assign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219200"/>
          </a:xfrm>
          <a:noFill/>
        </p:spPr>
        <p:txBody>
          <a:bodyPr/>
          <a:lstStyle/>
          <a:p>
            <a:pPr eaLnBrk="1" hangingPunct="1"/>
            <a:r>
              <a:rPr lang="en-US" altLang="en-US" sz="2800" dirty="0"/>
              <a:t>What does the following statement imply/do?</a:t>
            </a:r>
          </a:p>
          <a:p>
            <a:pPr lvl="1" eaLnBrk="1" hangingPunct="1"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assign</a:t>
            </a:r>
            <a:r>
              <a:rPr lang="en-US" altLang="en-US" sz="2800" dirty="0">
                <a:latin typeface="Tahoma" panose="020B0604030504040204" pitchFamily="34" charset="0"/>
              </a:rPr>
              <a:t> </a:t>
            </a:r>
            <a:r>
              <a:rPr lang="en-US" altLang="en-US" sz="2800" dirty="0" err="1">
                <a:latin typeface="Tahoma" panose="020B0604030504040204" pitchFamily="34" charset="0"/>
              </a:rPr>
              <a:t>q_out</a:t>
            </a:r>
            <a:r>
              <a:rPr lang="en-US" altLang="en-US" sz="2800" dirty="0">
                <a:latin typeface="Tahoma" panose="020B0604030504040204" pitchFamily="34" charset="0"/>
              </a:rPr>
              <a:t> = enable ? </a:t>
            </a:r>
            <a:r>
              <a:rPr lang="en-US" altLang="en-US" sz="2800" dirty="0" err="1">
                <a:latin typeface="Tahoma" panose="020B0604030504040204" pitchFamily="34" charset="0"/>
              </a:rPr>
              <a:t>data_in</a:t>
            </a:r>
            <a:r>
              <a:rPr lang="en-US" altLang="en-US" sz="2800" dirty="0">
                <a:latin typeface="Tahoma" panose="020B0604030504040204" pitchFamily="34" charset="0"/>
              </a:rPr>
              <a:t> : </a:t>
            </a:r>
            <a:r>
              <a:rPr lang="en-US" altLang="en-US" sz="2800" dirty="0" err="1">
                <a:latin typeface="Tahoma" panose="020B0604030504040204" pitchFamily="34" charset="0"/>
              </a:rPr>
              <a:t>q_out</a:t>
            </a:r>
            <a:r>
              <a:rPr lang="en-US" altLang="en-US" sz="2800" dirty="0">
                <a:latin typeface="Tahoma" panose="020B0604030504040204" pitchFamily="34" charset="0"/>
              </a:rPr>
              <a:t>;</a:t>
            </a:r>
          </a:p>
          <a:p>
            <a:pPr lvl="1" eaLnBrk="1" hangingPunct="1"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1286C6D-DBD4-4B73-BD2B-E87FF3B70578}" type="slidenum">
              <a:rPr lang="en-US" altLang="en-US"/>
              <a:pPr eaLnBrk="1" hangingPunct="1"/>
              <a:t>36</a:t>
            </a:fld>
            <a:endParaRPr lang="en-US" altLang="en-US"/>
          </a:p>
        </p:txBody>
      </p:sp>
      <p:sp>
        <p:nvSpPr>
          <p:cNvPr id="246790" name="Rectangle 6"/>
          <p:cNvSpPr>
            <a:spLocks noChangeArrowheads="1"/>
          </p:cNvSpPr>
          <p:nvPr/>
        </p:nvSpPr>
        <p:spPr bwMode="auto">
          <a:xfrm>
            <a:off x="464574" y="3338539"/>
            <a:ext cx="8229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</a:rPr>
              <a:t>It acts as a latch.  If enable is high new data goes to </a:t>
            </a:r>
            <a:r>
              <a:rPr lang="en-US" altLang="en-US" sz="2800" dirty="0" err="1">
                <a:latin typeface="Times New Roman" panose="02020603050405020304" pitchFamily="18" charset="0"/>
              </a:rPr>
              <a:t>q_out</a:t>
            </a:r>
            <a:r>
              <a:rPr lang="en-US" altLang="en-US" sz="2800" dirty="0">
                <a:latin typeface="Times New Roman" panose="02020603050405020304" pitchFamily="18" charset="0"/>
              </a:rPr>
              <a:t>.  Otherwise </a:t>
            </a:r>
            <a:r>
              <a:rPr lang="en-US" altLang="en-US" sz="2800" dirty="0" err="1">
                <a:latin typeface="Times New Roman" panose="02020603050405020304" pitchFamily="18" charset="0"/>
              </a:rPr>
              <a:t>q_out</a:t>
            </a:r>
            <a:r>
              <a:rPr lang="en-US" altLang="en-US" sz="2800" dirty="0">
                <a:latin typeface="Times New Roman" panose="02020603050405020304" pitchFamily="18" charset="0"/>
              </a:rPr>
              <a:t> maintains its previous value.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246791" name="Rectangle 7"/>
          <p:cNvSpPr>
            <a:spLocks noChangeArrowheads="1"/>
          </p:cNvSpPr>
          <p:nvPr/>
        </p:nvSpPr>
        <p:spPr bwMode="auto">
          <a:xfrm>
            <a:off x="425245" y="6003925"/>
            <a:ext cx="8229600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</a:rPr>
              <a:t>It simulates fine…just like a latch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246792" name="Rectangle 8"/>
          <p:cNvSpPr>
            <a:spLocks noChangeArrowheads="1"/>
          </p:cNvSpPr>
          <p:nvPr/>
        </p:nvSpPr>
        <p:spPr bwMode="auto">
          <a:xfrm>
            <a:off x="425245" y="4827076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</a:rPr>
              <a:t>Ask yourself…It that what I meant when I coded this?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6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90" grpId="0"/>
      <p:bldP spid="246791" grpId="0"/>
      <p:bldP spid="24679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412955" y="16766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Latches with Continuous Assign</a:t>
            </a:r>
          </a:p>
        </p:txBody>
      </p:sp>
      <p:sp>
        <p:nvSpPr>
          <p:cNvPr id="49157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2209800"/>
            <a:ext cx="8229600" cy="6858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How does it synthesize??</a:t>
            </a:r>
          </a:p>
          <a:p>
            <a:pPr lvl="1" eaLnBrk="1" hangingPunct="1"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</p:txBody>
      </p:sp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A463F18-6195-4413-B25A-A7B71A554BDA}" type="slidenum">
              <a:rPr lang="en-US" altLang="en-US"/>
              <a:pPr eaLnBrk="1" hangingPunct="1"/>
              <a:t>37</a:t>
            </a:fld>
            <a:endParaRPr lang="en-US" altLang="en-US"/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203325" y="1606550"/>
            <a:ext cx="6027738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sz="2000" b="1"/>
              <a:t>assign</a:t>
            </a:r>
            <a:r>
              <a:rPr lang="en-US" altLang="en-US" sz="2000"/>
              <a:t> q_out = enable ? data_in : q_out</a:t>
            </a:r>
            <a:r>
              <a:rPr lang="en-US" altLang="en-US"/>
              <a:t>;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457200" y="2743200"/>
            <a:ext cx="3200400" cy="3384550"/>
            <a:chOff x="288" y="1728"/>
            <a:chExt cx="2016" cy="2132"/>
          </a:xfrm>
        </p:grpSpPr>
        <p:sp>
          <p:nvSpPr>
            <p:cNvPr id="49180" name="Rectangle 6"/>
            <p:cNvSpPr>
              <a:spLocks noChangeArrowheads="1"/>
            </p:cNvSpPr>
            <p:nvPr/>
          </p:nvSpPr>
          <p:spPr bwMode="auto">
            <a:xfrm>
              <a:off x="1152" y="1968"/>
              <a:ext cx="288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81" name="Text Box 7"/>
            <p:cNvSpPr txBox="1">
              <a:spLocks noChangeArrowheads="1"/>
            </p:cNvSpPr>
            <p:nvPr/>
          </p:nvSpPr>
          <p:spPr bwMode="auto">
            <a:xfrm>
              <a:off x="1152" y="2256"/>
              <a:ext cx="2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en</a:t>
              </a:r>
            </a:p>
          </p:txBody>
        </p:sp>
        <p:sp>
          <p:nvSpPr>
            <p:cNvPr id="49182" name="Line 8"/>
            <p:cNvSpPr>
              <a:spLocks noChangeShapeType="1"/>
            </p:cNvSpPr>
            <p:nvPr/>
          </p:nvSpPr>
          <p:spPr bwMode="auto">
            <a:xfrm>
              <a:off x="1296" y="249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83" name="Text Box 9"/>
            <p:cNvSpPr txBox="1">
              <a:spLocks noChangeArrowheads="1"/>
            </p:cNvSpPr>
            <p:nvPr/>
          </p:nvSpPr>
          <p:spPr bwMode="auto">
            <a:xfrm>
              <a:off x="998" y="2612"/>
              <a:ext cx="5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enable</a:t>
              </a:r>
            </a:p>
          </p:txBody>
        </p:sp>
        <p:sp>
          <p:nvSpPr>
            <p:cNvPr id="49184" name="Line 10"/>
            <p:cNvSpPr>
              <a:spLocks noChangeShapeType="1"/>
            </p:cNvSpPr>
            <p:nvPr/>
          </p:nvSpPr>
          <p:spPr bwMode="auto">
            <a:xfrm>
              <a:off x="1008" y="22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85" name="Text Box 11"/>
            <p:cNvSpPr txBox="1">
              <a:spLocks noChangeArrowheads="1"/>
            </p:cNvSpPr>
            <p:nvPr/>
          </p:nvSpPr>
          <p:spPr bwMode="auto">
            <a:xfrm>
              <a:off x="336" y="2064"/>
              <a:ext cx="6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data_in</a:t>
              </a:r>
            </a:p>
          </p:txBody>
        </p:sp>
        <p:sp>
          <p:nvSpPr>
            <p:cNvPr id="49186" name="Line 12"/>
            <p:cNvSpPr>
              <a:spLocks noChangeShapeType="1"/>
            </p:cNvSpPr>
            <p:nvPr/>
          </p:nvSpPr>
          <p:spPr bwMode="auto">
            <a:xfrm>
              <a:off x="1440" y="22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87" name="Text Box 13"/>
            <p:cNvSpPr txBox="1">
              <a:spLocks noChangeArrowheads="1"/>
            </p:cNvSpPr>
            <p:nvPr/>
          </p:nvSpPr>
          <p:spPr bwMode="auto">
            <a:xfrm>
              <a:off x="1574" y="2084"/>
              <a:ext cx="53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q_out</a:t>
              </a:r>
            </a:p>
          </p:txBody>
        </p:sp>
        <p:sp>
          <p:nvSpPr>
            <p:cNvPr id="49188" name="Rectangle 14"/>
            <p:cNvSpPr>
              <a:spLocks noChangeArrowheads="1"/>
            </p:cNvSpPr>
            <p:nvPr/>
          </p:nvSpPr>
          <p:spPr bwMode="auto">
            <a:xfrm>
              <a:off x="288" y="1728"/>
              <a:ext cx="2016" cy="1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89" name="Text Box 15"/>
            <p:cNvSpPr txBox="1">
              <a:spLocks noChangeArrowheads="1"/>
            </p:cNvSpPr>
            <p:nvPr/>
          </p:nvSpPr>
          <p:spPr bwMode="auto">
            <a:xfrm>
              <a:off x="288" y="3024"/>
              <a:ext cx="2016" cy="8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Is the synthesizer smart enough to see this as a latch</a:t>
              </a:r>
            </a:p>
            <a:p>
              <a:pPr eaLnBrk="1" hangingPunct="1"/>
              <a:r>
                <a:rPr lang="en-US" altLang="en-US" sz="1600"/>
                <a:t>and pick a latch element from the standard cell library?</a:t>
              </a:r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4876800" y="2286000"/>
            <a:ext cx="3733800" cy="3825875"/>
            <a:chOff x="3072" y="1440"/>
            <a:chExt cx="2352" cy="2410"/>
          </a:xfrm>
        </p:grpSpPr>
        <p:sp>
          <p:nvSpPr>
            <p:cNvPr id="49160" name="Line 17"/>
            <p:cNvSpPr>
              <a:spLocks noChangeShapeType="1"/>
            </p:cNvSpPr>
            <p:nvPr/>
          </p:nvSpPr>
          <p:spPr bwMode="auto">
            <a:xfrm flipH="1" flipV="1">
              <a:off x="4176" y="1680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1" name="Line 18"/>
            <p:cNvSpPr>
              <a:spLocks noChangeShapeType="1"/>
            </p:cNvSpPr>
            <p:nvPr/>
          </p:nvSpPr>
          <p:spPr bwMode="auto">
            <a:xfrm flipH="1">
              <a:off x="4176" y="2400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2" name="Line 19"/>
            <p:cNvSpPr>
              <a:spLocks noChangeShapeType="1"/>
            </p:cNvSpPr>
            <p:nvPr/>
          </p:nvSpPr>
          <p:spPr bwMode="auto">
            <a:xfrm flipV="1">
              <a:off x="4416" y="1920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3" name="Line 20"/>
            <p:cNvSpPr>
              <a:spLocks noChangeShapeType="1"/>
            </p:cNvSpPr>
            <p:nvPr/>
          </p:nvSpPr>
          <p:spPr bwMode="auto">
            <a:xfrm>
              <a:off x="4176" y="1680"/>
              <a:ext cx="0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4" name="Line 21"/>
            <p:cNvSpPr>
              <a:spLocks noChangeShapeType="1"/>
            </p:cNvSpPr>
            <p:nvPr/>
          </p:nvSpPr>
          <p:spPr bwMode="auto">
            <a:xfrm>
              <a:off x="4416" y="216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5" name="Line 22"/>
            <p:cNvSpPr>
              <a:spLocks noChangeShapeType="1"/>
            </p:cNvSpPr>
            <p:nvPr/>
          </p:nvSpPr>
          <p:spPr bwMode="auto">
            <a:xfrm flipH="1">
              <a:off x="3984" y="192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6" name="Line 23"/>
            <p:cNvSpPr>
              <a:spLocks noChangeShapeType="1"/>
            </p:cNvSpPr>
            <p:nvPr/>
          </p:nvSpPr>
          <p:spPr bwMode="auto">
            <a:xfrm flipH="1">
              <a:off x="3984" y="244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7" name="Line 24"/>
            <p:cNvSpPr>
              <a:spLocks noChangeShapeType="1"/>
            </p:cNvSpPr>
            <p:nvPr/>
          </p:nvSpPr>
          <p:spPr bwMode="auto">
            <a:xfrm flipV="1">
              <a:off x="4608" y="1536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8" name="Line 25"/>
            <p:cNvSpPr>
              <a:spLocks noChangeShapeType="1"/>
            </p:cNvSpPr>
            <p:nvPr/>
          </p:nvSpPr>
          <p:spPr bwMode="auto">
            <a:xfrm flipH="1">
              <a:off x="3984" y="1536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9" name="Line 26"/>
            <p:cNvSpPr>
              <a:spLocks noChangeShapeType="1"/>
            </p:cNvSpPr>
            <p:nvPr/>
          </p:nvSpPr>
          <p:spPr bwMode="auto">
            <a:xfrm flipV="1">
              <a:off x="3984" y="1536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0" name="Line 27"/>
            <p:cNvSpPr>
              <a:spLocks noChangeShapeType="1"/>
            </p:cNvSpPr>
            <p:nvPr/>
          </p:nvSpPr>
          <p:spPr bwMode="auto">
            <a:xfrm>
              <a:off x="4608" y="216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1" name="Oval 28"/>
            <p:cNvSpPr>
              <a:spLocks noChangeArrowheads="1"/>
            </p:cNvSpPr>
            <p:nvPr/>
          </p:nvSpPr>
          <p:spPr bwMode="auto">
            <a:xfrm>
              <a:off x="4584" y="2134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72" name="Line 29"/>
            <p:cNvSpPr>
              <a:spLocks noChangeShapeType="1"/>
            </p:cNvSpPr>
            <p:nvPr/>
          </p:nvSpPr>
          <p:spPr bwMode="auto">
            <a:xfrm>
              <a:off x="4272" y="2544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3" name="Text Box 30"/>
            <p:cNvSpPr txBox="1">
              <a:spLocks noChangeArrowheads="1"/>
            </p:cNvSpPr>
            <p:nvPr/>
          </p:nvSpPr>
          <p:spPr bwMode="auto">
            <a:xfrm>
              <a:off x="3312" y="2304"/>
              <a:ext cx="6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data_in</a:t>
              </a:r>
            </a:p>
          </p:txBody>
        </p:sp>
        <p:sp>
          <p:nvSpPr>
            <p:cNvPr id="49174" name="Text Box 31"/>
            <p:cNvSpPr txBox="1">
              <a:spLocks noChangeArrowheads="1"/>
            </p:cNvSpPr>
            <p:nvPr/>
          </p:nvSpPr>
          <p:spPr bwMode="auto">
            <a:xfrm>
              <a:off x="4752" y="2016"/>
              <a:ext cx="53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q_out</a:t>
              </a:r>
            </a:p>
          </p:txBody>
        </p:sp>
        <p:sp>
          <p:nvSpPr>
            <p:cNvPr id="49175" name="Text Box 32"/>
            <p:cNvSpPr txBox="1">
              <a:spLocks noChangeArrowheads="1"/>
            </p:cNvSpPr>
            <p:nvPr/>
          </p:nvSpPr>
          <p:spPr bwMode="auto">
            <a:xfrm>
              <a:off x="3984" y="2784"/>
              <a:ext cx="5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enable</a:t>
              </a:r>
            </a:p>
          </p:txBody>
        </p:sp>
        <p:sp>
          <p:nvSpPr>
            <p:cNvPr id="49176" name="Rectangle 33"/>
            <p:cNvSpPr>
              <a:spLocks noChangeArrowheads="1"/>
            </p:cNvSpPr>
            <p:nvPr/>
          </p:nvSpPr>
          <p:spPr bwMode="auto">
            <a:xfrm>
              <a:off x="3072" y="1440"/>
              <a:ext cx="2352" cy="17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77" name="Text Box 34"/>
            <p:cNvSpPr txBox="1">
              <a:spLocks noChangeArrowheads="1"/>
            </p:cNvSpPr>
            <p:nvPr/>
          </p:nvSpPr>
          <p:spPr bwMode="auto">
            <a:xfrm>
              <a:off x="3072" y="3168"/>
              <a:ext cx="2352" cy="68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Or is it what you code is what you get?  A combinational feedback loop.  Still acts like a latch.  Do you feel comfortable with this?</a:t>
              </a:r>
            </a:p>
          </p:txBody>
        </p:sp>
        <p:sp>
          <p:nvSpPr>
            <p:cNvPr id="49178" name="Text Box 37"/>
            <p:cNvSpPr txBox="1">
              <a:spLocks noChangeArrowheads="1"/>
            </p:cNvSpPr>
            <p:nvPr/>
          </p:nvSpPr>
          <p:spPr bwMode="auto">
            <a:xfrm>
              <a:off x="4176" y="1824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0</a:t>
              </a:r>
            </a:p>
          </p:txBody>
        </p:sp>
        <p:sp>
          <p:nvSpPr>
            <p:cNvPr id="49179" name="Text Box 38"/>
            <p:cNvSpPr txBox="1">
              <a:spLocks noChangeArrowheads="1"/>
            </p:cNvSpPr>
            <p:nvPr/>
          </p:nvSpPr>
          <p:spPr bwMode="auto">
            <a:xfrm>
              <a:off x="4176" y="2304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A16664-75C2-4D9B-9AFD-8D33BA72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A59A6-14C3-4A07-90E1-020029D77968}"/>
              </a:ext>
            </a:extLst>
          </p:cNvPr>
          <p:cNvSpPr txBox="1"/>
          <p:nvPr/>
        </p:nvSpPr>
        <p:spPr>
          <a:xfrm>
            <a:off x="2895600" y="3124200"/>
            <a:ext cx="329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 of part II of Lecture02</a:t>
            </a:r>
          </a:p>
        </p:txBody>
      </p:sp>
    </p:spTree>
    <p:extLst>
      <p:ext uri="{BB962C8B-B14F-4D97-AF65-F5344CB8AC3E}">
        <p14:creationId xmlns:p14="http://schemas.microsoft.com/office/powerpoint/2010/main" val="1924263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44451"/>
            <a:ext cx="59436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Arrays &amp; Memories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7950"/>
            <a:ext cx="8229600" cy="1219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Can have multi-</a:t>
            </a:r>
            <a:r>
              <a:rPr lang="en-US" altLang="en-US" sz="2400" dirty="0" err="1"/>
              <a:t>dimentional</a:t>
            </a:r>
            <a:r>
              <a:rPr lang="en-US" altLang="en-US" sz="2400" dirty="0"/>
              <a:t> arrays</a:t>
            </a:r>
          </a:p>
          <a:p>
            <a:pPr lvl="1" eaLnBrk="1" hangingPunct="1"/>
            <a:r>
              <a:rPr lang="en-US" altLang="en-US" b="1" dirty="0" err="1">
                <a:latin typeface="Tahoma" panose="020B0604030504040204" pitchFamily="34" charset="0"/>
              </a:rPr>
              <a:t>reg</a:t>
            </a:r>
            <a:r>
              <a:rPr lang="en-US" altLang="en-US" dirty="0">
                <a:latin typeface="Tahoma" panose="020B0604030504040204" pitchFamily="34" charset="0"/>
              </a:rPr>
              <a:t> [7:0] mem[0:99][0:3];	// what is this?</a:t>
            </a:r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557B3E4-643F-4FCF-B5B9-3201EE7C195D}" type="slidenum">
              <a:rPr lang="en-US" altLang="en-US"/>
              <a:pPr eaLnBrk="1" hangingPunct="1"/>
              <a:t>39</a:t>
            </a:fld>
            <a:endParaRPr lang="en-US" altLang="en-US"/>
          </a:p>
        </p:txBody>
      </p:sp>
      <p:sp>
        <p:nvSpPr>
          <p:cNvPr id="202757" name="Rectangle 5"/>
          <p:cNvSpPr>
            <a:spLocks noChangeArrowheads="1"/>
          </p:cNvSpPr>
          <p:nvPr/>
        </p:nvSpPr>
        <p:spPr bwMode="auto">
          <a:xfrm>
            <a:off x="487680" y="2566988"/>
            <a:ext cx="8229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</a:rPr>
              <a:t>Often have to model memories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</a:rPr>
              <a:t>RF, SRAM, ROM, Flash, Cache</a:t>
            </a:r>
          </a:p>
          <a:p>
            <a:pPr lvl="1" eaLnBrk="1" hangingPunct="1">
              <a:spcBef>
                <a:spcPct val="20000"/>
              </a:spcBef>
              <a:buClr>
                <a:srgbClr val="0000A0"/>
              </a:buClr>
              <a:buSzPct val="125000"/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</a:rPr>
              <a:t> Memories can be useful in your test bench</a:t>
            </a:r>
            <a:endParaRPr lang="en-US" altLang="en-US" sz="2200" dirty="0">
              <a:latin typeface="Tahoma" panose="020B0604030504040204" pitchFamily="34" charset="0"/>
            </a:endParaRPr>
          </a:p>
        </p:txBody>
      </p:sp>
      <p:sp>
        <p:nvSpPr>
          <p:cNvPr id="202758" name="Text Box 6"/>
          <p:cNvSpPr txBox="1">
            <a:spLocks noChangeArrowheads="1"/>
          </p:cNvSpPr>
          <p:nvPr/>
        </p:nvSpPr>
        <p:spPr bwMode="auto">
          <a:xfrm>
            <a:off x="354011" y="4052888"/>
            <a:ext cx="7186614" cy="258532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input</a:t>
            </a:r>
            <a:r>
              <a:rPr lang="en-US" altLang="en-US" dirty="0">
                <a:latin typeface="Tahoma" panose="020B0604030504040204" pitchFamily="34" charset="0"/>
              </a:rPr>
              <a:t> [4:0] addr1, addr2;</a:t>
            </a:r>
          </a:p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input</a:t>
            </a:r>
            <a:r>
              <a:rPr lang="en-US" altLang="en-US" dirty="0">
                <a:latin typeface="Tahoma" panose="020B0604030504040204" pitchFamily="34" charset="0"/>
              </a:rPr>
              <a:t> </a:t>
            </a:r>
            <a:r>
              <a:rPr lang="en-US" altLang="en-US" dirty="0" err="1">
                <a:latin typeface="Tahoma" panose="020B0604030504040204" pitchFamily="34" charset="0"/>
              </a:rPr>
              <a:t>rd,wrt</a:t>
            </a:r>
            <a:r>
              <a:rPr lang="en-US" altLang="en-US" dirty="0">
                <a:latin typeface="Tahoma" panose="020B0604030504040204" pitchFamily="34" charset="0"/>
              </a:rPr>
              <a:t>;		// read and write enables</a:t>
            </a:r>
          </a:p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output</a:t>
            </a:r>
            <a:r>
              <a:rPr lang="en-US" altLang="en-US" dirty="0">
                <a:latin typeface="Tahoma" panose="020B0604030504040204" pitchFamily="34" charset="0"/>
              </a:rPr>
              <a:t> [15:0] src1,src2;	// source busses to ALU</a:t>
            </a:r>
          </a:p>
          <a:p>
            <a:pPr eaLnBrk="1" hangingPunct="1"/>
            <a:endParaRPr lang="en-US" altLang="en-US" sz="800" dirty="0">
              <a:latin typeface="Tahoma" panose="020B0604030504040204" pitchFamily="34" charset="0"/>
            </a:endParaRPr>
          </a:p>
          <a:p>
            <a:pPr eaLnBrk="1" hangingPunct="1"/>
            <a:r>
              <a:rPr lang="en-US" altLang="en-US" b="1" dirty="0" err="1">
                <a:latin typeface="Tahoma" panose="020B0604030504040204" pitchFamily="34" charset="0"/>
              </a:rPr>
              <a:t>reg</a:t>
            </a:r>
            <a:r>
              <a:rPr lang="en-US" altLang="en-US" dirty="0">
                <a:latin typeface="Tahoma" panose="020B0604030504040204" pitchFamily="34" charset="0"/>
              </a:rPr>
              <a:t> [15:0] </a:t>
            </a:r>
            <a:r>
              <a:rPr lang="en-US" altLang="en-US" dirty="0" err="1">
                <a:latin typeface="Tahoma" panose="020B0604030504040204" pitchFamily="34" charset="0"/>
              </a:rPr>
              <a:t>reg_file</a:t>
            </a:r>
            <a:r>
              <a:rPr lang="en-US" altLang="en-US" dirty="0">
                <a:latin typeface="Tahoma" panose="020B0604030504040204" pitchFamily="34" charset="0"/>
              </a:rPr>
              <a:t>[0:31];	// Register file of 32 16-bit words</a:t>
            </a:r>
          </a:p>
          <a:p>
            <a:pPr eaLnBrk="1" hangingPunct="1"/>
            <a:r>
              <a:rPr lang="en-US" altLang="en-US" sz="1400" dirty="0">
                <a:latin typeface="Tahoma" panose="020B0604030504040204" pitchFamily="34" charset="0"/>
              </a:rPr>
              <a:t>.</a:t>
            </a:r>
          </a:p>
          <a:p>
            <a:pPr eaLnBrk="1" hangingPunct="1"/>
            <a:r>
              <a:rPr lang="en-US" altLang="en-US" sz="1400" dirty="0">
                <a:latin typeface="Tahoma" panose="020B0604030504040204" pitchFamily="34" charset="0"/>
              </a:rPr>
              <a:t>.</a:t>
            </a:r>
          </a:p>
          <a:p>
            <a:pPr eaLnBrk="1" hangingPunct="1"/>
            <a:r>
              <a:rPr lang="en-US" altLang="en-US" b="1" dirty="0">
                <a:latin typeface="Tahoma" panose="020B0604030504040204" pitchFamily="34" charset="0"/>
              </a:rPr>
              <a:t>assign</a:t>
            </a:r>
            <a:r>
              <a:rPr lang="en-US" altLang="en-US" dirty="0">
                <a:latin typeface="Tahoma" panose="020B0604030504040204" pitchFamily="34" charset="0"/>
              </a:rPr>
              <a:t> src1 = (</a:t>
            </a:r>
            <a:r>
              <a:rPr lang="en-US" altLang="en-US" dirty="0" err="1">
                <a:latin typeface="Tahoma" panose="020B0604030504040204" pitchFamily="34" charset="0"/>
              </a:rPr>
              <a:t>rd</a:t>
            </a:r>
            <a:r>
              <a:rPr lang="en-US" altLang="en-US" dirty="0">
                <a:latin typeface="Tahoma" panose="020B0604030504040204" pitchFamily="34" charset="0"/>
              </a:rPr>
              <a:t>) ? </a:t>
            </a:r>
            <a:r>
              <a:rPr lang="en-US" altLang="en-US" dirty="0" err="1">
                <a:latin typeface="Tahoma" panose="020B0604030504040204" pitchFamily="34" charset="0"/>
              </a:rPr>
              <a:t>reg_file</a:t>
            </a:r>
            <a:r>
              <a:rPr lang="en-US" altLang="en-US" dirty="0">
                <a:latin typeface="Tahoma" panose="020B0604030504040204" pitchFamily="34" charset="0"/>
              </a:rPr>
              <a:t>[addr1] :   // transfer addressed register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                  16’hzzzz		     // otherwise back off bus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.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5486400" y="2438400"/>
            <a:ext cx="3352800" cy="2393950"/>
            <a:chOff x="3456" y="1680"/>
            <a:chExt cx="2112" cy="1508"/>
          </a:xfrm>
        </p:grpSpPr>
        <p:sp>
          <p:nvSpPr>
            <p:cNvPr id="17416" name="Line 7"/>
            <p:cNvSpPr>
              <a:spLocks noChangeShapeType="1"/>
            </p:cNvSpPr>
            <p:nvPr/>
          </p:nvSpPr>
          <p:spPr bwMode="auto">
            <a:xfrm>
              <a:off x="4992" y="2544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Line 8"/>
            <p:cNvSpPr>
              <a:spLocks noChangeShapeType="1"/>
            </p:cNvSpPr>
            <p:nvPr/>
          </p:nvSpPr>
          <p:spPr bwMode="auto">
            <a:xfrm flipH="1">
              <a:off x="5088" y="2544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8" name="Line 9"/>
            <p:cNvSpPr>
              <a:spLocks noChangeShapeType="1"/>
            </p:cNvSpPr>
            <p:nvPr/>
          </p:nvSpPr>
          <p:spPr bwMode="auto">
            <a:xfrm flipH="1">
              <a:off x="4752" y="2544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9" name="Line 10"/>
            <p:cNvSpPr>
              <a:spLocks noChangeShapeType="1"/>
            </p:cNvSpPr>
            <p:nvPr/>
          </p:nvSpPr>
          <p:spPr bwMode="auto">
            <a:xfrm>
              <a:off x="4752" y="2544"/>
              <a:ext cx="19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0" name="Line 11"/>
            <p:cNvSpPr>
              <a:spLocks noChangeShapeType="1"/>
            </p:cNvSpPr>
            <p:nvPr/>
          </p:nvSpPr>
          <p:spPr bwMode="auto">
            <a:xfrm flipV="1">
              <a:off x="5232" y="2544"/>
              <a:ext cx="19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Line 12"/>
            <p:cNvSpPr>
              <a:spLocks noChangeShapeType="1"/>
            </p:cNvSpPr>
            <p:nvPr/>
          </p:nvSpPr>
          <p:spPr bwMode="auto">
            <a:xfrm flipH="1">
              <a:off x="5184" y="2544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2" name="Line 13"/>
            <p:cNvSpPr>
              <a:spLocks noChangeShapeType="1"/>
            </p:cNvSpPr>
            <p:nvPr/>
          </p:nvSpPr>
          <p:spPr bwMode="auto">
            <a:xfrm>
              <a:off x="4944" y="283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3" name="Text Box 14"/>
            <p:cNvSpPr txBox="1">
              <a:spLocks noChangeArrowheads="1"/>
            </p:cNvSpPr>
            <p:nvPr/>
          </p:nvSpPr>
          <p:spPr bwMode="auto">
            <a:xfrm>
              <a:off x="4927" y="2625"/>
              <a:ext cx="33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ALU</a:t>
              </a:r>
            </a:p>
          </p:txBody>
        </p:sp>
        <p:sp>
          <p:nvSpPr>
            <p:cNvPr id="17424" name="Line 15"/>
            <p:cNvSpPr>
              <a:spLocks noChangeShapeType="1"/>
            </p:cNvSpPr>
            <p:nvPr/>
          </p:nvSpPr>
          <p:spPr bwMode="auto">
            <a:xfrm>
              <a:off x="4896" y="2208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5" name="Line 16"/>
            <p:cNvSpPr>
              <a:spLocks noChangeShapeType="1"/>
            </p:cNvSpPr>
            <p:nvPr/>
          </p:nvSpPr>
          <p:spPr bwMode="auto">
            <a:xfrm>
              <a:off x="5280" y="2352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6" name="Line 17"/>
            <p:cNvSpPr>
              <a:spLocks noChangeShapeType="1"/>
            </p:cNvSpPr>
            <p:nvPr/>
          </p:nvSpPr>
          <p:spPr bwMode="auto">
            <a:xfrm>
              <a:off x="4128" y="2208"/>
              <a:ext cx="7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7" name="Line 18"/>
            <p:cNvSpPr>
              <a:spLocks noChangeShapeType="1"/>
            </p:cNvSpPr>
            <p:nvPr/>
          </p:nvSpPr>
          <p:spPr bwMode="auto">
            <a:xfrm>
              <a:off x="4368" y="2352"/>
              <a:ext cx="10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8" name="Rectangle 19"/>
            <p:cNvSpPr>
              <a:spLocks noChangeArrowheads="1"/>
            </p:cNvSpPr>
            <p:nvPr/>
          </p:nvSpPr>
          <p:spPr bwMode="auto">
            <a:xfrm>
              <a:off x="4032" y="1728"/>
              <a:ext cx="432" cy="288"/>
            </a:xfrm>
            <a:prstGeom prst="rect">
              <a:avLst/>
            </a:prstGeom>
            <a:solidFill>
              <a:srgbClr val="6969FF">
                <a:alpha val="54901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RF</a:t>
              </a:r>
            </a:p>
          </p:txBody>
        </p:sp>
        <p:sp>
          <p:nvSpPr>
            <p:cNvPr id="17429" name="Rectangle 21"/>
            <p:cNvSpPr>
              <a:spLocks noChangeArrowheads="1"/>
            </p:cNvSpPr>
            <p:nvPr/>
          </p:nvSpPr>
          <p:spPr bwMode="auto">
            <a:xfrm>
              <a:off x="4560" y="1728"/>
              <a:ext cx="432" cy="288"/>
            </a:xfrm>
            <a:prstGeom prst="rect">
              <a:avLst/>
            </a:prstGeom>
            <a:solidFill>
              <a:schemeClr val="tx2">
                <a:alpha val="54901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Flash</a:t>
              </a:r>
            </a:p>
          </p:txBody>
        </p:sp>
        <p:sp>
          <p:nvSpPr>
            <p:cNvPr id="17430" name="Rectangle 22"/>
            <p:cNvSpPr>
              <a:spLocks noChangeArrowheads="1"/>
            </p:cNvSpPr>
            <p:nvPr/>
          </p:nvSpPr>
          <p:spPr bwMode="auto">
            <a:xfrm>
              <a:off x="5136" y="1728"/>
              <a:ext cx="432" cy="288"/>
            </a:xfrm>
            <a:prstGeom prst="rect">
              <a:avLst/>
            </a:prstGeom>
            <a:solidFill>
              <a:srgbClr val="FF6600">
                <a:alpha val="54901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I</a:t>
              </a:r>
              <a:r>
                <a:rPr lang="en-US" altLang="en-US" baseline="30000"/>
                <a:t>2</a:t>
              </a:r>
              <a:r>
                <a:rPr lang="en-US" altLang="en-US"/>
                <a:t>C</a:t>
              </a:r>
            </a:p>
          </p:txBody>
        </p:sp>
        <p:sp>
          <p:nvSpPr>
            <p:cNvPr id="17431" name="Line 23"/>
            <p:cNvSpPr>
              <a:spLocks noChangeShapeType="1"/>
            </p:cNvSpPr>
            <p:nvPr/>
          </p:nvSpPr>
          <p:spPr bwMode="auto">
            <a:xfrm>
              <a:off x="4128" y="201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2" name="Line 24"/>
            <p:cNvSpPr>
              <a:spLocks noChangeShapeType="1"/>
            </p:cNvSpPr>
            <p:nvPr/>
          </p:nvSpPr>
          <p:spPr bwMode="auto">
            <a:xfrm>
              <a:off x="4368" y="2016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3" name="Line 25"/>
            <p:cNvSpPr>
              <a:spLocks noChangeShapeType="1"/>
            </p:cNvSpPr>
            <p:nvPr/>
          </p:nvSpPr>
          <p:spPr bwMode="auto">
            <a:xfrm>
              <a:off x="5376" y="2016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4" name="Line 26"/>
            <p:cNvSpPr>
              <a:spLocks noChangeShapeType="1"/>
            </p:cNvSpPr>
            <p:nvPr/>
          </p:nvSpPr>
          <p:spPr bwMode="auto">
            <a:xfrm>
              <a:off x="4752" y="201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5" name="Line 27"/>
            <p:cNvSpPr>
              <a:spLocks noChangeShapeType="1"/>
            </p:cNvSpPr>
            <p:nvPr/>
          </p:nvSpPr>
          <p:spPr bwMode="auto">
            <a:xfrm>
              <a:off x="5088" y="283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6" name="Text Box 28"/>
            <p:cNvSpPr txBox="1">
              <a:spLocks noChangeArrowheads="1"/>
            </p:cNvSpPr>
            <p:nvPr/>
          </p:nvSpPr>
          <p:spPr bwMode="auto">
            <a:xfrm>
              <a:off x="4848" y="2976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result</a:t>
              </a:r>
            </a:p>
          </p:txBody>
        </p:sp>
        <p:sp>
          <p:nvSpPr>
            <p:cNvPr id="17437" name="Oval 29"/>
            <p:cNvSpPr>
              <a:spLocks noChangeArrowheads="1"/>
            </p:cNvSpPr>
            <p:nvPr/>
          </p:nvSpPr>
          <p:spPr bwMode="auto">
            <a:xfrm>
              <a:off x="4726" y="2184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438" name="Oval 30"/>
            <p:cNvSpPr>
              <a:spLocks noChangeArrowheads="1"/>
            </p:cNvSpPr>
            <p:nvPr/>
          </p:nvSpPr>
          <p:spPr bwMode="auto">
            <a:xfrm>
              <a:off x="5255" y="2328"/>
              <a:ext cx="48" cy="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439" name="Line 31"/>
            <p:cNvSpPr>
              <a:spLocks noChangeShapeType="1"/>
            </p:cNvSpPr>
            <p:nvPr/>
          </p:nvSpPr>
          <p:spPr bwMode="auto">
            <a:xfrm>
              <a:off x="3888" y="1776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Line 32"/>
            <p:cNvSpPr>
              <a:spLocks noChangeShapeType="1"/>
            </p:cNvSpPr>
            <p:nvPr/>
          </p:nvSpPr>
          <p:spPr bwMode="auto">
            <a:xfrm>
              <a:off x="3888" y="1968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1" name="Text Box 33"/>
            <p:cNvSpPr txBox="1">
              <a:spLocks noChangeArrowheads="1"/>
            </p:cNvSpPr>
            <p:nvPr/>
          </p:nvSpPr>
          <p:spPr bwMode="auto">
            <a:xfrm>
              <a:off x="3456" y="1680"/>
              <a:ext cx="44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addr1</a:t>
              </a:r>
            </a:p>
          </p:txBody>
        </p:sp>
        <p:sp>
          <p:nvSpPr>
            <p:cNvPr id="17442" name="Text Box 34"/>
            <p:cNvSpPr txBox="1">
              <a:spLocks noChangeArrowheads="1"/>
            </p:cNvSpPr>
            <p:nvPr/>
          </p:nvSpPr>
          <p:spPr bwMode="auto">
            <a:xfrm>
              <a:off x="3456" y="1872"/>
              <a:ext cx="44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addr2</a:t>
              </a:r>
            </a:p>
          </p:txBody>
        </p:sp>
        <p:sp>
          <p:nvSpPr>
            <p:cNvPr id="17443" name="Text Box 35"/>
            <p:cNvSpPr txBox="1">
              <a:spLocks noChangeArrowheads="1"/>
            </p:cNvSpPr>
            <p:nvPr/>
          </p:nvSpPr>
          <p:spPr bwMode="auto">
            <a:xfrm>
              <a:off x="4375" y="2048"/>
              <a:ext cx="35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src1</a:t>
              </a:r>
            </a:p>
          </p:txBody>
        </p:sp>
        <p:sp>
          <p:nvSpPr>
            <p:cNvPr id="17444" name="Text Box 36"/>
            <p:cNvSpPr txBox="1">
              <a:spLocks noChangeArrowheads="1"/>
            </p:cNvSpPr>
            <p:nvPr/>
          </p:nvSpPr>
          <p:spPr bwMode="auto">
            <a:xfrm>
              <a:off x="4376" y="2193"/>
              <a:ext cx="35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src2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7" grpId="0"/>
      <p:bldP spid="20275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-19663"/>
            <a:ext cx="57912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Parameters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97612"/>
            <a:ext cx="8229600" cy="1676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Parameters can make your code more generic/flexible. </a:t>
            </a:r>
          </a:p>
          <a:p>
            <a:pPr lvl="1" eaLnBrk="1" hangingPunct="1"/>
            <a:r>
              <a:rPr lang="en-US" altLang="en-US" sz="2000" dirty="0"/>
              <a:t>Defined locally to the module</a:t>
            </a:r>
          </a:p>
          <a:p>
            <a:pPr lvl="1" eaLnBrk="1" hangingPunct="1"/>
            <a:r>
              <a:rPr lang="en-US" altLang="en-US" sz="2000" dirty="0"/>
              <a:t>Can be overridden (passed a value in an instantiation)</a:t>
            </a:r>
          </a:p>
          <a:p>
            <a:pPr lvl="1" eaLnBrk="1" hangingPunct="1"/>
            <a:r>
              <a:rPr lang="en-US" altLang="en-US" sz="2000" dirty="0"/>
              <a:t>There is another method called </a:t>
            </a:r>
            <a:r>
              <a:rPr lang="en-US" altLang="en-US" sz="2000" b="1" dirty="0" err="1">
                <a:latin typeface="Tahoma" panose="020B0604030504040204" pitchFamily="34" charset="0"/>
              </a:rPr>
              <a:t>defparam</a:t>
            </a:r>
            <a:r>
              <a:rPr lang="en-US" altLang="en-US" sz="2000" dirty="0"/>
              <a:t> (don’t ever use it) that can override them</a:t>
            </a:r>
          </a:p>
          <a:p>
            <a:pPr lvl="1" eaLnBrk="1" hangingPunct="1">
              <a:buFontTx/>
              <a:buNone/>
            </a:pPr>
            <a:endParaRPr lang="en-US" altLang="en-US" dirty="0"/>
          </a:p>
          <a:p>
            <a:pPr eaLnBrk="1" hangingPunct="1"/>
            <a:r>
              <a:rPr lang="en-US" altLang="en-US" sz="2400" b="1" dirty="0" err="1">
                <a:latin typeface="Tahoma" panose="020B0604030504040204" pitchFamily="34" charset="0"/>
              </a:rPr>
              <a:t>localparam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Wingdings" panose="05000000000000000000" pitchFamily="2" charset="2"/>
              </a:rPr>
              <a:t> more local than parameter</a:t>
            </a:r>
          </a:p>
          <a:p>
            <a:pPr lvl="1" eaLnBrk="1" hangingPunct="1"/>
            <a:r>
              <a:rPr lang="en-US" altLang="en-US" sz="2000" dirty="0"/>
              <a:t>Can’t be passed a value</a:t>
            </a:r>
          </a:p>
          <a:p>
            <a:pPr lvl="1" eaLnBrk="1" hangingPunct="1"/>
            <a:r>
              <a:rPr lang="en-US" altLang="en-US" sz="2000" b="1" dirty="0" err="1">
                <a:latin typeface="Tahoma" panose="020B0604030504040204" pitchFamily="34" charset="0"/>
              </a:rPr>
              <a:t>defparam</a:t>
            </a:r>
            <a:r>
              <a:rPr lang="en-US" altLang="en-US" sz="2000" dirty="0"/>
              <a:t> does not modify</a:t>
            </a:r>
          </a:p>
          <a:p>
            <a:pPr lvl="1" eaLnBrk="1" hangingPunct="1">
              <a:buFontTx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CA22FAE-59FC-4EE9-811B-58F2D9F71075}" type="slidenum">
              <a:rPr lang="en-US" altLang="en-US"/>
              <a:pPr eaLnBrk="1" hangingPunct="1"/>
              <a:t>40</a:t>
            </a:fld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439783" y="195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Parameter Example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E1A7E8D-652B-49F8-A566-7243C7AE06D7}" type="slidenum">
              <a:rPr lang="en-US" altLang="en-US">
                <a:latin typeface="Verdana" panose="020B0604030504040204" pitchFamily="34" charset="0"/>
              </a:rPr>
              <a:pPr/>
              <a:t>41</a:t>
            </a:fld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228600" y="1676400"/>
            <a:ext cx="4165600" cy="3430588"/>
          </a:xfrm>
          <a:prstGeom prst="rect">
            <a:avLst/>
          </a:prstGeom>
          <a:noFill/>
          <a:ln w="222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b="1" dirty="0">
                <a:latin typeface="Tahoma" panose="020B0604030504040204" pitchFamily="34" charset="0"/>
              </a:rPr>
              <a:t>module</a:t>
            </a:r>
            <a:r>
              <a:rPr lang="en-US" altLang="en-US" dirty="0">
                <a:latin typeface="Tahoma" panose="020B0604030504040204" pitchFamily="34" charset="0"/>
              </a:rPr>
              <a:t> adder(</a:t>
            </a:r>
            <a:r>
              <a:rPr lang="en-US" altLang="en-US" dirty="0" err="1">
                <a:latin typeface="Tahoma" panose="020B0604030504040204" pitchFamily="34" charset="0"/>
              </a:rPr>
              <a:t>a,b,cin,sum,cout</a:t>
            </a:r>
            <a:r>
              <a:rPr lang="en-US" altLang="en-US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endParaRPr lang="en-US" altLang="en-US" sz="1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b="1" dirty="0">
                <a:latin typeface="Tahoma" panose="020B0604030504040204" pitchFamily="34" charset="0"/>
              </a:rPr>
              <a:t>parameter</a:t>
            </a:r>
            <a:r>
              <a:rPr lang="en-US" altLang="en-US" dirty="0">
                <a:latin typeface="Tahoma" panose="020B0604030504040204" pitchFamily="34" charset="0"/>
              </a:rPr>
              <a:t> WIDTH = 8; // default is 8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endParaRPr lang="en-US" altLang="en-US" sz="1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b="1" dirty="0">
                <a:latin typeface="Tahoma" panose="020B0604030504040204" pitchFamily="34" charset="0"/>
              </a:rPr>
              <a:t>input</a:t>
            </a:r>
            <a:r>
              <a:rPr lang="en-US" altLang="en-US" dirty="0">
                <a:latin typeface="Tahoma" panose="020B0604030504040204" pitchFamily="34" charset="0"/>
              </a:rPr>
              <a:t> [WIDTH-1:0] </a:t>
            </a:r>
            <a:r>
              <a:rPr lang="en-US" altLang="en-US" dirty="0" err="1">
                <a:latin typeface="Tahoma" panose="020B0604030504040204" pitchFamily="34" charset="0"/>
              </a:rPr>
              <a:t>a,b</a:t>
            </a:r>
            <a:r>
              <a:rPr lang="en-US" altLang="en-US" dirty="0"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b="1" dirty="0">
                <a:latin typeface="Tahoma" panose="020B0604030504040204" pitchFamily="34" charset="0"/>
              </a:rPr>
              <a:t>input</a:t>
            </a:r>
            <a:r>
              <a:rPr lang="en-US" altLang="en-US" dirty="0">
                <a:latin typeface="Tahoma" panose="020B0604030504040204" pitchFamily="34" charset="0"/>
              </a:rPr>
              <a:t> </a:t>
            </a:r>
            <a:r>
              <a:rPr lang="en-US" altLang="en-US" dirty="0" err="1">
                <a:latin typeface="Tahoma" panose="020B0604030504040204" pitchFamily="34" charset="0"/>
              </a:rPr>
              <a:t>cin</a:t>
            </a:r>
            <a:r>
              <a:rPr lang="en-US" altLang="en-US" dirty="0"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b="1" dirty="0">
                <a:latin typeface="Tahoma" panose="020B0604030504040204" pitchFamily="34" charset="0"/>
              </a:rPr>
              <a:t>output</a:t>
            </a:r>
            <a:r>
              <a:rPr lang="en-US" altLang="en-US" dirty="0">
                <a:latin typeface="Tahoma" panose="020B0604030504040204" pitchFamily="34" charset="0"/>
              </a:rPr>
              <a:t> [WIDTH-1:0] sum;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b="1" dirty="0">
                <a:latin typeface="Tahoma" panose="020B0604030504040204" pitchFamily="34" charset="0"/>
              </a:rPr>
              <a:t>output</a:t>
            </a:r>
            <a:r>
              <a:rPr lang="en-US" altLang="en-US" dirty="0">
                <a:latin typeface="Tahoma" panose="020B0604030504040204" pitchFamily="34" charset="0"/>
              </a:rPr>
              <a:t> </a:t>
            </a:r>
            <a:r>
              <a:rPr lang="en-US" altLang="en-US" dirty="0" err="1">
                <a:latin typeface="Tahoma" panose="020B0604030504040204" pitchFamily="34" charset="0"/>
              </a:rPr>
              <a:t>cout</a:t>
            </a:r>
            <a:r>
              <a:rPr lang="en-US" altLang="en-US" dirty="0"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endParaRPr lang="en-US" altLang="en-US" sz="1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b="1" dirty="0">
                <a:latin typeface="Tahoma" panose="020B0604030504040204" pitchFamily="34" charset="0"/>
              </a:rPr>
              <a:t>assign</a:t>
            </a:r>
            <a:r>
              <a:rPr lang="en-US" altLang="en-US" dirty="0">
                <a:latin typeface="Tahoma" panose="020B0604030504040204" pitchFamily="34" charset="0"/>
              </a:rPr>
              <a:t> {</a:t>
            </a:r>
            <a:r>
              <a:rPr lang="en-US" altLang="en-US" dirty="0" err="1">
                <a:latin typeface="Tahoma" panose="020B0604030504040204" pitchFamily="34" charset="0"/>
              </a:rPr>
              <a:t>cout,sum</a:t>
            </a:r>
            <a:r>
              <a:rPr lang="en-US" altLang="en-US" dirty="0">
                <a:latin typeface="Tahoma" panose="020B0604030504040204" pitchFamily="34" charset="0"/>
              </a:rPr>
              <a:t>} =  a  +  b + </a:t>
            </a:r>
            <a:r>
              <a:rPr lang="en-US" altLang="en-US" dirty="0" err="1">
                <a:latin typeface="Tahoma" panose="020B0604030504040204" pitchFamily="34" charset="0"/>
              </a:rPr>
              <a:t>cin</a:t>
            </a:r>
            <a:endParaRPr lang="en-US" altLang="en-US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endParaRPr lang="en-US" altLang="en-US" sz="1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b="1" dirty="0" err="1">
                <a:latin typeface="Tahoma" panose="020B0604030504040204" pitchFamily="34" charset="0"/>
              </a:rPr>
              <a:t>endmodule</a:t>
            </a: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288775" name="Text Box 7"/>
          <p:cNvSpPr txBox="1">
            <a:spLocks noChangeArrowheads="1"/>
          </p:cNvSpPr>
          <p:nvPr/>
        </p:nvSpPr>
        <p:spPr bwMode="auto">
          <a:xfrm>
            <a:off x="4419600" y="2362200"/>
            <a:ext cx="4343400" cy="4021138"/>
          </a:xfrm>
          <a:prstGeom prst="rect">
            <a:avLst/>
          </a:prstGeom>
          <a:noFill/>
          <a:ln w="222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b="1">
                <a:latin typeface="Tahoma" panose="020B0604030504040204" pitchFamily="34" charset="0"/>
              </a:rPr>
              <a:t>module</a:t>
            </a:r>
            <a:r>
              <a:rPr lang="en-US" altLang="en-US">
                <a:latin typeface="Tahoma" panose="020B0604030504040204" pitchFamily="34" charset="0"/>
              </a:rPr>
              <a:t> alu(src1,src2,dst,cin,cout);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>
                <a:latin typeface="Tahoma" panose="020B0604030504040204" pitchFamily="34" charset="0"/>
              </a:rPr>
              <a:t>  </a:t>
            </a:r>
            <a:r>
              <a:rPr lang="en-US" altLang="en-US" b="1">
                <a:latin typeface="Tahoma" panose="020B0604030504040204" pitchFamily="34" charset="0"/>
              </a:rPr>
              <a:t>input</a:t>
            </a:r>
            <a:r>
              <a:rPr lang="en-US" altLang="en-US">
                <a:latin typeface="Tahoma" panose="020B0604030504040204" pitchFamily="34" charset="0"/>
              </a:rPr>
              <a:t> [15:0] src1,src2;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>
                <a:latin typeface="Tahoma" panose="020B0604030504040204" pitchFamily="34" charset="0"/>
              </a:rPr>
              <a:t>  …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>
                <a:latin typeface="Tahoma" panose="020B0604030504040204" pitchFamily="34" charset="0"/>
              </a:rPr>
              <a:t>  //////////////////////////////////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>
                <a:latin typeface="Tahoma" panose="020B0604030504040204" pitchFamily="34" charset="0"/>
              </a:rPr>
              <a:t>  // Instantiate 16-bit adder //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>
                <a:latin typeface="Tahoma" panose="020B0604030504040204" pitchFamily="34" charset="0"/>
              </a:rPr>
              <a:t>  ////////////////////////////////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>
                <a:latin typeface="Tahoma" panose="020B0604030504040204" pitchFamily="34" charset="0"/>
              </a:rPr>
              <a:t>  adder #(16) add1(.a(src1),.b(src2),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>
                <a:latin typeface="Tahoma" panose="020B0604030504040204" pitchFamily="34" charset="0"/>
              </a:rPr>
              <a:t>                             .cin(cin),.cout(cout),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>
                <a:latin typeface="Tahoma" panose="020B0604030504040204" pitchFamily="34" charset="0"/>
              </a:rPr>
              <a:t>                             .sum(dst));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endParaRPr lang="en-US" altLang="en-US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>
                <a:latin typeface="Tahoma" panose="020B0604030504040204" pitchFamily="34" charset="0"/>
              </a:rPr>
              <a:t>  …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b="1">
                <a:latin typeface="Tahoma" panose="020B0604030504040204" pitchFamily="34" charset="0"/>
              </a:rPr>
              <a:t>endmodule</a:t>
            </a:r>
          </a:p>
        </p:txBody>
      </p:sp>
      <p:sp>
        <p:nvSpPr>
          <p:cNvPr id="288777" name="Text Box 9"/>
          <p:cNvSpPr txBox="1">
            <a:spLocks noChangeArrowheads="1"/>
          </p:cNvSpPr>
          <p:nvPr/>
        </p:nvSpPr>
        <p:spPr bwMode="auto">
          <a:xfrm>
            <a:off x="457200" y="5410200"/>
            <a:ext cx="3733800" cy="723900"/>
          </a:xfrm>
          <a:prstGeom prst="rect">
            <a:avLst/>
          </a:prstGeom>
          <a:solidFill>
            <a:srgbClr val="99CC00">
              <a:alpha val="45882"/>
            </a:srgbClr>
          </a:solidFill>
          <a:ln w="222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sz="2000">
                <a:latin typeface="Times New Roman" panose="02020603050405020304" pitchFamily="18" charset="0"/>
              </a:rPr>
              <a:t>Instantiation of module can override a parameter.</a:t>
            </a:r>
          </a:p>
        </p:txBody>
      </p:sp>
      <p:sp>
        <p:nvSpPr>
          <p:cNvPr id="288778" name="Line 10"/>
          <p:cNvSpPr>
            <a:spLocks noChangeShapeType="1"/>
          </p:cNvSpPr>
          <p:nvPr/>
        </p:nvSpPr>
        <p:spPr bwMode="auto">
          <a:xfrm flipV="1">
            <a:off x="4186238" y="4724400"/>
            <a:ext cx="1295400" cy="6858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5" grpId="0" animBg="1"/>
      <p:bldP spid="288777" grpId="0" animBg="1"/>
      <p:bldP spid="28877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01182E-AB8A-49EA-836B-3B3939100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42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73B815-264A-4FC1-A922-E85B89D8179E}"/>
              </a:ext>
            </a:extLst>
          </p:cNvPr>
          <p:cNvSpPr txBox="1">
            <a:spLocks noChangeArrowheads="1"/>
          </p:cNvSpPr>
          <p:nvPr/>
        </p:nvSpPr>
        <p:spPr>
          <a:xfrm>
            <a:off x="419100" y="457200"/>
            <a:ext cx="82296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 dirty="0"/>
              <a:t>Parameter Example</a:t>
            </a:r>
            <a:r>
              <a:rPr lang="en-US" altLang="en-US" sz="2400" dirty="0"/>
              <a:t> (ANSI header &amp; named params)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22703-A2C0-49B2-849D-DB1501886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57" y="1371600"/>
            <a:ext cx="5037257" cy="4016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057429-FE8C-43CF-87BB-311BBD7F327E}"/>
              </a:ext>
            </a:extLst>
          </p:cNvPr>
          <p:cNvSpPr txBox="1"/>
          <p:nvPr/>
        </p:nvSpPr>
        <p:spPr>
          <a:xfrm>
            <a:off x="5791200" y="1362075"/>
            <a:ext cx="304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This example uses multiple 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FDB29-5B7B-4CC3-A387-4C6F7239A5AD}"/>
              </a:ext>
            </a:extLst>
          </p:cNvPr>
          <p:cNvSpPr txBox="1"/>
          <p:nvPr/>
        </p:nvSpPr>
        <p:spPr>
          <a:xfrm>
            <a:off x="5791200" y="2181909"/>
            <a:ext cx="304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If you are using the ANSI declaration style then you declare your parameters here.  </a:t>
            </a:r>
            <a:r>
              <a:rPr lang="en-US" sz="1600" b="1" dirty="0"/>
              <a:t>NOTE: </a:t>
            </a:r>
            <a:r>
              <a:rPr lang="en-US" sz="1600" dirty="0"/>
              <a:t>this is even before the opening </a:t>
            </a:r>
            <a:r>
              <a:rPr lang="en-US" sz="1600" dirty="0" err="1"/>
              <a:t>paren</a:t>
            </a:r>
            <a:endParaRPr lang="en-US" sz="16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67D8C33-63D0-443A-A058-A542540459F3}"/>
              </a:ext>
            </a:extLst>
          </p:cNvPr>
          <p:cNvSpPr/>
          <p:nvPr/>
        </p:nvSpPr>
        <p:spPr>
          <a:xfrm>
            <a:off x="5143500" y="1800225"/>
            <a:ext cx="695325" cy="1190625"/>
          </a:xfrm>
          <a:custGeom>
            <a:avLst/>
            <a:gdLst>
              <a:gd name="connsiteX0" fmla="*/ 695325 w 695325"/>
              <a:gd name="connsiteY0" fmla="*/ 1190625 h 1190625"/>
              <a:gd name="connsiteX1" fmla="*/ 533400 w 695325"/>
              <a:gd name="connsiteY1" fmla="*/ 923925 h 1190625"/>
              <a:gd name="connsiteX2" fmla="*/ 552450 w 695325"/>
              <a:gd name="connsiteY2" fmla="*/ 333375 h 1190625"/>
              <a:gd name="connsiteX3" fmla="*/ 0 w 695325"/>
              <a:gd name="connsiteY3" fmla="*/ 0 h 119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90625">
                <a:moveTo>
                  <a:pt x="695325" y="1190625"/>
                </a:moveTo>
                <a:cubicBezTo>
                  <a:pt x="626268" y="1128712"/>
                  <a:pt x="557212" y="1066800"/>
                  <a:pt x="533400" y="923925"/>
                </a:cubicBezTo>
                <a:cubicBezTo>
                  <a:pt x="509588" y="781050"/>
                  <a:pt x="641350" y="487362"/>
                  <a:pt x="552450" y="333375"/>
                </a:cubicBezTo>
                <a:cubicBezTo>
                  <a:pt x="463550" y="179388"/>
                  <a:pt x="231775" y="89694"/>
                  <a:pt x="0" y="0"/>
                </a:cubicBezTo>
              </a:path>
            </a:pathLst>
          </a:custGeom>
          <a:noFill/>
          <a:ln>
            <a:solidFill>
              <a:srgbClr val="CC33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116588-ED0A-4B21-BAA8-20FC9A1AFCFE}"/>
              </a:ext>
            </a:extLst>
          </p:cNvPr>
          <p:cNvSpPr/>
          <p:nvPr/>
        </p:nvSpPr>
        <p:spPr>
          <a:xfrm>
            <a:off x="895350" y="1948423"/>
            <a:ext cx="4924425" cy="1389600"/>
          </a:xfrm>
          <a:custGeom>
            <a:avLst/>
            <a:gdLst>
              <a:gd name="connsiteX0" fmla="*/ 4924425 w 4924425"/>
              <a:gd name="connsiteY0" fmla="*/ 1385327 h 1389600"/>
              <a:gd name="connsiteX1" fmla="*/ 4486275 w 4924425"/>
              <a:gd name="connsiteY1" fmla="*/ 1299602 h 1389600"/>
              <a:gd name="connsiteX2" fmla="*/ 4029075 w 4924425"/>
              <a:gd name="connsiteY2" fmla="*/ 775727 h 1389600"/>
              <a:gd name="connsiteX3" fmla="*/ 3771900 w 4924425"/>
              <a:gd name="connsiteY3" fmla="*/ 299477 h 1389600"/>
              <a:gd name="connsiteX4" fmla="*/ 2562225 w 4924425"/>
              <a:gd name="connsiteY4" fmla="*/ 32777 h 1389600"/>
              <a:gd name="connsiteX5" fmla="*/ 0 w 4924425"/>
              <a:gd name="connsiteY5" fmla="*/ 13727 h 138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24425" h="1389600">
                <a:moveTo>
                  <a:pt x="4924425" y="1385327"/>
                </a:moveTo>
                <a:cubicBezTo>
                  <a:pt x="4779962" y="1393264"/>
                  <a:pt x="4635500" y="1401202"/>
                  <a:pt x="4486275" y="1299602"/>
                </a:cubicBezTo>
                <a:cubicBezTo>
                  <a:pt x="4337050" y="1198002"/>
                  <a:pt x="4148137" y="942414"/>
                  <a:pt x="4029075" y="775727"/>
                </a:cubicBezTo>
                <a:cubicBezTo>
                  <a:pt x="3910013" y="609040"/>
                  <a:pt x="4016375" y="423302"/>
                  <a:pt x="3771900" y="299477"/>
                </a:cubicBezTo>
                <a:cubicBezTo>
                  <a:pt x="3527425" y="175652"/>
                  <a:pt x="3190875" y="80402"/>
                  <a:pt x="2562225" y="32777"/>
                </a:cubicBezTo>
                <a:cubicBezTo>
                  <a:pt x="1933575" y="-14848"/>
                  <a:pt x="966787" y="-561"/>
                  <a:pt x="0" y="13727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F0FA8C-039A-4670-B19B-03699F3FF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733402"/>
            <a:ext cx="8305800" cy="5686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EB654C-7FBB-4E72-94CB-1479A767FF1B}"/>
              </a:ext>
            </a:extLst>
          </p:cNvPr>
          <p:cNvSpPr txBox="1"/>
          <p:nvPr/>
        </p:nvSpPr>
        <p:spPr>
          <a:xfrm>
            <a:off x="5791200" y="3754631"/>
            <a:ext cx="304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Much like connect by name is clearer and less error prone than by reference order, same can apply to passing of parameters.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41396A7-308D-42A1-B58C-E47A475FC8DD}"/>
              </a:ext>
            </a:extLst>
          </p:cNvPr>
          <p:cNvSpPr/>
          <p:nvPr/>
        </p:nvSpPr>
        <p:spPr>
          <a:xfrm>
            <a:off x="3524250" y="5057775"/>
            <a:ext cx="2390775" cy="628650"/>
          </a:xfrm>
          <a:custGeom>
            <a:avLst/>
            <a:gdLst>
              <a:gd name="connsiteX0" fmla="*/ 2390775 w 2390775"/>
              <a:gd name="connsiteY0" fmla="*/ 0 h 628650"/>
              <a:gd name="connsiteX1" fmla="*/ 1971675 w 2390775"/>
              <a:gd name="connsiteY1" fmla="*/ 400050 h 628650"/>
              <a:gd name="connsiteX2" fmla="*/ 1590675 w 2390775"/>
              <a:gd name="connsiteY2" fmla="*/ 447675 h 628650"/>
              <a:gd name="connsiteX3" fmla="*/ 1152525 w 2390775"/>
              <a:gd name="connsiteY3" fmla="*/ 400050 h 628650"/>
              <a:gd name="connsiteX4" fmla="*/ 428625 w 2390775"/>
              <a:gd name="connsiteY4" fmla="*/ 400050 h 628650"/>
              <a:gd name="connsiteX5" fmla="*/ 0 w 2390775"/>
              <a:gd name="connsiteY5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90775" h="628650">
                <a:moveTo>
                  <a:pt x="2390775" y="0"/>
                </a:moveTo>
                <a:cubicBezTo>
                  <a:pt x="2247900" y="162719"/>
                  <a:pt x="2105025" y="325438"/>
                  <a:pt x="1971675" y="400050"/>
                </a:cubicBezTo>
                <a:cubicBezTo>
                  <a:pt x="1838325" y="474663"/>
                  <a:pt x="1727200" y="447675"/>
                  <a:pt x="1590675" y="447675"/>
                </a:cubicBezTo>
                <a:cubicBezTo>
                  <a:pt x="1454150" y="447675"/>
                  <a:pt x="1346200" y="407987"/>
                  <a:pt x="1152525" y="400050"/>
                </a:cubicBezTo>
                <a:cubicBezTo>
                  <a:pt x="958850" y="392113"/>
                  <a:pt x="620712" y="361950"/>
                  <a:pt x="428625" y="400050"/>
                </a:cubicBezTo>
                <a:cubicBezTo>
                  <a:pt x="236538" y="438150"/>
                  <a:pt x="118269" y="533400"/>
                  <a:pt x="0" y="62865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0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1F227FB5-521A-4EE5-BDA4-C58469C8D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1097755"/>
            <a:ext cx="8419867" cy="42362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B1990C-107B-484E-8F32-CA9C4B0C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43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FD5F6A-2758-4012-A385-76A0B0F8A6D3}"/>
              </a:ext>
            </a:extLst>
          </p:cNvPr>
          <p:cNvSpPr txBox="1">
            <a:spLocks noChangeArrowheads="1"/>
          </p:cNvSpPr>
          <p:nvPr/>
        </p:nvSpPr>
        <p:spPr>
          <a:xfrm>
            <a:off x="419100" y="457200"/>
            <a:ext cx="82296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600" dirty="0"/>
              <a:t>Parameter Example </a:t>
            </a:r>
            <a:r>
              <a:rPr lang="en-US" altLang="en-US" sz="2400" dirty="0"/>
              <a:t>(use of $clog2 for address width)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98CE98-F543-4E74-823D-9AE8FA8DE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5181599"/>
            <a:ext cx="7315200" cy="5756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C6996E-615C-4F36-8EFE-0C8A333F8F23}"/>
              </a:ext>
            </a:extLst>
          </p:cNvPr>
          <p:cNvSpPr txBox="1"/>
          <p:nvPr/>
        </p:nvSpPr>
        <p:spPr>
          <a:xfrm>
            <a:off x="609600" y="5913366"/>
            <a:ext cx="713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$clog2(3072) will result in 12, so address width is [11:0]</a:t>
            </a:r>
          </a:p>
        </p:txBody>
      </p:sp>
    </p:spTree>
    <p:extLst>
      <p:ext uri="{BB962C8B-B14F-4D97-AF65-F5344CB8AC3E}">
        <p14:creationId xmlns:p14="http://schemas.microsoft.com/office/powerpoint/2010/main" val="1264039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951271" y="152400"/>
            <a:ext cx="5791200" cy="1143000"/>
          </a:xfrm>
        </p:spPr>
        <p:txBody>
          <a:bodyPr/>
          <a:lstStyle/>
          <a:p>
            <a:pPr eaLnBrk="1" hangingPunct="1"/>
            <a:r>
              <a:rPr lang="en-US" altLang="en-US" sz="4000" dirty="0" err="1"/>
              <a:t>localparam</a:t>
            </a:r>
            <a:endParaRPr lang="en-US" altLang="en-US" sz="4000" dirty="0"/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EE675F1-C531-4549-AF86-97C02D0C3CE6}" type="slidenum">
              <a:rPr lang="en-US" altLang="en-US"/>
              <a:pPr eaLnBrk="1" hangingPunct="1"/>
              <a:t>44</a:t>
            </a:fld>
            <a:endParaRPr lang="en-US" altLang="en-US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914400" y="1600200"/>
            <a:ext cx="7875169" cy="357020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 err="1">
                <a:latin typeface="Tahoma" panose="020B0604030504040204" pitchFamily="34" charset="0"/>
              </a:rPr>
              <a:t>localparam</a:t>
            </a:r>
            <a:r>
              <a:rPr lang="en-US" altLang="en-US" dirty="0">
                <a:latin typeface="Tahoma" panose="020B0604030504040204" pitchFamily="34" charset="0"/>
              </a:rPr>
              <a:t> IDLE = 	2’b00;	// idle state of state machine</a:t>
            </a:r>
          </a:p>
          <a:p>
            <a:pPr eaLnBrk="1" hangingPunct="1"/>
            <a:r>
              <a:rPr lang="en-US" altLang="en-US" b="1" dirty="0" err="1">
                <a:latin typeface="Tahoma" panose="020B0604030504040204" pitchFamily="34" charset="0"/>
              </a:rPr>
              <a:t>localparam</a:t>
            </a:r>
            <a:r>
              <a:rPr lang="en-US" altLang="en-US" dirty="0">
                <a:latin typeface="Tahoma" panose="020B0604030504040204" pitchFamily="34" charset="0"/>
              </a:rPr>
              <a:t> CONV= 	2’b01;	// in this state while A2D converting</a:t>
            </a:r>
          </a:p>
          <a:p>
            <a:pPr eaLnBrk="1" hangingPunct="1"/>
            <a:r>
              <a:rPr lang="en-US" altLang="en-US" b="1" dirty="0" err="1">
                <a:latin typeface="Tahoma" panose="020B0604030504040204" pitchFamily="34" charset="0"/>
              </a:rPr>
              <a:t>localparam</a:t>
            </a:r>
            <a:r>
              <a:rPr lang="en-US" altLang="en-US" dirty="0">
                <a:latin typeface="Tahoma" panose="020B0604030504040204" pitchFamily="34" charset="0"/>
              </a:rPr>
              <a:t> ACCUM = 	2’b10;	// in this state while averaging samples</a:t>
            </a:r>
          </a:p>
          <a:p>
            <a:pPr eaLnBrk="1" hangingPunct="1"/>
            <a:r>
              <a:rPr lang="en-US" altLang="en-US" sz="1200" b="1" dirty="0">
                <a:latin typeface="Tahoma" panose="020B0604030504040204" pitchFamily="34" charset="0"/>
              </a:rPr>
              <a:t>     .</a:t>
            </a:r>
          </a:p>
          <a:p>
            <a:pPr eaLnBrk="1" hangingPunct="1"/>
            <a:r>
              <a:rPr lang="en-US" altLang="en-US" sz="1200" b="1" dirty="0">
                <a:latin typeface="Tahoma" panose="020B0604030504040204" pitchFamily="34" charset="0"/>
              </a:rPr>
              <a:t>     .</a:t>
            </a:r>
          </a:p>
          <a:p>
            <a:pPr eaLnBrk="1" hangingPunct="1"/>
            <a:r>
              <a:rPr lang="en-US" altLang="en-US" sz="1200" b="1" dirty="0">
                <a:latin typeface="Tahoma" panose="020B0604030504040204" pitchFamily="34" charset="0"/>
              </a:rPr>
              <a:t>     .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</a:t>
            </a:r>
            <a:r>
              <a:rPr lang="en-US" altLang="en-US" b="1" dirty="0">
                <a:latin typeface="Tahoma" panose="020B0604030504040204" pitchFamily="34" charset="0"/>
              </a:rPr>
              <a:t>case</a:t>
            </a:r>
            <a:r>
              <a:rPr lang="en-US" altLang="en-US" dirty="0">
                <a:latin typeface="Tahoma" panose="020B0604030504040204" pitchFamily="34" charset="0"/>
              </a:rPr>
              <a:t> (state)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 IDLE : </a:t>
            </a:r>
            <a:r>
              <a:rPr lang="en-US" altLang="en-US" b="1" dirty="0">
                <a:latin typeface="Tahoma" panose="020B0604030504040204" pitchFamily="34" charset="0"/>
              </a:rPr>
              <a:t>if</a:t>
            </a:r>
            <a:r>
              <a:rPr lang="en-US" altLang="en-US" dirty="0">
                <a:latin typeface="Tahoma" panose="020B0604030504040204" pitchFamily="34" charset="0"/>
              </a:rPr>
              <a:t> (</a:t>
            </a:r>
            <a:r>
              <a:rPr lang="en-US" altLang="en-US" dirty="0" err="1">
                <a:latin typeface="Tahoma" panose="020B0604030504040204" pitchFamily="34" charset="0"/>
              </a:rPr>
              <a:t>start_conv</a:t>
            </a:r>
            <a:r>
              <a:rPr lang="en-US" altLang="en-US" dirty="0">
                <a:latin typeface="Tahoma" panose="020B0604030504040204" pitchFamily="34" charset="0"/>
              </a:rPr>
              <a:t>) </a:t>
            </a:r>
            <a:r>
              <a:rPr lang="en-US" altLang="en-US" dirty="0" err="1">
                <a:latin typeface="Tahoma" panose="020B0604030504040204" pitchFamily="34" charset="0"/>
              </a:rPr>
              <a:t>nxt_state</a:t>
            </a:r>
            <a:r>
              <a:rPr lang="en-US" altLang="en-US" dirty="0">
                <a:latin typeface="Tahoma" panose="020B0604030504040204" pitchFamily="34" charset="0"/>
              </a:rPr>
              <a:t> = CONV;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         </a:t>
            </a:r>
            <a:r>
              <a:rPr lang="en-US" altLang="en-US" b="1" dirty="0">
                <a:latin typeface="Tahoma" panose="020B0604030504040204" pitchFamily="34" charset="0"/>
              </a:rPr>
              <a:t>else </a:t>
            </a:r>
            <a:r>
              <a:rPr lang="en-US" altLang="en-US" dirty="0">
                <a:latin typeface="Tahoma" panose="020B0604030504040204" pitchFamily="34" charset="0"/>
              </a:rPr>
              <a:t>            </a:t>
            </a:r>
            <a:r>
              <a:rPr lang="en-US" altLang="en-US" dirty="0" err="1">
                <a:latin typeface="Tahoma" panose="020B0604030504040204" pitchFamily="34" charset="0"/>
              </a:rPr>
              <a:t>nxt_state</a:t>
            </a:r>
            <a:r>
              <a:rPr lang="en-US" altLang="en-US" dirty="0">
                <a:latin typeface="Tahoma" panose="020B0604030504040204" pitchFamily="34" charset="0"/>
              </a:rPr>
              <a:t> = IDLE;</a:t>
            </a:r>
          </a:p>
          <a:p>
            <a:pPr eaLnBrk="1" hangingPunct="1"/>
            <a:endParaRPr lang="en-US" altLang="en-US" sz="1000" dirty="0">
              <a:latin typeface="Tahoma" panose="020B0604030504040204" pitchFamily="34" charset="0"/>
            </a:endParaRP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 CONV : </a:t>
            </a:r>
            <a:r>
              <a:rPr lang="en-US" altLang="en-US" b="1" dirty="0">
                <a:latin typeface="Tahoma" panose="020B0604030504040204" pitchFamily="34" charset="0"/>
              </a:rPr>
              <a:t>if</a:t>
            </a:r>
            <a:r>
              <a:rPr lang="en-US" altLang="en-US" dirty="0">
                <a:latin typeface="Tahoma" panose="020B0604030504040204" pitchFamily="34" charset="0"/>
              </a:rPr>
              <a:t> (</a:t>
            </a:r>
            <a:r>
              <a:rPr lang="en-US" altLang="en-US" dirty="0" err="1">
                <a:latin typeface="Tahoma" panose="020B0604030504040204" pitchFamily="34" charset="0"/>
              </a:rPr>
              <a:t>gt</a:t>
            </a:r>
            <a:r>
              <a:rPr lang="en-US" altLang="en-US" dirty="0">
                <a:latin typeface="Tahoma" panose="020B0604030504040204" pitchFamily="34" charset="0"/>
              </a:rPr>
              <a:t>) </a:t>
            </a:r>
            <a:r>
              <a:rPr lang="en-US" altLang="en-US" dirty="0" err="1">
                <a:latin typeface="Tahoma" panose="020B0604030504040204" pitchFamily="34" charset="0"/>
              </a:rPr>
              <a:t>nxt_state</a:t>
            </a:r>
            <a:r>
              <a:rPr lang="en-US" altLang="en-US" dirty="0">
                <a:latin typeface="Tahoma" panose="020B0604030504040204" pitchFamily="34" charset="0"/>
              </a:rPr>
              <a:t> = ACCUM;</a:t>
            </a:r>
          </a:p>
          <a:p>
            <a:pPr eaLnBrk="1" hangingPunct="1"/>
            <a:r>
              <a:rPr lang="en-US" altLang="en-US" dirty="0">
                <a:latin typeface="Tahoma" panose="020B0604030504040204" pitchFamily="34" charset="0"/>
              </a:rPr>
              <a:t>              </a:t>
            </a:r>
            <a:r>
              <a:rPr lang="en-US" altLang="en-US" b="1" dirty="0">
                <a:latin typeface="Tahoma" panose="020B0604030504040204" pitchFamily="34" charset="0"/>
              </a:rPr>
              <a:t>else</a:t>
            </a:r>
            <a:r>
              <a:rPr lang="en-US" altLang="en-US" dirty="0">
                <a:latin typeface="Tahoma" panose="020B0604030504040204" pitchFamily="34" charset="0"/>
              </a:rPr>
              <a:t>   </a:t>
            </a:r>
            <a:r>
              <a:rPr lang="en-US" altLang="en-US" dirty="0" err="1">
                <a:latin typeface="Tahoma" panose="020B0604030504040204" pitchFamily="34" charset="0"/>
              </a:rPr>
              <a:t>nxt_state</a:t>
            </a:r>
            <a:r>
              <a:rPr lang="en-US" altLang="en-US" dirty="0">
                <a:latin typeface="Tahoma" panose="020B0604030504040204" pitchFamily="34" charset="0"/>
              </a:rPr>
              <a:t> = CONV;</a:t>
            </a:r>
          </a:p>
          <a:p>
            <a:pPr eaLnBrk="1" hangingPunct="1"/>
            <a:r>
              <a:rPr lang="en-US" altLang="en-US" sz="1200" b="1" dirty="0">
                <a:latin typeface="Tahoma" panose="020B0604030504040204" pitchFamily="34" charset="0"/>
              </a:rPr>
              <a:t>     .</a:t>
            </a:r>
          </a:p>
          <a:p>
            <a:pPr eaLnBrk="1" hangingPunct="1"/>
            <a:r>
              <a:rPr lang="en-US" altLang="en-US" sz="1200" b="1" dirty="0">
                <a:latin typeface="Tahoma" panose="020B0604030504040204" pitchFamily="34" charset="0"/>
              </a:rPr>
              <a:t>     .</a:t>
            </a:r>
          </a:p>
          <a:p>
            <a:pPr eaLnBrk="1" hangingPunct="1"/>
            <a:r>
              <a:rPr lang="en-US" altLang="en-US" sz="1200" b="1" dirty="0">
                <a:latin typeface="Tahoma" panose="020B0604030504040204" pitchFamily="34" charset="0"/>
              </a:rPr>
              <a:t>     .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9600" y="54102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A0"/>
              </a:buClr>
              <a:buSzPct val="125000"/>
              <a:buFont typeface="Wingdings" pitchFamily="2" charset="2"/>
              <a:buChar char="§"/>
              <a:defRPr/>
            </a:pPr>
            <a:r>
              <a:rPr lang="en-US" sz="2800" kern="0" dirty="0">
                <a:latin typeface="Tahoma" pitchFamily="34" charset="0"/>
                <a:cs typeface="+mn-cs"/>
              </a:rPr>
              <a:t>Read Cumming’s paper on use of define &amp; </a:t>
            </a:r>
            <a:r>
              <a:rPr lang="en-US" sz="2800" kern="0" dirty="0" err="1">
                <a:latin typeface="Tahoma" pitchFamily="34" charset="0"/>
                <a:cs typeface="+mn-cs"/>
              </a:rPr>
              <a:t>param</a:t>
            </a:r>
            <a:r>
              <a:rPr lang="en-US" sz="2800" kern="0" dirty="0">
                <a:latin typeface="Tahoma" pitchFamily="34" charset="0"/>
                <a:cs typeface="+mn-cs"/>
              </a:rPr>
              <a:t>.  Posted on web under “reference”</a:t>
            </a:r>
            <a:endParaRPr lang="en-US" sz="2800" kern="0" dirty="0">
              <a:latin typeface="+mn-lt"/>
              <a:cs typeface="+mn-cs"/>
            </a:endParaRPr>
          </a:p>
          <a:p>
            <a:pPr marL="742950" lvl="1" indent="-285750">
              <a:spcBef>
                <a:spcPct val="20000"/>
              </a:spcBef>
              <a:buClr>
                <a:srgbClr val="0000A0"/>
              </a:buClr>
              <a:buSzPct val="125000"/>
              <a:defRPr/>
            </a:pPr>
            <a:endParaRPr lang="en-US" sz="2400" kern="0" dirty="0">
              <a:latin typeface="+mn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Clr>
                <a:srgbClr val="0000A0"/>
              </a:buClr>
              <a:buSzPct val="125000"/>
              <a:defRPr/>
            </a:pPr>
            <a:endParaRPr lang="en-US" sz="2400" kern="0" dirty="0">
              <a:latin typeface="+mn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Clr>
                <a:srgbClr val="0000A0"/>
              </a:buClr>
              <a:buSzPct val="125000"/>
              <a:buFont typeface="Wingdings" pitchFamily="2" charset="2"/>
              <a:buNone/>
              <a:defRPr/>
            </a:pPr>
            <a:endParaRPr lang="en-US" sz="2800" kern="0" dirty="0">
              <a:latin typeface="+mn-lt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DD3F4-F120-4A23-BC60-5AAE632761D2}"/>
              </a:ext>
            </a:extLst>
          </p:cNvPr>
          <p:cNvSpPr txBox="1"/>
          <p:nvPr/>
        </p:nvSpPr>
        <p:spPr>
          <a:xfrm rot="19488238">
            <a:off x="774002" y="3136352"/>
            <a:ext cx="7239000" cy="101566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 really a good example!</a:t>
            </a:r>
          </a:p>
          <a:p>
            <a:pPr algn="ctr"/>
            <a:r>
              <a:rPr lang="en-US" sz="2000" dirty="0"/>
              <a:t>System </a:t>
            </a:r>
            <a:r>
              <a:rPr lang="en-US" sz="2000" dirty="0" err="1"/>
              <a:t>verilog</a:t>
            </a:r>
            <a:r>
              <a:rPr lang="en-US" sz="2000" dirty="0"/>
              <a:t> introduced the enumerated type which is better for state encoding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298B71-843C-4160-945C-2F1A7961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45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685C1A-AAD8-4243-9456-2918429CDD29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609600"/>
            <a:ext cx="57912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/>
              <a:t>localparam</a:t>
            </a:r>
            <a:endParaRPr lang="en-US" altLang="en-US" sz="40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4B6054C-E0AE-450C-855C-FB1AD438B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A0"/>
              </a:buClr>
              <a:buSzPct val="125000"/>
              <a:buFont typeface="Wingdings" pitchFamily="2" charset="2"/>
              <a:buChar char="§"/>
              <a:defRPr/>
            </a:pPr>
            <a:r>
              <a:rPr lang="en-US" sz="2400" kern="0" dirty="0">
                <a:latin typeface="Tahoma" pitchFamily="34" charset="0"/>
                <a:cs typeface="+mn-cs"/>
              </a:rPr>
              <a:t>Perhaps a better example of the use of </a:t>
            </a:r>
            <a:r>
              <a:rPr lang="en-US" sz="2400" b="1" kern="0" dirty="0" err="1">
                <a:latin typeface="Tahoma" pitchFamily="34" charset="0"/>
                <a:cs typeface="+mn-cs"/>
              </a:rPr>
              <a:t>localparam</a:t>
            </a:r>
            <a:r>
              <a:rPr lang="en-US" sz="2400" kern="0" dirty="0">
                <a:latin typeface="Tahoma" pitchFamily="34" charset="0"/>
                <a:cs typeface="+mn-cs"/>
              </a:rPr>
              <a:t> would be for defining the value of a constant used in your code that might be subject to change.</a:t>
            </a:r>
            <a:endParaRPr lang="en-US" sz="2400" kern="0" dirty="0">
              <a:latin typeface="+mn-lt"/>
              <a:cs typeface="+mn-cs"/>
            </a:endParaRPr>
          </a:p>
          <a:p>
            <a:pPr marL="742950" lvl="1" indent="-285750">
              <a:spcBef>
                <a:spcPct val="20000"/>
              </a:spcBef>
              <a:buClr>
                <a:srgbClr val="0000A0"/>
              </a:buClr>
              <a:buSzPct val="125000"/>
              <a:defRPr/>
            </a:pPr>
            <a:endParaRPr lang="en-US" sz="2400" kern="0" dirty="0">
              <a:latin typeface="+mn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Clr>
                <a:srgbClr val="0000A0"/>
              </a:buClr>
              <a:buSzPct val="125000"/>
              <a:defRPr/>
            </a:pPr>
            <a:endParaRPr lang="en-US" sz="2400" kern="0" dirty="0">
              <a:latin typeface="+mn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Clr>
                <a:srgbClr val="0000A0"/>
              </a:buClr>
              <a:buSzPct val="125000"/>
              <a:buFont typeface="Wingdings" pitchFamily="2" charset="2"/>
              <a:buNone/>
              <a:defRPr/>
            </a:pPr>
            <a:endParaRPr lang="en-US" sz="2800" kern="0" dirty="0">
              <a:latin typeface="+mn-lt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E2F1B6-E008-4951-839C-D91ED434F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3024187"/>
            <a:ext cx="8505825" cy="809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DC93476D-DC28-4505-89B2-9A7CBDE25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41910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A0"/>
              </a:buClr>
              <a:buSzPct val="125000"/>
              <a:buFont typeface="Wingdings" pitchFamily="2" charset="2"/>
              <a:buChar char="§"/>
              <a:defRPr/>
            </a:pPr>
            <a:r>
              <a:rPr lang="en-US" sz="2400" kern="0" dirty="0">
                <a:latin typeface="Tahoma" pitchFamily="34" charset="0"/>
                <a:cs typeface="+mn-cs"/>
              </a:rPr>
              <a:t>This example shows use of a </a:t>
            </a:r>
            <a:r>
              <a:rPr lang="en-US" sz="2400" b="1" kern="0" dirty="0" err="1">
                <a:latin typeface="Tahoma" pitchFamily="34" charset="0"/>
                <a:cs typeface="+mn-cs"/>
              </a:rPr>
              <a:t>localparam</a:t>
            </a:r>
            <a:r>
              <a:rPr lang="en-US" sz="2400" kern="0" dirty="0">
                <a:latin typeface="Tahoma" pitchFamily="34" charset="0"/>
                <a:cs typeface="+mn-cs"/>
              </a:rPr>
              <a:t> for a couple of coefficients used in the calculations for a PID controller. </a:t>
            </a:r>
            <a:endParaRPr lang="en-US" sz="2400" kern="0" dirty="0">
              <a:latin typeface="+mn-lt"/>
              <a:cs typeface="+mn-cs"/>
            </a:endParaRPr>
          </a:p>
          <a:p>
            <a:pPr marL="742950" lvl="1" indent="-285750">
              <a:spcBef>
                <a:spcPct val="20000"/>
              </a:spcBef>
              <a:buClr>
                <a:srgbClr val="0000A0"/>
              </a:buClr>
              <a:buSzPct val="125000"/>
              <a:defRPr/>
            </a:pPr>
            <a:endParaRPr lang="en-US" sz="2400" kern="0" dirty="0">
              <a:latin typeface="+mn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Clr>
                <a:srgbClr val="0000A0"/>
              </a:buClr>
              <a:buSzPct val="125000"/>
              <a:defRPr/>
            </a:pPr>
            <a:endParaRPr lang="en-US" sz="2400" kern="0" dirty="0"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1291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161" y="228600"/>
            <a:ext cx="7315200" cy="1143000"/>
          </a:xfrm>
        </p:spPr>
        <p:txBody>
          <a:bodyPr/>
          <a:lstStyle/>
          <a:p>
            <a:r>
              <a:rPr lang="en-US" dirty="0"/>
              <a:t>System Verilog…Better Yet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7E56F-A426-4A3E-9136-E74CA3CF9570}" type="slidenum">
              <a:rPr lang="en-US" altLang="en-US" smtClean="0"/>
              <a:pPr/>
              <a:t>46</a:t>
            </a:fld>
            <a:endParaRPr lang="en-US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57199" y="1801812"/>
            <a:ext cx="70759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/>
              <a:t>System </a:t>
            </a:r>
            <a:r>
              <a:rPr lang="en-US" altLang="en-US" sz="2800" dirty="0" err="1"/>
              <a:t>verilog</a:t>
            </a:r>
            <a:r>
              <a:rPr lang="en-US" altLang="en-US" sz="2800" dirty="0"/>
              <a:t> adds an enumerated type</a:t>
            </a:r>
            <a:r>
              <a:rPr lang="en-US" altLang="en-US" dirty="0"/>
              <a:t>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199" y="2743200"/>
            <a:ext cx="7663123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 err="1">
                <a:latin typeface="Tahoma" panose="020B0604030504040204" pitchFamily="34" charset="0"/>
                <a:cs typeface="Tahoma" panose="020B0604030504040204" pitchFamily="34" charset="0"/>
              </a:rPr>
              <a:t>typedef</a:t>
            </a:r>
            <a:r>
              <a:rPr lang="en-US" altLang="en-US" b="1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b="1" dirty="0" err="1">
                <a:latin typeface="Tahoma" panose="020B0604030504040204" pitchFamily="34" charset="0"/>
                <a:cs typeface="Tahoma" panose="020B0604030504040204" pitchFamily="34" charset="0"/>
              </a:rPr>
              <a:t>enum</a:t>
            </a:r>
            <a:r>
              <a:rPr lang="en-US" altLang="en-US" b="1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b="1" dirty="0" err="1">
                <a:latin typeface="Tahoma" panose="020B0604030504040204" pitchFamily="34" charset="0"/>
                <a:cs typeface="Tahoma" panose="020B0604030504040204" pitchFamily="34" charset="0"/>
              </a:rPr>
              <a:t>reg</a:t>
            </a:r>
            <a:r>
              <a:rPr lang="en-US" altLang="en-US" b="1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[1:0] { IDLE, CONV, ACCM } </a:t>
            </a:r>
            <a:r>
              <a:rPr lang="en-US" altLang="en-US" dirty="0" err="1">
                <a:latin typeface="Tahoma" panose="020B0604030504040204" pitchFamily="34" charset="0"/>
                <a:cs typeface="Tahoma" panose="020B0604030504040204" pitchFamily="34" charset="0"/>
              </a:rPr>
              <a:t>state_t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endParaRPr lang="en-US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en-US" dirty="0" err="1">
                <a:latin typeface="Tahoma" panose="020B0604030504040204" pitchFamily="34" charset="0"/>
                <a:cs typeface="Tahoma" panose="020B0604030504040204" pitchFamily="34" charset="0"/>
              </a:rPr>
              <a:t>state_t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 state, </a:t>
            </a:r>
            <a:r>
              <a:rPr lang="en-US" altLang="en-US" dirty="0" err="1">
                <a:latin typeface="Tahoma" panose="020B0604030504040204" pitchFamily="34" charset="0"/>
                <a:cs typeface="Tahoma" panose="020B0604030504040204" pitchFamily="34" charset="0"/>
              </a:rPr>
              <a:t>nxt_state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;		// declare state and </a:t>
            </a:r>
            <a:r>
              <a:rPr lang="en-US" altLang="en-US" dirty="0" err="1">
                <a:latin typeface="Tahoma" panose="020B0604030504040204" pitchFamily="34" charset="0"/>
                <a:cs typeface="Tahoma" panose="020B0604030504040204" pitchFamily="34" charset="0"/>
              </a:rPr>
              <a:t>nxt_state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 signals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81530" y="3960418"/>
            <a:ext cx="3205163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  case</a:t>
            </a:r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(state)</a:t>
            </a:r>
          </a:p>
          <a:p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   IDLE : </a:t>
            </a:r>
            <a:r>
              <a:rPr lang="en-US" alt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altLang="en-US" sz="1600" dirty="0" err="1">
                <a:latin typeface="Tahoma" panose="020B0604030504040204" pitchFamily="34" charset="0"/>
                <a:cs typeface="Tahoma" panose="020B0604030504040204" pitchFamily="34" charset="0"/>
              </a:rPr>
              <a:t>strt_cnv</a:t>
            </a:r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alt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begin</a:t>
            </a:r>
          </a:p>
          <a:p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        </a:t>
            </a:r>
            <a:r>
              <a:rPr lang="en-US" altLang="en-US" sz="1600" dirty="0" err="1">
                <a:latin typeface="Tahoma" panose="020B0604030504040204" pitchFamily="34" charset="0"/>
                <a:cs typeface="Tahoma" panose="020B0604030504040204" pitchFamily="34" charset="0"/>
              </a:rPr>
              <a:t>clr_dac</a:t>
            </a:r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= 1;</a:t>
            </a:r>
          </a:p>
          <a:p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        </a:t>
            </a:r>
            <a:r>
              <a:rPr lang="en-US" altLang="en-US" sz="1600" dirty="0" err="1">
                <a:latin typeface="Tahoma" panose="020B0604030504040204" pitchFamily="34" charset="0"/>
                <a:cs typeface="Tahoma" panose="020B0604030504040204" pitchFamily="34" charset="0"/>
              </a:rPr>
              <a:t>clr_smpl</a:t>
            </a:r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= 1;</a:t>
            </a:r>
          </a:p>
          <a:p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        </a:t>
            </a:r>
            <a:r>
              <a:rPr lang="en-US" altLang="en-US" sz="1600" dirty="0" err="1">
                <a:latin typeface="Tahoma" panose="020B0604030504040204" pitchFamily="34" charset="0"/>
                <a:cs typeface="Tahoma" panose="020B0604030504040204" pitchFamily="34" charset="0"/>
              </a:rPr>
              <a:t>nxt_state</a:t>
            </a:r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= CONV;</a:t>
            </a:r>
          </a:p>
          <a:p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alt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end</a:t>
            </a:r>
          </a:p>
          <a:p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   CONV : </a:t>
            </a:r>
            <a:r>
              <a:rPr lang="en-US" alt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(!</a:t>
            </a:r>
            <a:r>
              <a:rPr lang="en-US" altLang="en-US" sz="1600" dirty="0" err="1">
                <a:latin typeface="Tahoma" panose="020B0604030504040204" pitchFamily="34" charset="0"/>
                <a:cs typeface="Tahoma" panose="020B0604030504040204" pitchFamily="34" charset="0"/>
              </a:rPr>
              <a:t>gt</a:t>
            </a:r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alt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begin</a:t>
            </a:r>
          </a:p>
          <a:p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       </a:t>
            </a:r>
            <a:r>
              <a:rPr lang="en-US" altLang="en-US" sz="1600" dirty="0" err="1">
                <a:latin typeface="Tahoma" panose="020B0604030504040204" pitchFamily="34" charset="0"/>
                <a:cs typeface="Tahoma" panose="020B0604030504040204" pitchFamily="34" charset="0"/>
              </a:rPr>
              <a:t>inc_dac</a:t>
            </a:r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= 1;</a:t>
            </a:r>
          </a:p>
          <a:p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       </a:t>
            </a:r>
            <a:r>
              <a:rPr lang="en-US" altLang="en-US" sz="1600" dirty="0" err="1">
                <a:latin typeface="Tahoma" panose="020B0604030504040204" pitchFamily="34" charset="0"/>
                <a:cs typeface="Tahoma" panose="020B0604030504040204" pitchFamily="34" charset="0"/>
              </a:rPr>
              <a:t>nxt_state</a:t>
            </a:r>
            <a:r>
              <a:rPr lang="en-US" altLang="en-US" sz="1600" dirty="0">
                <a:latin typeface="Tahoma" panose="020B0604030504040204" pitchFamily="34" charset="0"/>
                <a:cs typeface="Tahoma" panose="020B0604030504040204" pitchFamily="34" charset="0"/>
              </a:rPr>
              <a:t> = CONV;</a:t>
            </a:r>
          </a:p>
          <a:p>
            <a:pPr lvl="1"/>
            <a:r>
              <a:rPr lang="en-US" alt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. . . 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52400" y="4980199"/>
            <a:ext cx="6842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state</a:t>
            </a:r>
          </a:p>
        </p:txBody>
      </p: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1066800" y="5035761"/>
            <a:ext cx="7620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>
            <a:off x="1066800" y="5350086"/>
            <a:ext cx="7620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152525" y="5015124"/>
            <a:ext cx="5826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/>
              <a:t>IDLE</a:t>
            </a:r>
          </a:p>
        </p:txBody>
      </p:sp>
      <p:cxnSp>
        <p:nvCxnSpPr>
          <p:cNvPr id="13" name="Straight Connector 12"/>
          <p:cNvCxnSpPr>
            <a:cxnSpLocks noChangeShapeType="1"/>
          </p:cNvCxnSpPr>
          <p:nvPr/>
        </p:nvCxnSpPr>
        <p:spPr bwMode="auto">
          <a:xfrm>
            <a:off x="1828800" y="5035761"/>
            <a:ext cx="152400" cy="314325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Connector 13"/>
          <p:cNvCxnSpPr>
            <a:cxnSpLocks noChangeShapeType="1"/>
          </p:cNvCxnSpPr>
          <p:nvPr/>
        </p:nvCxnSpPr>
        <p:spPr bwMode="auto">
          <a:xfrm flipV="1">
            <a:off x="1828800" y="5035761"/>
            <a:ext cx="152400" cy="314325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Connector 14"/>
          <p:cNvCxnSpPr>
            <a:cxnSpLocks noChangeShapeType="1"/>
          </p:cNvCxnSpPr>
          <p:nvPr/>
        </p:nvCxnSpPr>
        <p:spPr bwMode="auto">
          <a:xfrm>
            <a:off x="1981200" y="5035761"/>
            <a:ext cx="13716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15"/>
          <p:cNvCxnSpPr>
            <a:cxnSpLocks noChangeShapeType="1"/>
          </p:cNvCxnSpPr>
          <p:nvPr/>
        </p:nvCxnSpPr>
        <p:spPr bwMode="auto">
          <a:xfrm>
            <a:off x="1981200" y="5350086"/>
            <a:ext cx="13716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16"/>
          <p:cNvCxnSpPr>
            <a:cxnSpLocks noChangeShapeType="1"/>
          </p:cNvCxnSpPr>
          <p:nvPr/>
        </p:nvCxnSpPr>
        <p:spPr bwMode="auto">
          <a:xfrm>
            <a:off x="3352800" y="5035761"/>
            <a:ext cx="152400" cy="314325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/>
          <p:cNvCxnSpPr>
            <a:cxnSpLocks noChangeShapeType="1"/>
          </p:cNvCxnSpPr>
          <p:nvPr/>
        </p:nvCxnSpPr>
        <p:spPr bwMode="auto">
          <a:xfrm flipV="1">
            <a:off x="3352800" y="5035761"/>
            <a:ext cx="152400" cy="314325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/>
          <p:cNvCxnSpPr>
            <a:cxnSpLocks noChangeShapeType="1"/>
          </p:cNvCxnSpPr>
          <p:nvPr/>
        </p:nvCxnSpPr>
        <p:spPr bwMode="auto">
          <a:xfrm>
            <a:off x="3505200" y="5037349"/>
            <a:ext cx="41275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Connector 19"/>
          <p:cNvCxnSpPr>
            <a:cxnSpLocks noChangeShapeType="1"/>
          </p:cNvCxnSpPr>
          <p:nvPr/>
        </p:nvCxnSpPr>
        <p:spPr bwMode="auto">
          <a:xfrm>
            <a:off x="3917950" y="5030999"/>
            <a:ext cx="152400" cy="314325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Connector 20"/>
          <p:cNvCxnSpPr>
            <a:cxnSpLocks noChangeShapeType="1"/>
          </p:cNvCxnSpPr>
          <p:nvPr/>
        </p:nvCxnSpPr>
        <p:spPr bwMode="auto">
          <a:xfrm flipV="1">
            <a:off x="3917950" y="5030999"/>
            <a:ext cx="152400" cy="314325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Connector 21"/>
          <p:cNvCxnSpPr>
            <a:cxnSpLocks noChangeShapeType="1"/>
          </p:cNvCxnSpPr>
          <p:nvPr/>
        </p:nvCxnSpPr>
        <p:spPr bwMode="auto">
          <a:xfrm>
            <a:off x="3505200" y="5351674"/>
            <a:ext cx="41275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22"/>
          <p:cNvCxnSpPr>
            <a:cxnSpLocks noChangeShapeType="1"/>
          </p:cNvCxnSpPr>
          <p:nvPr/>
        </p:nvCxnSpPr>
        <p:spPr bwMode="auto">
          <a:xfrm>
            <a:off x="4070350" y="5030999"/>
            <a:ext cx="34925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/>
          <p:cNvCxnSpPr>
            <a:cxnSpLocks noChangeShapeType="1"/>
          </p:cNvCxnSpPr>
          <p:nvPr/>
        </p:nvCxnSpPr>
        <p:spPr bwMode="auto">
          <a:xfrm>
            <a:off x="4057650" y="5331036"/>
            <a:ext cx="34925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2374900" y="5043699"/>
            <a:ext cx="7048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/>
              <a:t>CONV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3394075" y="5026236"/>
            <a:ext cx="6365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/>
              <a:t>ACCM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4103688" y="5045286"/>
            <a:ext cx="7032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/>
              <a:t>CONV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1162050" y="5694891"/>
            <a:ext cx="3009900" cy="369887"/>
          </a:xfrm>
          <a:prstGeom prst="rect">
            <a:avLst/>
          </a:prstGeom>
          <a:solidFill>
            <a:srgbClr val="D1FF47">
              <a:alpha val="3215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Makes debug much easier</a:t>
            </a:r>
          </a:p>
        </p:txBody>
      </p:sp>
    </p:spTree>
    <p:extLst>
      <p:ext uri="{BB962C8B-B14F-4D97-AF65-F5344CB8AC3E}">
        <p14:creationId xmlns:p14="http://schemas.microsoft.com/office/powerpoint/2010/main" val="81317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/>
      <p:bldP spid="12" grpId="0"/>
      <p:bldP spid="25" grpId="0"/>
      <p:bldP spid="26" grpId="0"/>
      <p:bldP spid="27" grpId="0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457200" y="339418"/>
            <a:ext cx="8229600" cy="1143000"/>
          </a:xfrm>
        </p:spPr>
        <p:txBody>
          <a:bodyPr/>
          <a:lstStyle/>
          <a:p>
            <a:r>
              <a:rPr lang="en-US" altLang="en-US" sz="4000" dirty="0"/>
              <a:t>Implicit Net Declarations</a:t>
            </a: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1FF77FD-BA20-4F18-8507-2AAD8D617CEA}" type="slidenum">
              <a:rPr lang="en-US" altLang="en-US"/>
              <a:pPr eaLnBrk="1" hangingPunct="1"/>
              <a:t>47</a:t>
            </a:fld>
            <a:endParaRPr lang="en-US" altLang="en-US"/>
          </a:p>
        </p:txBody>
      </p:sp>
      <p:sp>
        <p:nvSpPr>
          <p:cNvPr id="47108" name="Rectangle 3"/>
          <p:cNvSpPr txBox="1">
            <a:spLocks noChangeArrowheads="1"/>
          </p:cNvSpPr>
          <p:nvPr/>
        </p:nvSpPr>
        <p:spPr bwMode="auto">
          <a:xfrm>
            <a:off x="457200" y="1676400"/>
            <a:ext cx="8229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</a:rPr>
              <a:t>When wire is used but not declared, it is </a:t>
            </a:r>
            <a:r>
              <a:rPr lang="en-US" altLang="en-US" sz="2800" i="1" dirty="0">
                <a:latin typeface="Times New Roman" panose="02020603050405020304" pitchFamily="18" charset="0"/>
              </a:rPr>
              <a:t>implied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	</a:t>
            </a:r>
            <a:r>
              <a:rPr lang="en-US" altLang="en-US" dirty="0"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</a:rPr>
              <a:t>module </a:t>
            </a:r>
            <a:r>
              <a:rPr lang="en-US" altLang="en-US" dirty="0">
                <a:latin typeface="Times New Roman" panose="02020603050405020304" pitchFamily="18" charset="0"/>
              </a:rPr>
              <a:t>majority(</a:t>
            </a:r>
            <a:r>
              <a:rPr lang="en-US" altLang="en-US" b="1" dirty="0">
                <a:latin typeface="Times New Roman" panose="02020603050405020304" pitchFamily="18" charset="0"/>
              </a:rPr>
              <a:t>output</a:t>
            </a:r>
            <a:r>
              <a:rPr lang="en-US" altLang="en-US" dirty="0">
                <a:latin typeface="Times New Roman" panose="02020603050405020304" pitchFamily="18" charset="0"/>
              </a:rPr>
              <a:t> out, </a:t>
            </a:r>
            <a:r>
              <a:rPr lang="en-US" altLang="en-US" b="1" dirty="0">
                <a:latin typeface="Times New Roman" panose="02020603050405020304" pitchFamily="18" charset="0"/>
              </a:rPr>
              <a:t>input</a:t>
            </a:r>
            <a:r>
              <a:rPr lang="en-US" altLang="en-US" dirty="0">
                <a:latin typeface="Times New Roman" panose="02020603050405020304" pitchFamily="18" charset="0"/>
              </a:rPr>
              <a:t> a, b, c);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	     assign part1 = a &amp; b;</a:t>
            </a:r>
            <a:br>
              <a:rPr lang="en-US" altLang="en-US" dirty="0">
                <a:latin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</a:rPr>
              <a:t>	     assign part2 = a &amp; c;</a:t>
            </a:r>
            <a:br>
              <a:rPr lang="en-US" altLang="en-US" dirty="0">
                <a:latin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</a:rPr>
              <a:t>	     assign part3 = b &amp; c;</a:t>
            </a:r>
            <a:br>
              <a:rPr lang="en-US" altLang="en-US" dirty="0">
                <a:latin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</a:rPr>
              <a:t>	     assign out = part1 | part2 | part3;</a:t>
            </a:r>
            <a:br>
              <a:rPr lang="en-US" altLang="en-US" dirty="0">
                <a:latin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</a:rPr>
              <a:t>	</a:t>
            </a:r>
            <a:r>
              <a:rPr lang="en-US" altLang="en-US" b="1" dirty="0" err="1">
                <a:latin typeface="Times New Roman" panose="02020603050405020304" pitchFamily="18" charset="0"/>
              </a:rPr>
              <a:t>endmodule</a:t>
            </a:r>
            <a:br>
              <a:rPr lang="en-US" altLang="en-US" dirty="0">
                <a:latin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</a:rPr>
              <a:t>	     </a:t>
            </a:r>
            <a:endParaRPr lang="en-US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</a:rPr>
              <a:t>Defaults to single bit wire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</a:rPr>
              <a:t>Breaks compatibility with some tools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</a:rPr>
              <a:t>Disable by using </a:t>
            </a:r>
            <a:r>
              <a:rPr lang="en-US" altLang="en-US" sz="2800" dirty="0">
                <a:solidFill>
                  <a:srgbClr val="000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`</a:t>
            </a:r>
            <a:r>
              <a:rPr lang="en-US" altLang="en-US" sz="2800" dirty="0" err="1">
                <a:solidFill>
                  <a:srgbClr val="000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default_nettype</a:t>
            </a:r>
            <a:r>
              <a:rPr lang="en-US" altLang="en-US" sz="2800" dirty="0">
                <a:solidFill>
                  <a:srgbClr val="000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none </a:t>
            </a:r>
            <a:r>
              <a:rPr lang="en-US" altLang="en-US" sz="2800" dirty="0">
                <a:latin typeface="Times New Roman" panose="02020603050405020304" pitchFamily="18" charset="0"/>
              </a:rPr>
              <a:t>directive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</a:rPr>
              <a:t>Helps to avoid wasting time on typos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4A19CA-AE5E-4110-AEA0-BD5085ADE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8BC9-6D10-4FF9-9E32-983CF9101E70}" type="slidenum">
              <a:rPr lang="en-US" altLang="en-US" smtClean="0"/>
              <a:pPr/>
              <a:t>48</a:t>
            </a:fld>
            <a:endParaRPr lang="en-US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7BD636-E247-40A8-9ECA-16670B86A17F}"/>
              </a:ext>
            </a:extLst>
          </p:cNvPr>
          <p:cNvSpPr txBox="1">
            <a:spLocks/>
          </p:cNvSpPr>
          <p:nvPr/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 dirty="0"/>
              <a:t>Don’t Take My Word for it</a:t>
            </a:r>
            <a:r>
              <a:rPr lang="en-US" altLang="en-US" sz="2400" dirty="0"/>
              <a:t> (take Aaron Cohen’s)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09B84-D885-402D-85E9-7D6B608EC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67530"/>
            <a:ext cx="7924800" cy="15350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CE1AFF-BE88-409E-9DD3-D12BB6DA9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67" y="3276600"/>
            <a:ext cx="8194134" cy="26210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51792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9581"/>
            <a:ext cx="5562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Useful System Tasks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524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$display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 </a:t>
            </a:r>
            <a:r>
              <a:rPr lang="en-US" altLang="en-US"/>
              <a:t>Like printf in C.  Useful for testbenches and debug</a:t>
            </a:r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B1EE4DA-59BA-4B92-A06F-3C78B6F8241C}" type="slidenum">
              <a:rPr lang="en-US" altLang="en-US"/>
              <a:pPr eaLnBrk="1" hangingPunct="1"/>
              <a:t>49</a:t>
            </a:fld>
            <a:endParaRPr lang="en-US" altLang="en-US"/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1295400" y="2514600"/>
            <a:ext cx="6738938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0000A0"/>
              </a:buClr>
              <a:buSzPct val="125000"/>
            </a:pPr>
            <a:r>
              <a:rPr lang="en-US" altLang="en-US" sz="2400">
                <a:latin typeface="Tahoma" panose="020B0604030504040204" pitchFamily="34" charset="0"/>
              </a:rPr>
              <a:t>$display(“At time %t count = %h”,$time,cnt);</a:t>
            </a:r>
          </a:p>
        </p:txBody>
      </p:sp>
      <p:sp>
        <p:nvSpPr>
          <p:cNvPr id="204806" name="Rectangle 6"/>
          <p:cNvSpPr>
            <a:spLocks noChangeArrowheads="1"/>
          </p:cNvSpPr>
          <p:nvPr/>
        </p:nvSpPr>
        <p:spPr bwMode="auto">
          <a:xfrm>
            <a:off x="457200" y="3124200"/>
            <a:ext cx="8229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>
                <a:latin typeface="Tahoma" panose="020B0604030504040204" pitchFamily="34" charset="0"/>
              </a:rPr>
              <a:t>$stop </a:t>
            </a:r>
            <a:r>
              <a:rPr lang="en-US" altLang="en-US" sz="2800">
                <a:latin typeface="Tahoma" panose="020B0604030504040204" pitchFamily="34" charset="0"/>
                <a:sym typeface="Wingdings" panose="05000000000000000000" pitchFamily="2" charset="2"/>
              </a:rPr>
              <a:t> </a:t>
            </a:r>
            <a:r>
              <a:rPr lang="en-US" altLang="en-US" sz="2800">
                <a:latin typeface="Times New Roman" panose="02020603050405020304" pitchFamily="18" charset="0"/>
              </a:rPr>
              <a:t>Stops simulation and allows you to still probe signals and debug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>
                <a:latin typeface="Tahoma" panose="020B0604030504040204" pitchFamily="34" charset="0"/>
              </a:rPr>
              <a:t>$finish</a:t>
            </a:r>
            <a:r>
              <a:rPr lang="en-US" altLang="en-US" sz="2800"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en-US" sz="2800">
                <a:latin typeface="Times New Roman" panose="02020603050405020304" pitchFamily="18" charset="0"/>
              </a:rPr>
              <a:t>completely stops simulation, simulator relinquishes control of thread.</a:t>
            </a: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04807" name="Rectangle 7"/>
          <p:cNvSpPr>
            <a:spLocks noChangeArrowheads="1"/>
          </p:cNvSpPr>
          <p:nvPr/>
        </p:nvSpPr>
        <p:spPr bwMode="auto">
          <a:xfrm>
            <a:off x="457200" y="4953000"/>
            <a:ext cx="8229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</a:rPr>
              <a:t>Also useful is </a:t>
            </a:r>
            <a:r>
              <a:rPr lang="en-US" altLang="en-US" sz="2800" dirty="0">
                <a:latin typeface="Tahoma" panose="020B0604030504040204" pitchFamily="34" charset="0"/>
              </a:rPr>
              <a:t>`include</a:t>
            </a:r>
            <a:r>
              <a:rPr lang="en-US" altLang="en-US" sz="2800" dirty="0">
                <a:latin typeface="Times New Roman" panose="02020603050405020304" pitchFamily="18" charset="0"/>
              </a:rPr>
              <a:t> for including code from another file (like a header file)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6" grpId="0"/>
      <p:bldP spid="20480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12725"/>
            <a:ext cx="7620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Can Mix Styles In Hierarchy!</a:t>
            </a:r>
          </a:p>
        </p:txBody>
      </p:sp>
      <p:sp>
        <p:nvSpPr>
          <p:cNvPr id="327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68E3D5-21EA-4C86-BF0F-E571585D48B7}" type="slidenum">
              <a:rPr lang="en-US" altLang="en-US"/>
              <a:pPr eaLnBrk="1" hangingPunct="1"/>
              <a:t>50</a:t>
            </a:fld>
            <a:endParaRPr lang="en-US" altLang="en-US"/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304800" y="1524000"/>
            <a:ext cx="44958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4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endParaRPr lang="en-US" altLang="en-US">
              <a:solidFill>
                <a:srgbClr val="9933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module</a:t>
            </a:r>
            <a:r>
              <a:rPr lang="en-US" altLang="en-US" sz="2000">
                <a:latin typeface="Times New Roman" panose="02020603050405020304" pitchFamily="18" charset="0"/>
              </a:rPr>
              <a:t> Add_half_bhv(c_out, sum, a, b);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	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</a:rPr>
              <a:t>reg</a:t>
            </a:r>
            <a:r>
              <a:rPr lang="en-US" altLang="en-US" sz="2000">
                <a:latin typeface="Times New Roman" panose="02020603050405020304" pitchFamily="18" charset="0"/>
              </a:rPr>
              <a:t> sum, c_out;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	input</a:t>
            </a:r>
            <a:r>
              <a:rPr lang="en-US" altLang="en-US" sz="2000">
                <a:latin typeface="Times New Roman" panose="02020603050405020304" pitchFamily="18" charset="0"/>
              </a:rPr>
              <a:t> a, b;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	always @(a, b) begin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         </a:t>
            </a:r>
            <a:r>
              <a:rPr lang="en-US" altLang="en-US" sz="2000">
                <a:latin typeface="Times New Roman" panose="02020603050405020304" pitchFamily="18" charset="0"/>
              </a:rPr>
              <a:t>sum = a ^ b;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c_out = a &amp; b;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	end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endmodule</a:t>
            </a:r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3505200" y="3200400"/>
            <a:ext cx="5334000" cy="3352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4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9933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module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Add_full_mix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dirty="0" err="1">
                <a:latin typeface="Times New Roman" panose="02020603050405020304" pitchFamily="18" charset="0"/>
              </a:rPr>
              <a:t>c_out</a:t>
            </a:r>
            <a:r>
              <a:rPr lang="en-US" altLang="en-US" sz="2000" dirty="0">
                <a:latin typeface="Times New Roman" panose="02020603050405020304" pitchFamily="18" charset="0"/>
              </a:rPr>
              <a:t>, sum, a, b, </a:t>
            </a:r>
            <a:r>
              <a:rPr lang="en-US" altLang="en-US" sz="2000" dirty="0" err="1">
                <a:latin typeface="Times New Roman" panose="02020603050405020304" pitchFamily="18" charset="0"/>
              </a:rPr>
              <a:t>c_in</a:t>
            </a:r>
            <a:r>
              <a:rPr lang="en-US" altLang="en-US" sz="2000" dirty="0">
                <a:latin typeface="Times New Roman" panose="02020603050405020304" pitchFamily="18" charset="0"/>
              </a:rPr>
              <a:t>) 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	output</a:t>
            </a:r>
            <a:r>
              <a:rPr lang="en-US" altLang="en-US" sz="2000" dirty="0">
                <a:latin typeface="Times New Roman" panose="02020603050405020304" pitchFamily="18" charset="0"/>
              </a:rPr>
              <a:t> sum, </a:t>
            </a:r>
            <a:r>
              <a:rPr lang="en-US" altLang="en-US" sz="2000" dirty="0" err="1">
                <a:latin typeface="Times New Roman" panose="02020603050405020304" pitchFamily="18" charset="0"/>
              </a:rPr>
              <a:t>c_out</a:t>
            </a:r>
            <a:r>
              <a:rPr lang="en-US" altLang="en-US" sz="20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	input</a:t>
            </a:r>
            <a:r>
              <a:rPr lang="en-US" altLang="en-US" sz="2000" dirty="0">
                <a:latin typeface="Times New Roman" panose="02020603050405020304" pitchFamily="18" charset="0"/>
              </a:rPr>
              <a:t> a, b, </a:t>
            </a:r>
            <a:r>
              <a:rPr lang="en-US" altLang="en-US" sz="2000" dirty="0" err="1">
                <a:latin typeface="Times New Roman" panose="02020603050405020304" pitchFamily="18" charset="0"/>
              </a:rPr>
              <a:t>c_in</a:t>
            </a:r>
            <a:r>
              <a:rPr lang="en-US" altLang="en-US" sz="20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latin typeface="Times New Roman" panose="02020603050405020304" pitchFamily="18" charset="0"/>
              </a:rPr>
              <a:t>wire</a:t>
            </a:r>
            <a:r>
              <a:rPr lang="en-US" altLang="en-US" sz="2000" dirty="0">
                <a:latin typeface="Times New Roman" panose="02020603050405020304" pitchFamily="18" charset="0"/>
              </a:rPr>
              <a:t> w1, w2, w3;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	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Add_half_bhv</a:t>
            </a:r>
            <a:r>
              <a:rPr lang="en-US" altLang="en-US" sz="2000" dirty="0">
                <a:latin typeface="Times New Roman" panose="02020603050405020304" pitchFamily="18" charset="0"/>
              </a:rPr>
              <a:t> AH1(.sum(w1), .</a:t>
            </a:r>
            <a:r>
              <a:rPr lang="en-US" altLang="en-US" sz="2000" dirty="0" err="1">
                <a:latin typeface="Times New Roman" panose="02020603050405020304" pitchFamily="18" charset="0"/>
              </a:rPr>
              <a:t>c_out</a:t>
            </a:r>
            <a:r>
              <a:rPr lang="en-US" altLang="en-US" sz="2000" dirty="0">
                <a:latin typeface="Times New Roman" panose="02020603050405020304" pitchFamily="18" charset="0"/>
              </a:rPr>
              <a:t>(w2),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                  .a(a), .b(b));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	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Add_half_bhv</a:t>
            </a:r>
            <a:r>
              <a:rPr lang="en-US" altLang="en-US" sz="2000" dirty="0">
                <a:latin typeface="Times New Roman" panose="02020603050405020304" pitchFamily="18" charset="0"/>
              </a:rPr>
              <a:t> AH2(.sum(sum), .</a:t>
            </a:r>
            <a:r>
              <a:rPr lang="en-US" altLang="en-US" sz="2000" dirty="0" err="1">
                <a:latin typeface="Times New Roman" panose="02020603050405020304" pitchFamily="18" charset="0"/>
              </a:rPr>
              <a:t>c_out</a:t>
            </a:r>
            <a:r>
              <a:rPr lang="en-US" altLang="en-US" sz="2000" dirty="0">
                <a:latin typeface="Times New Roman" panose="02020603050405020304" pitchFamily="18" charset="0"/>
              </a:rPr>
              <a:t>(w3),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                  .a(</a:t>
            </a:r>
            <a:r>
              <a:rPr lang="en-US" altLang="en-US" sz="2000" dirty="0" err="1">
                <a:latin typeface="Times New Roman" panose="02020603050405020304" pitchFamily="18" charset="0"/>
              </a:rPr>
              <a:t>c_in</a:t>
            </a:r>
            <a:r>
              <a:rPr lang="en-US" altLang="en-US" sz="2000" dirty="0">
                <a:latin typeface="Times New Roman" panose="02020603050405020304" pitchFamily="18" charset="0"/>
              </a:rPr>
              <a:t>), .b(w1));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	assign </a:t>
            </a:r>
            <a:r>
              <a:rPr lang="en-US" altLang="en-US" sz="2000" dirty="0" err="1">
                <a:latin typeface="Times New Roman" panose="02020603050405020304" pitchFamily="18" charset="0"/>
              </a:rPr>
              <a:t>c_out</a:t>
            </a:r>
            <a:r>
              <a:rPr lang="en-US" altLang="en-US" sz="2000" dirty="0">
                <a:latin typeface="Times New Roman" panose="02020603050405020304" pitchFamily="18" charset="0"/>
              </a:rPr>
              <a:t> = w2 | w3;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 dirty="0" err="1">
                <a:latin typeface="Times New Roman" panose="02020603050405020304" pitchFamily="18" charset="0"/>
              </a:rPr>
              <a:t>endmodule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animBg="1"/>
      <p:bldP spid="1587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58674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Hierarchy And Scope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389437"/>
          </a:xfrm>
        </p:spPr>
        <p:txBody>
          <a:bodyPr/>
          <a:lstStyle/>
          <a:p>
            <a:pPr eaLnBrk="1" hangingPunct="1"/>
            <a:r>
              <a:rPr lang="en-US" altLang="en-US" dirty="0"/>
              <a:t>Parent cannot access “internal” signals of child</a:t>
            </a:r>
          </a:p>
          <a:p>
            <a:pPr eaLnBrk="1" hangingPunct="1"/>
            <a:r>
              <a:rPr lang="en-US" altLang="en-US" dirty="0"/>
              <a:t>If you need a signal, must make a port!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   </a:t>
            </a:r>
            <a:r>
              <a:rPr lang="en-US" altLang="en-US" sz="2400" dirty="0"/>
              <a:t>Example:</a:t>
            </a:r>
            <a:br>
              <a:rPr lang="en-US" altLang="en-US" sz="2400" dirty="0"/>
            </a:br>
            <a:r>
              <a:rPr lang="en-US" altLang="en-US" sz="2400" dirty="0"/>
              <a:t>Detecting overflow</a:t>
            </a:r>
            <a:br>
              <a:rPr lang="en-US" altLang="en-US" sz="2400" dirty="0"/>
            </a:br>
            <a:br>
              <a:rPr lang="en-US" altLang="en-US" sz="2400" dirty="0"/>
            </a:br>
            <a:r>
              <a:rPr lang="en-US" altLang="en-US" sz="2400" dirty="0" err="1"/>
              <a:t>Overflow</a:t>
            </a:r>
            <a:r>
              <a:rPr lang="en-US" altLang="en-US" sz="2400" dirty="0"/>
              <a:t> =</a:t>
            </a:r>
            <a:br>
              <a:rPr lang="en-US" altLang="en-US" sz="2400" dirty="0"/>
            </a:br>
            <a:r>
              <a:rPr lang="en-US" altLang="en-US" sz="2400" dirty="0"/>
              <a:t>  </a:t>
            </a:r>
            <a:r>
              <a:rPr lang="en-US" altLang="en-US" sz="2400" dirty="0" err="1"/>
              <a:t>cout</a:t>
            </a:r>
            <a:r>
              <a:rPr lang="en-US" altLang="en-US" sz="2400" dirty="0"/>
              <a:t> XOR cout6</a:t>
            </a:r>
            <a:br>
              <a:rPr lang="en-US" altLang="en-US" sz="2400" dirty="0"/>
            </a:br>
            <a:br>
              <a:rPr lang="en-US" altLang="en-US" sz="2400" dirty="0"/>
            </a:br>
            <a:r>
              <a:rPr lang="en-US" altLang="en-US" sz="2400" dirty="0"/>
              <a:t>Must output</a:t>
            </a:r>
            <a:br>
              <a:rPr lang="en-US" altLang="en-US" sz="2400" dirty="0"/>
            </a:br>
            <a:r>
              <a:rPr lang="en-US" altLang="en-US" sz="2400" dirty="0"/>
              <a:t>overflow or cout6!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E0DB2C7-10E4-42CF-A4DC-D9D1EDAF34C7}" type="slidenum">
              <a:rPr lang="en-US" altLang="en-US"/>
              <a:pPr eaLnBrk="1" hangingPunct="1"/>
              <a:t>51</a:t>
            </a:fld>
            <a:endParaRPr lang="en-US" altLang="en-US"/>
          </a:p>
        </p:txBody>
      </p:sp>
      <p:sp>
        <p:nvSpPr>
          <p:cNvPr id="33797" name="Rectangle 4"/>
          <p:cNvSpPr>
            <a:spLocks noChangeArrowheads="1"/>
          </p:cNvSpPr>
          <p:nvPr/>
        </p:nvSpPr>
        <p:spPr bwMode="auto">
          <a:xfrm>
            <a:off x="3657600" y="2819400"/>
            <a:ext cx="47244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4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9933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module</a:t>
            </a:r>
            <a:r>
              <a:rPr lang="en-US" altLang="en-US" sz="2000" dirty="0">
                <a:latin typeface="Times New Roman" panose="02020603050405020304" pitchFamily="18" charset="0"/>
              </a:rPr>
              <a:t> add8bit(</a:t>
            </a:r>
            <a:r>
              <a:rPr lang="en-US" altLang="en-US" sz="2000" dirty="0" err="1">
                <a:latin typeface="Times New Roman" panose="02020603050405020304" pitchFamily="18" charset="0"/>
              </a:rPr>
              <a:t>cout</a:t>
            </a:r>
            <a:r>
              <a:rPr lang="en-US" altLang="en-US" sz="2000" dirty="0">
                <a:latin typeface="Times New Roman" panose="02020603050405020304" pitchFamily="18" charset="0"/>
              </a:rPr>
              <a:t>, sum, a, b, </a:t>
            </a:r>
            <a:r>
              <a:rPr lang="en-US" altLang="en-US" sz="2000" dirty="0" err="1">
                <a:latin typeface="Times New Roman" panose="02020603050405020304" pitchFamily="18" charset="0"/>
              </a:rPr>
              <a:t>cin</a:t>
            </a:r>
            <a:r>
              <a:rPr lang="en-US" altLang="en-US" sz="2000" dirty="0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</a:t>
            </a:r>
            <a:r>
              <a:rPr lang="en-US" altLang="en-US" sz="2000" b="1" dirty="0">
                <a:latin typeface="Times New Roman" panose="02020603050405020304" pitchFamily="18" charset="0"/>
              </a:rPr>
              <a:t>output </a:t>
            </a:r>
            <a:r>
              <a:rPr lang="en-US" altLang="en-US" sz="2000" dirty="0">
                <a:latin typeface="Times New Roman" panose="02020603050405020304" pitchFamily="18" charset="0"/>
              </a:rPr>
              <a:t>[7:0] sum;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</a:t>
            </a:r>
            <a:r>
              <a:rPr lang="en-US" altLang="en-US" sz="2000" b="1" dirty="0">
                <a:latin typeface="Times New Roman" panose="02020603050405020304" pitchFamily="18" charset="0"/>
              </a:rPr>
              <a:t>output </a:t>
            </a:r>
            <a:r>
              <a:rPr lang="en-US" altLang="en-US" sz="2000" dirty="0" err="1">
                <a:latin typeface="Times New Roman" panose="02020603050405020304" pitchFamily="18" charset="0"/>
              </a:rPr>
              <a:t>cout</a:t>
            </a:r>
            <a:r>
              <a:rPr lang="en-US" altLang="en-US" sz="20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</a:t>
            </a:r>
            <a:r>
              <a:rPr lang="en-US" altLang="en-US" sz="2000" b="1" dirty="0">
                <a:latin typeface="Times New Roman" panose="02020603050405020304" pitchFamily="18" charset="0"/>
              </a:rPr>
              <a:t>input </a:t>
            </a:r>
            <a:r>
              <a:rPr lang="en-US" altLang="en-US" sz="2000" dirty="0">
                <a:latin typeface="Times New Roman" panose="02020603050405020304" pitchFamily="18" charset="0"/>
              </a:rPr>
              <a:t>[7:0] a, </a:t>
            </a:r>
            <a:r>
              <a:rPr lang="en-US" altLang="en-US" sz="2000" dirty="0" err="1">
                <a:latin typeface="Times New Roman" panose="02020603050405020304" pitchFamily="18" charset="0"/>
              </a:rPr>
              <a:t>b,cin</a:t>
            </a:r>
            <a:r>
              <a:rPr lang="en-US" altLang="en-US" sz="2000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</a:t>
            </a:r>
            <a:r>
              <a:rPr lang="en-US" altLang="en-US" sz="2000" b="1" dirty="0">
                <a:latin typeface="Times New Roman" panose="02020603050405020304" pitchFamily="18" charset="0"/>
              </a:rPr>
              <a:t>wire</a:t>
            </a:r>
            <a:r>
              <a:rPr lang="en-US" altLang="en-US" sz="2000" dirty="0">
                <a:latin typeface="Times New Roman" panose="02020603050405020304" pitchFamily="18" charset="0"/>
              </a:rPr>
              <a:t> cout0, cout1,… cout6;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FA A0(cout0, sum[0], a[0], b[0], </a:t>
            </a:r>
            <a:r>
              <a:rPr lang="en-US" altLang="en-US" sz="2000" dirty="0" err="1">
                <a:latin typeface="Times New Roman" panose="02020603050405020304" pitchFamily="18" charset="0"/>
              </a:rPr>
              <a:t>cin</a:t>
            </a:r>
            <a:r>
              <a:rPr lang="en-US" altLang="en-US" sz="2000" dirty="0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FA A1(cout1, sum[1], a[1], b[1], cout0);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FA A7(</a:t>
            </a:r>
            <a:r>
              <a:rPr lang="en-US" altLang="en-US" sz="2000" dirty="0" err="1">
                <a:latin typeface="Times New Roman" panose="02020603050405020304" pitchFamily="18" charset="0"/>
              </a:rPr>
              <a:t>cout</a:t>
            </a:r>
            <a:r>
              <a:rPr lang="en-US" altLang="en-US" sz="2000" dirty="0">
                <a:latin typeface="Times New Roman" panose="02020603050405020304" pitchFamily="18" charset="0"/>
              </a:rPr>
              <a:t>, sum[7], a[7], b[7], cout6);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A0"/>
              </a:buClr>
              <a:buSzPct val="125000"/>
              <a:buFont typeface="Wingdings" panose="05000000000000000000" pitchFamily="2" charset="2"/>
              <a:buNone/>
            </a:pPr>
            <a:r>
              <a:rPr lang="en-US" altLang="en-US" sz="2000" b="1" dirty="0" err="1">
                <a:latin typeface="Times New Roman" panose="02020603050405020304" pitchFamily="18" charset="0"/>
              </a:rPr>
              <a:t>endmodule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65919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Hierarchy And Source Code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Can have all modules in a single file</a:t>
            </a:r>
          </a:p>
          <a:p>
            <a:pPr lvl="1" eaLnBrk="1" hangingPunct="1"/>
            <a:r>
              <a:rPr lang="en-US" altLang="en-US"/>
              <a:t>Module order doesn’t matter!</a:t>
            </a:r>
          </a:p>
          <a:p>
            <a:pPr lvl="1" eaLnBrk="1" hangingPunct="1"/>
            <a:r>
              <a:rPr lang="en-US" altLang="en-US"/>
              <a:t>Good for </a:t>
            </a:r>
            <a:r>
              <a:rPr lang="en-US" altLang="en-US" u="sng"/>
              <a:t>small</a:t>
            </a:r>
            <a:r>
              <a:rPr lang="en-US" altLang="en-US"/>
              <a:t> designs</a:t>
            </a:r>
          </a:p>
          <a:p>
            <a:pPr lvl="1" eaLnBrk="1" hangingPunct="1"/>
            <a:r>
              <a:rPr lang="en-US" altLang="en-US"/>
              <a:t>Not so good for bigger ones</a:t>
            </a:r>
          </a:p>
          <a:p>
            <a:pPr lvl="1" eaLnBrk="1" hangingPunct="1"/>
            <a:r>
              <a:rPr lang="en-US" altLang="en-US"/>
              <a:t>Not so good for module reuse (cut &amp; paste)</a:t>
            </a:r>
          </a:p>
          <a:p>
            <a:pPr eaLnBrk="1" hangingPunct="1"/>
            <a:r>
              <a:rPr lang="en-US" altLang="en-US"/>
              <a:t>Can break up modules into multiple files</a:t>
            </a:r>
          </a:p>
          <a:p>
            <a:pPr lvl="1" eaLnBrk="1" hangingPunct="1"/>
            <a:r>
              <a:rPr lang="en-US" altLang="en-US"/>
              <a:t>Helps with organization</a:t>
            </a:r>
          </a:p>
          <a:p>
            <a:pPr lvl="1" eaLnBrk="1" hangingPunct="1"/>
            <a:r>
              <a:rPr lang="en-US" altLang="en-US"/>
              <a:t>Lets you find a specific module easily</a:t>
            </a:r>
          </a:p>
          <a:p>
            <a:pPr lvl="1" eaLnBrk="1" hangingPunct="1"/>
            <a:r>
              <a:rPr lang="en-US" altLang="en-US"/>
              <a:t>Good for module reuse (add file to project)</a:t>
            </a:r>
          </a:p>
          <a:p>
            <a:pPr eaLnBrk="1" hangingPunct="1"/>
            <a:endParaRPr lang="en-US" altLang="en-US"/>
          </a:p>
        </p:txBody>
      </p:sp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B01CD58-3DC5-46FC-8539-4DF5F149590E}" type="slidenum">
              <a:rPr lang="en-US" altLang="en-US"/>
              <a:pPr eaLnBrk="1" hangingPunct="1"/>
              <a:t>52</a:t>
            </a:fld>
            <a:endParaRPr lang="en-US" altLang="en-US"/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7620000" y="1600200"/>
            <a:ext cx="914400" cy="175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auto">
          <a:xfrm>
            <a:off x="7696200" y="1676400"/>
            <a:ext cx="762000" cy="457200"/>
          </a:xfrm>
          <a:prstGeom prst="rect">
            <a:avLst/>
          </a:prstGeom>
          <a:solidFill>
            <a:srgbClr val="696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auto">
          <a:xfrm>
            <a:off x="7696200" y="2209800"/>
            <a:ext cx="762000" cy="2286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24" name="Rectangle 7"/>
          <p:cNvSpPr>
            <a:spLocks noChangeArrowheads="1"/>
          </p:cNvSpPr>
          <p:nvPr/>
        </p:nvSpPr>
        <p:spPr bwMode="auto">
          <a:xfrm>
            <a:off x="7696200" y="2514600"/>
            <a:ext cx="762000" cy="381000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25" name="Rectangle 8"/>
          <p:cNvSpPr>
            <a:spLocks noChangeArrowheads="1"/>
          </p:cNvSpPr>
          <p:nvPr/>
        </p:nvSpPr>
        <p:spPr bwMode="auto">
          <a:xfrm>
            <a:off x="7696200" y="2971800"/>
            <a:ext cx="762000" cy="304800"/>
          </a:xfrm>
          <a:prstGeom prst="rect">
            <a:avLst/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4826" name="Group 9"/>
          <p:cNvGrpSpPr>
            <a:grpSpLocks/>
          </p:cNvGrpSpPr>
          <p:nvPr/>
        </p:nvGrpSpPr>
        <p:grpSpPr bwMode="auto">
          <a:xfrm>
            <a:off x="7772400" y="4267200"/>
            <a:ext cx="914400" cy="609600"/>
            <a:chOff x="4800" y="2448"/>
            <a:chExt cx="576" cy="384"/>
          </a:xfrm>
        </p:grpSpPr>
        <p:sp>
          <p:nvSpPr>
            <p:cNvPr id="34836" name="Rectangle 10"/>
            <p:cNvSpPr>
              <a:spLocks noChangeArrowheads="1"/>
            </p:cNvSpPr>
            <p:nvPr/>
          </p:nvSpPr>
          <p:spPr bwMode="auto">
            <a:xfrm>
              <a:off x="4800" y="2448"/>
              <a:ext cx="576" cy="3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37" name="Rectangle 11"/>
            <p:cNvSpPr>
              <a:spLocks noChangeArrowheads="1"/>
            </p:cNvSpPr>
            <p:nvPr/>
          </p:nvSpPr>
          <p:spPr bwMode="auto">
            <a:xfrm>
              <a:off x="4848" y="2496"/>
              <a:ext cx="480" cy="288"/>
            </a:xfrm>
            <a:prstGeom prst="rect">
              <a:avLst/>
            </a:prstGeom>
            <a:solidFill>
              <a:srgbClr val="696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34827" name="Group 12"/>
          <p:cNvGrpSpPr>
            <a:grpSpLocks/>
          </p:cNvGrpSpPr>
          <p:nvPr/>
        </p:nvGrpSpPr>
        <p:grpSpPr bwMode="auto">
          <a:xfrm>
            <a:off x="7543800" y="4419600"/>
            <a:ext cx="914400" cy="533400"/>
            <a:chOff x="4704" y="3600"/>
            <a:chExt cx="576" cy="336"/>
          </a:xfrm>
        </p:grpSpPr>
        <p:sp>
          <p:nvSpPr>
            <p:cNvPr id="34834" name="Rectangle 13"/>
            <p:cNvSpPr>
              <a:spLocks noChangeArrowheads="1"/>
            </p:cNvSpPr>
            <p:nvPr/>
          </p:nvSpPr>
          <p:spPr bwMode="auto">
            <a:xfrm>
              <a:off x="4704" y="3600"/>
              <a:ext cx="576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35" name="Rectangle 14"/>
            <p:cNvSpPr>
              <a:spLocks noChangeArrowheads="1"/>
            </p:cNvSpPr>
            <p:nvPr/>
          </p:nvSpPr>
          <p:spPr bwMode="auto">
            <a:xfrm>
              <a:off x="4752" y="3648"/>
              <a:ext cx="480" cy="240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34828" name="Group 15"/>
          <p:cNvGrpSpPr>
            <a:grpSpLocks/>
          </p:cNvGrpSpPr>
          <p:nvPr/>
        </p:nvGrpSpPr>
        <p:grpSpPr bwMode="auto">
          <a:xfrm>
            <a:off x="7315200" y="4572000"/>
            <a:ext cx="914400" cy="457200"/>
            <a:chOff x="4704" y="3888"/>
            <a:chExt cx="576" cy="288"/>
          </a:xfrm>
        </p:grpSpPr>
        <p:sp>
          <p:nvSpPr>
            <p:cNvPr id="34832" name="Rectangle 16"/>
            <p:cNvSpPr>
              <a:spLocks noChangeArrowheads="1"/>
            </p:cNvSpPr>
            <p:nvPr/>
          </p:nvSpPr>
          <p:spPr bwMode="auto">
            <a:xfrm>
              <a:off x="4704" y="3888"/>
              <a:ext cx="576" cy="2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33" name="Rectangle 17"/>
            <p:cNvSpPr>
              <a:spLocks noChangeArrowheads="1"/>
            </p:cNvSpPr>
            <p:nvPr/>
          </p:nvSpPr>
          <p:spPr bwMode="auto">
            <a:xfrm>
              <a:off x="4752" y="3936"/>
              <a:ext cx="480" cy="192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34829" name="Group 18"/>
          <p:cNvGrpSpPr>
            <a:grpSpLocks/>
          </p:cNvGrpSpPr>
          <p:nvPr/>
        </p:nvGrpSpPr>
        <p:grpSpPr bwMode="auto">
          <a:xfrm>
            <a:off x="7086600" y="4724400"/>
            <a:ext cx="914400" cy="381000"/>
            <a:chOff x="4896" y="2544"/>
            <a:chExt cx="576" cy="240"/>
          </a:xfrm>
        </p:grpSpPr>
        <p:sp>
          <p:nvSpPr>
            <p:cNvPr id="34830" name="Rectangle 19"/>
            <p:cNvSpPr>
              <a:spLocks noChangeArrowheads="1"/>
            </p:cNvSpPr>
            <p:nvPr/>
          </p:nvSpPr>
          <p:spPr bwMode="auto">
            <a:xfrm>
              <a:off x="4896" y="2544"/>
              <a:ext cx="57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31" name="Rectangle 20"/>
            <p:cNvSpPr>
              <a:spLocks noChangeArrowheads="1"/>
            </p:cNvSpPr>
            <p:nvPr/>
          </p:nvSpPr>
          <p:spPr bwMode="auto">
            <a:xfrm>
              <a:off x="4944" y="2592"/>
              <a:ext cx="480" cy="14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2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lnDef>
      <a:spPr bwMode="auto">
        <a:noFill/>
        <a:ln w="22225" algn="ctr">
          <a:solidFill>
            <a:schemeClr val="tx1"/>
          </a:solidFill>
          <a:round/>
          <a:headEnd/>
          <a:tailEnd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Theme2" id="{F0523964-0587-4A48-A821-E1B0DDBEBE6E}" vid="{DDB84ACA-78D3-4DBB-87F5-5F2F8832FD7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41419</TotalTime>
  <Words>4942</Words>
  <Application>Microsoft Office PowerPoint</Application>
  <PresentationFormat>On-screen Show (4:3)</PresentationFormat>
  <Paragraphs>783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Arial</vt:lpstr>
      <vt:lpstr>Calibri</vt:lpstr>
      <vt:lpstr>Consolas</vt:lpstr>
      <vt:lpstr>Constantia</vt:lpstr>
      <vt:lpstr>Courier New</vt:lpstr>
      <vt:lpstr>Tahoma</vt:lpstr>
      <vt:lpstr>Times New Roman</vt:lpstr>
      <vt:lpstr>Verdana</vt:lpstr>
      <vt:lpstr>Wingdings</vt:lpstr>
      <vt:lpstr>Wingdings 2</vt:lpstr>
      <vt:lpstr>Theme2</vt:lpstr>
      <vt:lpstr>ECE 551 Digital Design And Synthesis</vt:lpstr>
      <vt:lpstr>Administrative Matters</vt:lpstr>
      <vt:lpstr>Comments in Verilog</vt:lpstr>
      <vt:lpstr>Commenting in Verilog</vt:lpstr>
      <vt:lpstr>PowerPoint Presentation</vt:lpstr>
      <vt:lpstr>Commenting in Verilog</vt:lpstr>
      <vt:lpstr>PowerPoint Presentation</vt:lpstr>
      <vt:lpstr>PowerPoint Presentation</vt:lpstr>
      <vt:lpstr>Numbers in Verilog</vt:lpstr>
      <vt:lpstr>Numbers in Verilog</vt:lpstr>
      <vt:lpstr>Identifiers (Signal Names)</vt:lpstr>
      <vt:lpstr>Signal Values &amp; Strength in Verilog</vt:lpstr>
      <vt:lpstr>PowerPoint Presentation</vt:lpstr>
      <vt:lpstr>PowerPoint Presentation</vt:lpstr>
      <vt:lpstr>reg (or logic) in Verilog</vt:lpstr>
      <vt:lpstr>Vectors in Verilog</vt:lpstr>
      <vt:lpstr>Vectors in Verilog</vt:lpstr>
      <vt:lpstr>PowerPoint Presentation</vt:lpstr>
      <vt:lpstr>PowerPoint Presentation</vt:lpstr>
      <vt:lpstr>PowerPoint Presentation</vt:lpstr>
      <vt:lpstr>PowerPoint Presentation</vt:lpstr>
      <vt:lpstr>Concatenation in port list</vt:lpstr>
      <vt:lpstr>PowerPoint Presentation</vt:lpstr>
      <vt:lpstr>Dataflow Verilog</vt:lpstr>
      <vt:lpstr>Continuous Assign Examples</vt:lpstr>
      <vt:lpstr>Continuous Assign (continued)</vt:lpstr>
      <vt:lpstr>Lets Kick up the Horse Power</vt:lpstr>
      <vt:lpstr>Lets Kick up the Horse Power</vt:lpstr>
      <vt:lpstr>Conditional Operator</vt:lpstr>
      <vt:lpstr>Conditional assign (continued)</vt:lpstr>
      <vt:lpstr>Aside: enum type for readability/debugability</vt:lpstr>
      <vt:lpstr>Operators: Arithmetic</vt:lpstr>
      <vt:lpstr>Operators</vt:lpstr>
      <vt:lpstr>Reduction Operators (remember these…they are slick)</vt:lpstr>
      <vt:lpstr>Saturation Example</vt:lpstr>
      <vt:lpstr>Latches with Continuous Assign</vt:lpstr>
      <vt:lpstr>Latches with Continuous Assign</vt:lpstr>
      <vt:lpstr>PowerPoint Presentation</vt:lpstr>
      <vt:lpstr>Arrays &amp; Memories</vt:lpstr>
      <vt:lpstr>Parameters</vt:lpstr>
      <vt:lpstr>Parameter Example</vt:lpstr>
      <vt:lpstr>PowerPoint Presentation</vt:lpstr>
      <vt:lpstr>PowerPoint Presentation</vt:lpstr>
      <vt:lpstr>localparam</vt:lpstr>
      <vt:lpstr>PowerPoint Presentation</vt:lpstr>
      <vt:lpstr>System Verilog…Better Yet</vt:lpstr>
      <vt:lpstr>Implicit Net Declarations</vt:lpstr>
      <vt:lpstr>PowerPoint Presentation</vt:lpstr>
      <vt:lpstr>Useful System Tasks</vt:lpstr>
      <vt:lpstr>Can Mix Styles In Hierarchy!</vt:lpstr>
      <vt:lpstr>Hierarchy And Scope</vt:lpstr>
      <vt:lpstr>Hierarchy And Source Code</vt:lpstr>
    </vt:vector>
  </TitlesOfParts>
  <Company>University of Wisconsin-Madison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Katherine Compton</dc:creator>
  <cp:lastModifiedBy>Eric Hoffman</cp:lastModifiedBy>
  <cp:revision>753</cp:revision>
  <cp:lastPrinted>2020-01-28T20:55:28Z</cp:lastPrinted>
  <dcterms:created xsi:type="dcterms:W3CDTF">2004-09-02T02:36:09Z</dcterms:created>
  <dcterms:modified xsi:type="dcterms:W3CDTF">2021-06-03T20:57:19Z</dcterms:modified>
</cp:coreProperties>
</file>